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1" r:id="rId14"/>
    <p:sldId id="267" r:id="rId15"/>
    <p:sldId id="268" r:id="rId16"/>
    <p:sldId id="269" r:id="rId17"/>
    <p:sldId id="270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39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2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4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0827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357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7F8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CUỘC THI KHOA HỌC KỸ THUẬT  ·  TP.HCM 2026–2027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1A6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MỀM HỆ THỐNG  ·  DỰ ÁN KỸ THUẬT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QPAN 3D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hỗ trợ học lý thuyết &amp; thực hành GDQP-AN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B0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hợp 3D theo bước  ·  WebAR  ·  AI Pose  ·  Trợ giảng có kiểm soát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Trọng Phúc · 12C3     Nguyễn Anh Khôi · 12C7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A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GVHD: Hoàng Văn Cường  ·  TH–THCS–THPT Tân Phú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52044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122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36576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138/140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2920" y="4206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7F8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ĐẠT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352044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122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06040" y="36576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606040" y="4206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7F8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MÔ-ĐUN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352044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122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36576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09160" y="4206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7F8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CẶP 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12280" y="352044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122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12280" y="36576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4,08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12280" y="4206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7F8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LIKERT SAU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397780">
            <a:off x="-2575432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5397780">
            <a:off x="-2197946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rot="5397780">
            <a:off x="-1820461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rot="5397780">
            <a:off x="-1442976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rot="5397780">
            <a:off x="-1065491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rot="5397780">
            <a:off x="-688005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 rot="5397780">
            <a:off x="-310520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rot="5397780">
            <a:off x="66966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rot="5397780">
            <a:off x="444451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 rot="5397780">
            <a:off x="821936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rot="5397780">
            <a:off x="1199417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rot="5397780">
            <a:off x="1576902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rot="5397780">
            <a:off x="1954387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 rot="5397780">
            <a:off x="2331873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rot="5397780">
            <a:off x="2709358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 rot="5397780">
            <a:off x="3086843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rot="5397780">
            <a:off x="3464328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 rot="5397780">
            <a:off x="3841814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 rot="5397780">
            <a:off x="4219299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 rot="5397780">
            <a:off x="4596784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 rot="5397780">
            <a:off x="4974270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 rot="5397780">
            <a:off x="5351755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 rot="5397780">
            <a:off x="5729240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 rot="5397780">
            <a:off x="6106725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AutoShape 26"/>
          <p:cNvSpPr/>
          <p:nvPr/>
        </p:nvSpPr>
        <p:spPr>
          <a:xfrm rot="5397780">
            <a:off x="6484211" y="2571379"/>
            <a:ext cx="5150858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 rot="1260">
            <a:off x="-1667" y="-2381"/>
            <a:ext cx="9154487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 rot="1260">
            <a:off x="-1667" y="375104"/>
            <a:ext cx="9154487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 rot="1260">
            <a:off x="-1667" y="752590"/>
            <a:ext cx="9154487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AutoShape 30"/>
          <p:cNvSpPr/>
          <p:nvPr/>
        </p:nvSpPr>
        <p:spPr>
          <a:xfrm rot="1260">
            <a:off x="-1667" y="1130075"/>
            <a:ext cx="9154487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AutoShape 31"/>
          <p:cNvSpPr/>
          <p:nvPr/>
        </p:nvSpPr>
        <p:spPr>
          <a:xfrm rot="1260">
            <a:off x="-1667" y="1507560"/>
            <a:ext cx="9154487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AutoShape 32"/>
          <p:cNvSpPr/>
          <p:nvPr/>
        </p:nvSpPr>
        <p:spPr>
          <a:xfrm rot="1260">
            <a:off x="-1667" y="1885045"/>
            <a:ext cx="9154487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AutoShape 33"/>
          <p:cNvSpPr/>
          <p:nvPr/>
        </p:nvSpPr>
        <p:spPr>
          <a:xfrm rot="1260">
            <a:off x="-1667" y="2262531"/>
            <a:ext cx="9154487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AutoShape 34"/>
          <p:cNvSpPr/>
          <p:nvPr/>
        </p:nvSpPr>
        <p:spPr>
          <a:xfrm rot="1260">
            <a:off x="-1667" y="2640011"/>
            <a:ext cx="9154487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5" name="AutoShape 35"/>
          <p:cNvSpPr/>
          <p:nvPr/>
        </p:nvSpPr>
        <p:spPr>
          <a:xfrm rot="1260">
            <a:off x="-1667" y="3017496"/>
            <a:ext cx="9154487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" name="AutoShape 36"/>
          <p:cNvSpPr/>
          <p:nvPr/>
        </p:nvSpPr>
        <p:spPr>
          <a:xfrm rot="1260">
            <a:off x="-1667" y="3394982"/>
            <a:ext cx="9154487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" name="AutoShape 37"/>
          <p:cNvSpPr/>
          <p:nvPr/>
        </p:nvSpPr>
        <p:spPr>
          <a:xfrm rot="1260">
            <a:off x="-1667" y="3772467"/>
            <a:ext cx="9154487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" name="AutoShape 38"/>
          <p:cNvSpPr/>
          <p:nvPr/>
        </p:nvSpPr>
        <p:spPr>
          <a:xfrm rot="1260">
            <a:off x="-1667" y="4149952"/>
            <a:ext cx="9154487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" name="AutoShape 39"/>
          <p:cNvSpPr/>
          <p:nvPr/>
        </p:nvSpPr>
        <p:spPr>
          <a:xfrm rot="1260">
            <a:off x="-1667" y="4527438"/>
            <a:ext cx="9154487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" name="AutoShape 40"/>
          <p:cNvSpPr/>
          <p:nvPr/>
        </p:nvSpPr>
        <p:spPr>
          <a:xfrm rot="1260">
            <a:off x="-1667" y="4904923"/>
            <a:ext cx="9154487" cy="0"/>
          </a:xfrm>
          <a:prstGeom prst="line">
            <a:avLst/>
          </a:prstGeom>
          <a:ln w="9525" cap="rnd">
            <a:solidFill>
              <a:srgbClr val="E0E5E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1" name="Group 41"/>
          <p:cNvGrpSpPr/>
          <p:nvPr/>
        </p:nvGrpSpPr>
        <p:grpSpPr>
          <a:xfrm>
            <a:off x="0" y="0"/>
            <a:ext cx="9150920" cy="75495"/>
            <a:chOff x="0" y="0"/>
            <a:chExt cx="24402453" cy="2013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4402414" cy="201295"/>
            </a:xfrm>
            <a:custGeom>
              <a:avLst/>
              <a:gdLst/>
              <a:ahLst/>
              <a:cxnLst/>
              <a:rect l="l" t="t" r="r" b="b"/>
              <a:pathLst>
                <a:path w="24402414" h="201295">
                  <a:moveTo>
                    <a:pt x="0" y="0"/>
                  </a:moveTo>
                  <a:lnTo>
                    <a:pt x="24402414" y="0"/>
                  </a:lnTo>
                  <a:lnTo>
                    <a:pt x="24402414" y="201295"/>
                  </a:lnTo>
                  <a:lnTo>
                    <a:pt x="0" y="201295"/>
                  </a:lnTo>
                  <a:close/>
                </a:path>
              </a:pathLst>
            </a:custGeom>
            <a:solidFill>
              <a:srgbClr val="CA1C24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308853" y="150995"/>
            <a:ext cx="4255284" cy="192177"/>
            <a:chOff x="0" y="0"/>
            <a:chExt cx="11347425" cy="51247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1347425" cy="512464"/>
            </a:xfrm>
            <a:custGeom>
              <a:avLst/>
              <a:gdLst/>
              <a:ahLst/>
              <a:cxnLst/>
              <a:rect l="l" t="t" r="r" b="b"/>
              <a:pathLst>
                <a:path w="11347425" h="512464">
                  <a:moveTo>
                    <a:pt x="0" y="0"/>
                  </a:moveTo>
                  <a:lnTo>
                    <a:pt x="11347425" y="0"/>
                  </a:lnTo>
                  <a:lnTo>
                    <a:pt x="11347425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81453" b="-381454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19050"/>
              <a:ext cx="11347425" cy="5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856"/>
                </a:lnSpc>
              </a:pPr>
              <a:r>
                <a:rPr lang="en-US" sz="713" b="1">
                  <a:solidFill>
                    <a:srgbClr val="CA1C2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NỘI DUNG BÁO CÁO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240848" y="150995"/>
            <a:ext cx="1235407" cy="192177"/>
            <a:chOff x="0" y="0"/>
            <a:chExt cx="3294418" cy="51247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294414" cy="512464"/>
            </a:xfrm>
            <a:custGeom>
              <a:avLst/>
              <a:gdLst/>
              <a:ahLst/>
              <a:cxnLst/>
              <a:rect l="l" t="t" r="r" b="b"/>
              <a:pathLst>
                <a:path w="3294414" h="512464">
                  <a:moveTo>
                    <a:pt x="0" y="0"/>
                  </a:moveTo>
                  <a:lnTo>
                    <a:pt x="3294414" y="0"/>
                  </a:lnTo>
                  <a:lnTo>
                    <a:pt x="3294414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5260" b="-75261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3294418" cy="5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856"/>
                </a:lnSpc>
              </a:pPr>
              <a:r>
                <a:rPr lang="en-US" sz="713" b="1">
                  <a:solidFill>
                    <a:srgbClr val="1A2A4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HỌC QPAN 3D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476250" y="150995"/>
            <a:ext cx="343167" cy="192177"/>
            <a:chOff x="0" y="0"/>
            <a:chExt cx="915111" cy="51247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15115" cy="512464"/>
            </a:xfrm>
            <a:custGeom>
              <a:avLst/>
              <a:gdLst/>
              <a:ahLst/>
              <a:cxnLst/>
              <a:rect l="l" t="t" r="r" b="b"/>
              <a:pathLst>
                <a:path w="915115" h="512464">
                  <a:moveTo>
                    <a:pt x="0" y="0"/>
                  </a:moveTo>
                  <a:lnTo>
                    <a:pt x="915115" y="0"/>
                  </a:lnTo>
                  <a:lnTo>
                    <a:pt x="915115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851" r="-21850" b="-1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915111" cy="5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856"/>
                </a:lnSpc>
              </a:pPr>
              <a:r>
                <a:rPr lang="en-US" sz="713" b="1">
                  <a:solidFill>
                    <a:srgbClr val="CA1C2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77486" y="562794"/>
            <a:ext cx="2127642" cy="514750"/>
            <a:chOff x="0" y="0"/>
            <a:chExt cx="5673712" cy="1372667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5673713" cy="1372672"/>
            </a:xfrm>
            <a:custGeom>
              <a:avLst/>
              <a:gdLst/>
              <a:ahLst/>
              <a:cxnLst/>
              <a:rect l="l" t="t" r="r" b="b"/>
              <a:pathLst>
                <a:path w="5673713" h="1372672">
                  <a:moveTo>
                    <a:pt x="0" y="0"/>
                  </a:moveTo>
                  <a:lnTo>
                    <a:pt x="5673713" y="0"/>
                  </a:lnTo>
                  <a:lnTo>
                    <a:pt x="5673713" y="1372672"/>
                  </a:lnTo>
                  <a:lnTo>
                    <a:pt x="0" y="1372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538" b="-30537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28575"/>
              <a:ext cx="5673712" cy="14012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3242"/>
                </a:lnSpc>
              </a:pPr>
              <a:r>
                <a:rPr lang="en-US" sz="2702" b="1">
                  <a:solidFill>
                    <a:srgbClr val="232D7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MỤC LỤC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2944383" y="1242270"/>
            <a:ext cx="425530" cy="425530"/>
            <a:chOff x="0" y="0"/>
            <a:chExt cx="1134745" cy="1134745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134745" cy="1134618"/>
            </a:xfrm>
            <a:custGeom>
              <a:avLst/>
              <a:gdLst/>
              <a:ahLst/>
              <a:cxnLst/>
              <a:rect l="l" t="t" r="r" b="b"/>
              <a:pathLst>
                <a:path w="1134745" h="1134618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cubicBezTo>
                    <a:pt x="880618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232D74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2944383" y="1242270"/>
            <a:ext cx="425530" cy="425530"/>
            <a:chOff x="0" y="0"/>
            <a:chExt cx="1134745" cy="1134745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134743" cy="1134743"/>
            </a:xfrm>
            <a:custGeom>
              <a:avLst/>
              <a:gdLst/>
              <a:ahLst/>
              <a:cxnLst/>
              <a:rect l="l" t="t" r="r" b="b"/>
              <a:pathLst>
                <a:path w="1134743" h="1134743">
                  <a:moveTo>
                    <a:pt x="0" y="0"/>
                  </a:moveTo>
                  <a:lnTo>
                    <a:pt x="1134743" y="0"/>
                  </a:lnTo>
                  <a:lnTo>
                    <a:pt x="1134743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19050"/>
              <a:ext cx="1134745" cy="11537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01"/>
                </a:lnSpc>
              </a:pPr>
              <a:r>
                <a:rPr lang="en-US" sz="75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3534632" y="1235407"/>
            <a:ext cx="3980750" cy="288260"/>
            <a:chOff x="0" y="0"/>
            <a:chExt cx="10615333" cy="768693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0615333" cy="768697"/>
            </a:xfrm>
            <a:custGeom>
              <a:avLst/>
              <a:gdLst/>
              <a:ahLst/>
              <a:cxnLst/>
              <a:rect l="l" t="t" r="r" b="b"/>
              <a:pathLst>
                <a:path w="10615333" h="768697">
                  <a:moveTo>
                    <a:pt x="0" y="0"/>
                  </a:moveTo>
                  <a:lnTo>
                    <a:pt x="10615333" y="0"/>
                  </a:lnTo>
                  <a:lnTo>
                    <a:pt x="10615333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9079" b="-219078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19050"/>
              <a:ext cx="10615333" cy="787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621"/>
                </a:lnSpc>
              </a:pPr>
              <a:r>
                <a:rPr lang="en-US" sz="1351" b="1">
                  <a:solidFill>
                    <a:srgbClr val="232D7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Tổng quan &amp; vấn đề nghiên cứu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3534632" y="1544255"/>
            <a:ext cx="4461186" cy="219628"/>
            <a:chOff x="0" y="0"/>
            <a:chExt cx="11896496" cy="585673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1896494" cy="585674"/>
            </a:xfrm>
            <a:custGeom>
              <a:avLst/>
              <a:gdLst/>
              <a:ahLst/>
              <a:cxnLst/>
              <a:rect l="l" t="t" r="r" b="b"/>
              <a:pathLst>
                <a:path w="11896494" h="585674">
                  <a:moveTo>
                    <a:pt x="0" y="0"/>
                  </a:moveTo>
                  <a:lnTo>
                    <a:pt x="11896494" y="0"/>
                  </a:lnTo>
                  <a:lnTo>
                    <a:pt x="11896494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45789" b="-345789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19050"/>
              <a:ext cx="11896496" cy="6047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90"/>
                </a:lnSpc>
              </a:pPr>
              <a:r>
                <a:rPr lang="en-US" sz="826">
                  <a:solidFill>
                    <a:srgbClr val="5D6878"/>
                  </a:solidFill>
                  <a:latin typeface="Arial"/>
                  <a:ea typeface="Arial"/>
                  <a:cs typeface="Arial"/>
                  <a:sym typeface="Arial"/>
                </a:rPr>
                <a:t>Lý do • khoảng trống • câu hỏi • mục tiêu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8030132" y="1317765"/>
            <a:ext cx="425530" cy="54907"/>
            <a:chOff x="0" y="0"/>
            <a:chExt cx="1134745" cy="146418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134745" cy="146431"/>
            </a:xfrm>
            <a:custGeom>
              <a:avLst/>
              <a:gdLst/>
              <a:ahLst/>
              <a:cxnLst/>
              <a:rect l="l" t="t" r="r" b="b"/>
              <a:pathLst>
                <a:path w="1134745" h="146431">
                  <a:moveTo>
                    <a:pt x="0" y="0"/>
                  </a:moveTo>
                  <a:lnTo>
                    <a:pt x="1134745" y="0"/>
                  </a:lnTo>
                  <a:lnTo>
                    <a:pt x="1134745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F6BF1F"/>
            </a:solidFill>
          </p:spPr>
        </p:sp>
      </p:grpSp>
      <p:grpSp>
        <p:nvGrpSpPr>
          <p:cNvPr id="68" name="Group 68"/>
          <p:cNvGrpSpPr/>
          <p:nvPr/>
        </p:nvGrpSpPr>
        <p:grpSpPr>
          <a:xfrm>
            <a:off x="2944383" y="2031554"/>
            <a:ext cx="425530" cy="425530"/>
            <a:chOff x="0" y="0"/>
            <a:chExt cx="1134745" cy="1134745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134745" cy="1134618"/>
            </a:xfrm>
            <a:custGeom>
              <a:avLst/>
              <a:gdLst/>
              <a:ahLst/>
              <a:cxnLst/>
              <a:rect l="l" t="t" r="r" b="b"/>
              <a:pathLst>
                <a:path w="1134745" h="1134618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cubicBezTo>
                    <a:pt x="880618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232D74"/>
            </a:solidFill>
          </p:spPr>
        </p:sp>
      </p:grpSp>
      <p:grpSp>
        <p:nvGrpSpPr>
          <p:cNvPr id="70" name="Group 70"/>
          <p:cNvGrpSpPr/>
          <p:nvPr/>
        </p:nvGrpSpPr>
        <p:grpSpPr>
          <a:xfrm>
            <a:off x="2944383" y="2031554"/>
            <a:ext cx="425530" cy="425530"/>
            <a:chOff x="0" y="0"/>
            <a:chExt cx="1134745" cy="1134745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134743" cy="1134743"/>
            </a:xfrm>
            <a:custGeom>
              <a:avLst/>
              <a:gdLst/>
              <a:ahLst/>
              <a:cxnLst/>
              <a:rect l="l" t="t" r="r" b="b"/>
              <a:pathLst>
                <a:path w="1134743" h="1134743">
                  <a:moveTo>
                    <a:pt x="0" y="0"/>
                  </a:moveTo>
                  <a:lnTo>
                    <a:pt x="1134743" y="0"/>
                  </a:lnTo>
                  <a:lnTo>
                    <a:pt x="1134743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19050"/>
              <a:ext cx="1134745" cy="11537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01"/>
                </a:lnSpc>
              </a:pPr>
              <a:r>
                <a:rPr lang="en-US" sz="75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3534632" y="2024691"/>
            <a:ext cx="3980750" cy="288261"/>
            <a:chOff x="0" y="0"/>
            <a:chExt cx="10615333" cy="768697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0615333" cy="768700"/>
            </a:xfrm>
            <a:custGeom>
              <a:avLst/>
              <a:gdLst/>
              <a:ahLst/>
              <a:cxnLst/>
              <a:rect l="l" t="t" r="r" b="b"/>
              <a:pathLst>
                <a:path w="10615333" h="768700">
                  <a:moveTo>
                    <a:pt x="0" y="0"/>
                  </a:moveTo>
                  <a:lnTo>
                    <a:pt x="10615333" y="0"/>
                  </a:lnTo>
                  <a:lnTo>
                    <a:pt x="10615333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9078" b="-219077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19050"/>
              <a:ext cx="10615333" cy="7877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621"/>
                </a:lnSpc>
              </a:pPr>
              <a:r>
                <a:rPr lang="en-US" sz="1351" b="1">
                  <a:solidFill>
                    <a:srgbClr val="232D7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Giới thiệu sản phẩm HỌC QPAN 3D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3534632" y="2333544"/>
            <a:ext cx="4461186" cy="219628"/>
            <a:chOff x="0" y="0"/>
            <a:chExt cx="11896496" cy="585673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1896494" cy="585674"/>
            </a:xfrm>
            <a:custGeom>
              <a:avLst/>
              <a:gdLst/>
              <a:ahLst/>
              <a:cxnLst/>
              <a:rect l="l" t="t" r="r" b="b"/>
              <a:pathLst>
                <a:path w="11896494" h="585674">
                  <a:moveTo>
                    <a:pt x="0" y="0"/>
                  </a:moveTo>
                  <a:lnTo>
                    <a:pt x="11896494" y="0"/>
                  </a:lnTo>
                  <a:lnTo>
                    <a:pt x="11896494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45789" b="-345789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19050"/>
              <a:ext cx="11896496" cy="6047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90"/>
                </a:lnSpc>
              </a:pPr>
              <a:r>
                <a:rPr lang="en-US" sz="826">
                  <a:solidFill>
                    <a:srgbClr val="5D6878"/>
                  </a:solidFill>
                  <a:latin typeface="Arial"/>
                  <a:ea typeface="Arial"/>
                  <a:cs typeface="Arial"/>
                  <a:sym typeface="Arial"/>
                </a:rPr>
                <a:t>12 mô-đun • 3D • AI Pose • WebAR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8030132" y="2107054"/>
            <a:ext cx="425530" cy="54907"/>
            <a:chOff x="0" y="0"/>
            <a:chExt cx="1134745" cy="146418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134745" cy="146431"/>
            </a:xfrm>
            <a:custGeom>
              <a:avLst/>
              <a:gdLst/>
              <a:ahLst/>
              <a:cxnLst/>
              <a:rect l="l" t="t" r="r" b="b"/>
              <a:pathLst>
                <a:path w="1134745" h="146431">
                  <a:moveTo>
                    <a:pt x="0" y="0"/>
                  </a:moveTo>
                  <a:lnTo>
                    <a:pt x="1134745" y="0"/>
                  </a:lnTo>
                  <a:lnTo>
                    <a:pt x="1134745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CA1C24"/>
            </a:solidFill>
          </p:spPr>
        </p:sp>
      </p:grpSp>
      <p:grpSp>
        <p:nvGrpSpPr>
          <p:cNvPr id="81" name="Group 81"/>
          <p:cNvGrpSpPr/>
          <p:nvPr/>
        </p:nvGrpSpPr>
        <p:grpSpPr>
          <a:xfrm>
            <a:off x="2944383" y="2820843"/>
            <a:ext cx="425530" cy="425530"/>
            <a:chOff x="0" y="0"/>
            <a:chExt cx="1134745" cy="1134745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134745" cy="1134618"/>
            </a:xfrm>
            <a:custGeom>
              <a:avLst/>
              <a:gdLst/>
              <a:ahLst/>
              <a:cxnLst/>
              <a:rect l="l" t="t" r="r" b="b"/>
              <a:pathLst>
                <a:path w="1134745" h="1134618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cubicBezTo>
                    <a:pt x="880618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232D74"/>
            </a:solidFill>
          </p:spPr>
        </p:sp>
      </p:grpSp>
      <p:grpSp>
        <p:nvGrpSpPr>
          <p:cNvPr id="83" name="Group 83"/>
          <p:cNvGrpSpPr/>
          <p:nvPr/>
        </p:nvGrpSpPr>
        <p:grpSpPr>
          <a:xfrm>
            <a:off x="2944383" y="2820843"/>
            <a:ext cx="425530" cy="425530"/>
            <a:chOff x="0" y="0"/>
            <a:chExt cx="1134745" cy="1134745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1134743" cy="1134743"/>
            </a:xfrm>
            <a:custGeom>
              <a:avLst/>
              <a:gdLst/>
              <a:ahLst/>
              <a:cxnLst/>
              <a:rect l="l" t="t" r="r" b="b"/>
              <a:pathLst>
                <a:path w="1134743" h="1134743">
                  <a:moveTo>
                    <a:pt x="0" y="0"/>
                  </a:moveTo>
                  <a:lnTo>
                    <a:pt x="1134743" y="0"/>
                  </a:lnTo>
                  <a:lnTo>
                    <a:pt x="1134743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19050"/>
              <a:ext cx="1134745" cy="11537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01"/>
                </a:lnSpc>
              </a:pPr>
              <a:r>
                <a:rPr lang="en-US" sz="75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3534632" y="2813976"/>
            <a:ext cx="3980750" cy="288260"/>
            <a:chOff x="0" y="0"/>
            <a:chExt cx="10615333" cy="768693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0615333" cy="768697"/>
            </a:xfrm>
            <a:custGeom>
              <a:avLst/>
              <a:gdLst/>
              <a:ahLst/>
              <a:cxnLst/>
              <a:rect l="l" t="t" r="r" b="b"/>
              <a:pathLst>
                <a:path w="10615333" h="768697">
                  <a:moveTo>
                    <a:pt x="0" y="0"/>
                  </a:moveTo>
                  <a:lnTo>
                    <a:pt x="10615333" y="0"/>
                  </a:lnTo>
                  <a:lnTo>
                    <a:pt x="10615333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9079" b="-219078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19050"/>
              <a:ext cx="10615333" cy="787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621"/>
                </a:lnSpc>
              </a:pPr>
              <a:r>
                <a:rPr lang="en-US" sz="1351" b="1">
                  <a:solidFill>
                    <a:srgbClr val="232D7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Kỹ thuật &amp; kiểm chứng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3534632" y="3122829"/>
            <a:ext cx="4461186" cy="219628"/>
            <a:chOff x="0" y="0"/>
            <a:chExt cx="11896496" cy="585673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11896494" cy="585674"/>
            </a:xfrm>
            <a:custGeom>
              <a:avLst/>
              <a:gdLst/>
              <a:ahLst/>
              <a:cxnLst/>
              <a:rect l="l" t="t" r="r" b="b"/>
              <a:pathLst>
                <a:path w="11896494" h="585674">
                  <a:moveTo>
                    <a:pt x="0" y="0"/>
                  </a:moveTo>
                  <a:lnTo>
                    <a:pt x="11896494" y="0"/>
                  </a:lnTo>
                  <a:lnTo>
                    <a:pt x="11896494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45789" b="-345789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19050"/>
              <a:ext cx="11896496" cy="6047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90"/>
                </a:lnSpc>
              </a:pPr>
              <a:r>
                <a:rPr lang="en-US" sz="826">
                  <a:solidFill>
                    <a:srgbClr val="5D6878"/>
                  </a:solidFill>
                  <a:latin typeface="Arial"/>
                  <a:ea typeface="Arial"/>
                  <a:cs typeface="Arial"/>
                  <a:sym typeface="Arial"/>
                </a:rPr>
                <a:t>Kiến trúc • dữ liệu • pipeline • test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8030132" y="2896338"/>
            <a:ext cx="425530" cy="54907"/>
            <a:chOff x="0" y="0"/>
            <a:chExt cx="1134745" cy="146418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1134745" cy="146431"/>
            </a:xfrm>
            <a:custGeom>
              <a:avLst/>
              <a:gdLst/>
              <a:ahLst/>
              <a:cxnLst/>
              <a:rect l="l" t="t" r="r" b="b"/>
              <a:pathLst>
                <a:path w="1134745" h="146431">
                  <a:moveTo>
                    <a:pt x="0" y="0"/>
                  </a:moveTo>
                  <a:lnTo>
                    <a:pt x="1134745" y="0"/>
                  </a:lnTo>
                  <a:lnTo>
                    <a:pt x="1134745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F6BF1F"/>
            </a:solidFill>
          </p:spPr>
        </p:sp>
      </p:grpSp>
      <p:grpSp>
        <p:nvGrpSpPr>
          <p:cNvPr id="94" name="Group 94"/>
          <p:cNvGrpSpPr/>
          <p:nvPr/>
        </p:nvGrpSpPr>
        <p:grpSpPr>
          <a:xfrm>
            <a:off x="2944383" y="3610128"/>
            <a:ext cx="425530" cy="425530"/>
            <a:chOff x="0" y="0"/>
            <a:chExt cx="1134745" cy="1134745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1134745" cy="1134618"/>
            </a:xfrm>
            <a:custGeom>
              <a:avLst/>
              <a:gdLst/>
              <a:ahLst/>
              <a:cxnLst/>
              <a:rect l="l" t="t" r="r" b="b"/>
              <a:pathLst>
                <a:path w="1134745" h="1134618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cubicBezTo>
                    <a:pt x="880618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232D74"/>
            </a:solidFill>
          </p:spPr>
        </p:sp>
      </p:grpSp>
      <p:grpSp>
        <p:nvGrpSpPr>
          <p:cNvPr id="96" name="Group 96"/>
          <p:cNvGrpSpPr/>
          <p:nvPr/>
        </p:nvGrpSpPr>
        <p:grpSpPr>
          <a:xfrm>
            <a:off x="2944383" y="3610128"/>
            <a:ext cx="425530" cy="425530"/>
            <a:chOff x="0" y="0"/>
            <a:chExt cx="1134745" cy="1134745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1134743" cy="1134743"/>
            </a:xfrm>
            <a:custGeom>
              <a:avLst/>
              <a:gdLst/>
              <a:ahLst/>
              <a:cxnLst/>
              <a:rect l="l" t="t" r="r" b="b"/>
              <a:pathLst>
                <a:path w="1134743" h="1134743">
                  <a:moveTo>
                    <a:pt x="0" y="0"/>
                  </a:moveTo>
                  <a:lnTo>
                    <a:pt x="1134743" y="0"/>
                  </a:lnTo>
                  <a:lnTo>
                    <a:pt x="1134743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98" name="TextBox 98"/>
            <p:cNvSpPr txBox="1"/>
            <p:nvPr/>
          </p:nvSpPr>
          <p:spPr>
            <a:xfrm>
              <a:off x="0" y="-19050"/>
              <a:ext cx="1134745" cy="11537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01"/>
                </a:lnSpc>
              </a:pPr>
              <a:r>
                <a:rPr lang="en-US" sz="75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3534632" y="3603265"/>
            <a:ext cx="3980750" cy="288260"/>
            <a:chOff x="0" y="0"/>
            <a:chExt cx="10615333" cy="768693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10615333" cy="768697"/>
            </a:xfrm>
            <a:custGeom>
              <a:avLst/>
              <a:gdLst/>
              <a:ahLst/>
              <a:cxnLst/>
              <a:rect l="l" t="t" r="r" b="b"/>
              <a:pathLst>
                <a:path w="10615333" h="768697">
                  <a:moveTo>
                    <a:pt x="0" y="0"/>
                  </a:moveTo>
                  <a:lnTo>
                    <a:pt x="10615333" y="0"/>
                  </a:lnTo>
                  <a:lnTo>
                    <a:pt x="10615333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9079" b="-219078"/>
              </a:stretch>
            </a:blipFill>
          </p:spPr>
        </p:sp>
        <p:sp>
          <p:nvSpPr>
            <p:cNvPr id="101" name="TextBox 101"/>
            <p:cNvSpPr txBox="1"/>
            <p:nvPr/>
          </p:nvSpPr>
          <p:spPr>
            <a:xfrm>
              <a:off x="0" y="-19050"/>
              <a:ext cx="10615333" cy="787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621"/>
                </a:lnSpc>
              </a:pPr>
              <a:r>
                <a:rPr lang="en-US" sz="1351" b="1">
                  <a:solidFill>
                    <a:srgbClr val="232D7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Thực nghiệm &amp; ứng dụng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3534632" y="3912118"/>
            <a:ext cx="4461186" cy="219628"/>
            <a:chOff x="0" y="0"/>
            <a:chExt cx="11896496" cy="585673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11896494" cy="585674"/>
            </a:xfrm>
            <a:custGeom>
              <a:avLst/>
              <a:gdLst/>
              <a:ahLst/>
              <a:cxnLst/>
              <a:rect l="l" t="t" r="r" b="b"/>
              <a:pathLst>
                <a:path w="11896494" h="585674">
                  <a:moveTo>
                    <a:pt x="0" y="0"/>
                  </a:moveTo>
                  <a:lnTo>
                    <a:pt x="11896494" y="0"/>
                  </a:lnTo>
                  <a:lnTo>
                    <a:pt x="11896494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45789" b="-345789"/>
              </a:stretch>
            </a:blipFill>
          </p:spPr>
        </p:sp>
        <p:sp>
          <p:nvSpPr>
            <p:cNvPr id="104" name="TextBox 104"/>
            <p:cNvSpPr txBox="1"/>
            <p:nvPr/>
          </p:nvSpPr>
          <p:spPr>
            <a:xfrm>
              <a:off x="0" y="-19050"/>
              <a:ext cx="11896496" cy="6047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90"/>
                </a:lnSpc>
              </a:pPr>
              <a:r>
                <a:rPr lang="en-US" sz="826">
                  <a:solidFill>
                    <a:srgbClr val="5D6878"/>
                  </a:solidFill>
                  <a:latin typeface="Arial"/>
                  <a:ea typeface="Arial"/>
                  <a:cs typeface="Arial"/>
                  <a:sym typeface="Arial"/>
                </a:rPr>
                <a:t>Khảo sát • kết quả • tính thực tế • hướng phát triển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8030132" y="3685628"/>
            <a:ext cx="425530" cy="54907"/>
            <a:chOff x="0" y="0"/>
            <a:chExt cx="1134745" cy="146418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1134745" cy="146431"/>
            </a:xfrm>
            <a:custGeom>
              <a:avLst/>
              <a:gdLst/>
              <a:ahLst/>
              <a:cxnLst/>
              <a:rect l="l" t="t" r="r" b="b"/>
              <a:pathLst>
                <a:path w="1134745" h="146431">
                  <a:moveTo>
                    <a:pt x="0" y="0"/>
                  </a:moveTo>
                  <a:lnTo>
                    <a:pt x="1134745" y="0"/>
                  </a:lnTo>
                  <a:lnTo>
                    <a:pt x="1134745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CA1C24"/>
            </a:solidFill>
          </p:spPr>
        </p:sp>
      </p:grpSp>
      <p:sp>
        <p:nvSpPr>
          <p:cNvPr id="107" name="AutoShape 107"/>
          <p:cNvSpPr/>
          <p:nvPr/>
        </p:nvSpPr>
        <p:spPr>
          <a:xfrm rot="2700">
            <a:off x="305515" y="4836290"/>
            <a:ext cx="8517246" cy="0"/>
          </a:xfrm>
          <a:prstGeom prst="line">
            <a:avLst/>
          </a:prstGeom>
          <a:ln w="9525" cap="rnd">
            <a:solidFill>
              <a:srgbClr val="CDD3D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8" name="Group 108"/>
          <p:cNvGrpSpPr/>
          <p:nvPr/>
        </p:nvGrpSpPr>
        <p:grpSpPr>
          <a:xfrm>
            <a:off x="308853" y="4859260"/>
            <a:ext cx="3980750" cy="137270"/>
            <a:chOff x="0" y="0"/>
            <a:chExt cx="10615333" cy="366052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10615333" cy="366046"/>
            </a:xfrm>
            <a:custGeom>
              <a:avLst/>
              <a:gdLst/>
              <a:ahLst/>
              <a:cxnLst/>
              <a:rect l="l" t="t" r="r" b="b"/>
              <a:pathLst>
                <a:path w="10615333" h="366046">
                  <a:moveTo>
                    <a:pt x="0" y="0"/>
                  </a:moveTo>
                  <a:lnTo>
                    <a:pt x="10615333" y="0"/>
                  </a:lnTo>
                  <a:lnTo>
                    <a:pt x="10615333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15065" b="-515066"/>
              </a:stretch>
            </a:blipFill>
          </p:spPr>
        </p:sp>
        <p:sp>
          <p:nvSpPr>
            <p:cNvPr id="110" name="TextBox 110"/>
            <p:cNvSpPr txBox="1"/>
            <p:nvPr/>
          </p:nvSpPr>
          <p:spPr>
            <a:xfrm>
              <a:off x="0" y="-19050"/>
              <a:ext cx="10615333" cy="385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721"/>
                </a:lnSpc>
              </a:pPr>
              <a:r>
                <a:rPr lang="en-US" sz="600">
                  <a:solidFill>
                    <a:srgbClr val="5D6878"/>
                  </a:solidFill>
                  <a:latin typeface="Arial"/>
                  <a:ea typeface="Arial"/>
                  <a:cs typeface="Arial"/>
                  <a:sym typeface="Arial"/>
                </a:rPr>
                <a:t>Trường TH–THCS–THPT Tân Phú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7961500" y="4859260"/>
            <a:ext cx="857922" cy="137270"/>
            <a:chOff x="0" y="0"/>
            <a:chExt cx="2287791" cy="366052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2287787" cy="366046"/>
            </a:xfrm>
            <a:custGeom>
              <a:avLst/>
              <a:gdLst/>
              <a:ahLst/>
              <a:cxnLst/>
              <a:rect l="l" t="t" r="r" b="b"/>
              <a:pathLst>
                <a:path w="2287787" h="366046">
                  <a:moveTo>
                    <a:pt x="0" y="0"/>
                  </a:moveTo>
                  <a:lnTo>
                    <a:pt x="2287787" y="0"/>
                  </a:lnTo>
                  <a:lnTo>
                    <a:pt x="228778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1780" b="-71782"/>
              </a:stretch>
            </a:blipFill>
          </p:spPr>
        </p:sp>
        <p:sp>
          <p:nvSpPr>
            <p:cNvPr id="113" name="TextBox 113"/>
            <p:cNvSpPr txBox="1"/>
            <p:nvPr/>
          </p:nvSpPr>
          <p:spPr>
            <a:xfrm>
              <a:off x="0" y="-19050"/>
              <a:ext cx="2287791" cy="385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721"/>
                </a:lnSpc>
              </a:pPr>
              <a:r>
                <a:rPr lang="en-US" sz="600">
                  <a:solidFill>
                    <a:srgbClr val="5D6878"/>
                  </a:solidFill>
                  <a:latin typeface="Arial"/>
                  <a:ea typeface="Arial"/>
                  <a:cs typeface="Arial"/>
                  <a:sym typeface="Arial"/>
                </a:rPr>
                <a:t>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7627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150">
                <a:solidFill>
                  <a:srgbClr val="C0392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01 TỔNG </a:t>
            </a:r>
            <a:r>
              <a:rPr lang="en-US" sz="1100" b="1">
                <a:solidFill>
                  <a:srgbClr val="C0392B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QUAN &amp; VẤN ĐỀ NGHIÊN CỨU</a:t>
            </a:r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trạng &amp; khoảng trống giải pháp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công cụ hiện có chưa tạo thành mạch học thống nhất.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2057400" cy="2331720"/>
          </a:xfrm>
          <a:prstGeom prst="roundRect">
            <a:avLst>
              <a:gd name="adj" fmla="val 4444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2057400" cy="73152"/>
          </a:xfrm>
          <a:prstGeom prst="rect">
            <a:avLst/>
          </a:prstGeom>
          <a:solidFill>
            <a:srgbClr val="1A6B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liệu SGK/PDF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22860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SGK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thiếu đa góc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thiếu theo bước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0" y="1417320"/>
            <a:ext cx="2057400" cy="2331720"/>
          </a:xfrm>
          <a:prstGeom prst="roundRect">
            <a:avLst>
              <a:gd name="adj" fmla="val 4444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0" y="1417320"/>
            <a:ext cx="2057400" cy="73152"/>
          </a:xfrm>
          <a:prstGeom prst="rect">
            <a:avLst/>
          </a:prstGeom>
          <a:solidFill>
            <a:srgbClr val="1A6B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51760" y="16459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· 3D đơn lẻ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70048" y="22860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Góc cố định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hoặc tách khỏi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&amp; kiểm tra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417320"/>
            <a:ext cx="2057400" cy="2331720"/>
          </a:xfrm>
          <a:prstGeom prst="roundRect">
            <a:avLst>
              <a:gd name="adj" fmla="val 4444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1417320"/>
            <a:ext cx="2057400" cy="73152"/>
          </a:xfrm>
          <a:prstGeom prst="rect">
            <a:avLst/>
          </a:prstGeom>
          <a:solidFill>
            <a:srgbClr val="1A6B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16459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phổ thông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64608" y="22860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Nhanh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khó bám chương trình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khó kiểm chứng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49440" y="1417320"/>
            <a:ext cx="2057400" cy="2331720"/>
          </a:xfrm>
          <a:prstGeom prst="roundRect">
            <a:avLst>
              <a:gd name="adj" fmla="val 4444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040880" y="16459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Khoảng trống tích hợp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59168" y="22860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trên trình duyệt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8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cần cài app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8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liệu + 3D + AI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39776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Hỗ trợ tự học &amp; chuẩn bị thực hành  —  không thay giờ có giáo viên.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482803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QPAN 3D  ·  Phần mềm hệ thống  ·  KHKT TP.HCM 2026–2027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150">
                <a:solidFill>
                  <a:srgbClr val="C0392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01 TỔNG </a:t>
            </a:r>
            <a:r>
              <a:rPr lang="en-US" sz="1100" b="1">
                <a:solidFill>
                  <a:srgbClr val="C0392B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QUAN &amp; VẤN ĐỀ NGHIÊN CỨU</a:t>
            </a:r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Hướng tiếp cận &amp; phạm vi kiểm chứng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nội dung SGK 10–12 cần trực quan hóa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737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hóa: dựng hình → GLB → điều khiển web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377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Giới hạn vai trò Pose/AI · GV kiểm chứng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kỹ thuật · khảo sát mô tả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120640" y="1051560"/>
            <a:ext cx="3657600" cy="3246120"/>
          </a:xfrm>
          <a:prstGeom prst="roundRect">
            <a:avLst>
              <a:gd name="adj" fmla="val 2817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0" y="1234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A6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 THUYẾT &amp; GIỚI HẠN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49240" y="16916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49240" y="1965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hợp nhất luồng học — không cần cài app chuyên dụng.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49240" y="25146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49240" y="2788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đa góc hỗ trợ quan sát; hiệu quả học tập cần thử nghiệm riêng.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33375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49240" y="3611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chỉ đưa ra gợi ý; kết luận chuyên môn cần GV kiểm chứng.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" y="482803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QPAN 3D  ·  Phần mềm hệ thống  ·  KHKT TP.HCM 2026–2027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150">
                <a:solidFill>
                  <a:srgbClr val="C0392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02.</a:t>
            </a:r>
            <a:r>
              <a:rPr lang="en-US" sz="1100" b="1">
                <a:solidFill>
                  <a:srgbClr val="C0392B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GIỚI THIỆU SẢN PHẨM HỌC QPAN 3D</a:t>
            </a:r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mô-đun · một mạch học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2057400" cy="91440"/>
          </a:xfrm>
          <a:prstGeom prst="rect">
            <a:avLst/>
          </a:prstGeom>
          <a:solidFill>
            <a:srgbClr val="1A6B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&amp; ÔN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Lý thuyết · Quiz</a:t>
            </a:r>
            <a:endParaRPr lang="en-US" sz="1300" dirty="0"/>
          </a:p>
          <a:p>
            <a:pPr marL="0" indent="0" algn="ctr">
              <a:buNone/>
            </a:pPr>
            <a:r>
              <a:rPr lang="en-US" sz="130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 </a:t>
            </a: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thử · Kỹ năng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105156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0" y="1051560"/>
            <a:ext cx="2057400" cy="9144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51760" y="13258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&amp; MÔ PHỎNG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18288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Tháo/lắp AK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· Trường bắn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0" y="1051560"/>
            <a:ext cx="2057400" cy="914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13258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HỖ TRỢ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8288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Pose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Trợ giảng Gemini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49440" y="105156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49440" y="1051560"/>
            <a:ext cx="2057400" cy="91440"/>
          </a:xfrm>
          <a:prstGeom prst="rect">
            <a:avLst/>
          </a:prstGeom>
          <a:solidFill>
            <a:srgbClr val="148F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040880" y="13258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KHÁM PHÁ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40880" y="18288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đồ 6 di tích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 · Khảo sát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063240"/>
            <a:ext cx="1371600" cy="1143000"/>
          </a:xfrm>
          <a:prstGeom prst="roundRect">
            <a:avLst>
              <a:gd name="adj" fmla="val 6400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200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65760" y="3749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LT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28800" y="3063240"/>
            <a:ext cx="1371600" cy="1143000"/>
          </a:xfrm>
          <a:prstGeom prst="roundRect">
            <a:avLst>
              <a:gd name="adj" fmla="val 6400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828800" y="3200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828800" y="3749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3063240"/>
            <a:ext cx="1371600" cy="1143000"/>
          </a:xfrm>
          <a:prstGeom prst="roundRect">
            <a:avLst>
              <a:gd name="adj" fmla="val 6400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91840" y="3200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291840" y="3749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GLB đang dùng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063240"/>
            <a:ext cx="1371600" cy="1143000"/>
          </a:xfrm>
          <a:prstGeom prst="roundRect">
            <a:avLst>
              <a:gd name="adj" fmla="val 6400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0" y="3200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5+1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754880" y="3749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3063240"/>
            <a:ext cx="1371600" cy="1143000"/>
          </a:xfrm>
          <a:prstGeom prst="roundRect">
            <a:avLst>
              <a:gd name="adj" fmla="val 6400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17920" y="3200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217920" y="3749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tích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680960" y="3063240"/>
            <a:ext cx="1371600" cy="1143000"/>
          </a:xfrm>
          <a:prstGeom prst="roundRect">
            <a:avLst>
              <a:gd name="adj" fmla="val 6400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680960" y="3200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8/11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680960" y="3749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cấp/huy hiệu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11480" y="482803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QPAN 3D  ·  Phần mềm hệ thống  ·  KHKT TP.HCM 2026–2027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150">
                <a:solidFill>
                  <a:srgbClr val="C0392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02.</a:t>
            </a:r>
            <a:r>
              <a:rPr lang="en-US" sz="1100" b="1">
                <a:solidFill>
                  <a:srgbClr val="C0392B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GIỚI THIỆU SẢN PHẨM HỌC QPAN 3D</a:t>
            </a:r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lớp </a:t>
            </a:r>
            <a:r>
              <a:rPr lang="en-US" sz="2400" b="1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6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· TS · Tailwind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100584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0" y="10972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6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14173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tập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51760" y="18288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 · Quiz · Exam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10972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6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4173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/ Pose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18288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 · MediaPipe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49440" y="100584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49440" y="10972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6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40880" y="14173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Dịch vụ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0880" y="18288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· Express · Gemini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2651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HOÀN THÀNH SẢN PHẨM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063240"/>
            <a:ext cx="1645920" cy="1143000"/>
          </a:xfrm>
          <a:prstGeom prst="roundRect">
            <a:avLst>
              <a:gd name="adj" fmla="val 6400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3200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38912" y="3611880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HTTPS · không cần plugin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103120" y="3063240"/>
            <a:ext cx="1645920" cy="1143000"/>
          </a:xfrm>
          <a:prstGeom prst="roundRect">
            <a:avLst>
              <a:gd name="adj" fmla="val 6400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103120" y="3200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176272" y="3611880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GLB được nạp và điều khiển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840480" y="3063240"/>
            <a:ext cx="1645920" cy="1143000"/>
          </a:xfrm>
          <a:prstGeom prst="roundRect">
            <a:avLst>
              <a:gd name="adj" fmla="val 6400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840480" y="3200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913632" y="3611880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Type-check đạt · 138/140 test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577840" y="3063240"/>
            <a:ext cx="1645920" cy="1143000"/>
          </a:xfrm>
          <a:prstGeom prst="roundRect">
            <a:avLst>
              <a:gd name="adj" fmla="val 6400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577840" y="3200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650992" y="3611880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Khảo sát chỉ mô tả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15200" y="3063240"/>
            <a:ext cx="1645920" cy="1143000"/>
          </a:xfrm>
          <a:prstGeom prst="roundRect">
            <a:avLst>
              <a:gd name="adj" fmla="val 6400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315200" y="3200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5 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388352" y="3611880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backend · Pose on-device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11480" y="482803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QPAN 3D  ·  Phần mềm hệ thống  ·  KHKT TP.HCM 2026–2027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150">
                <a:solidFill>
                  <a:srgbClr val="C0392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02.</a:t>
            </a:r>
            <a:r>
              <a:rPr lang="en-US" sz="1100" b="1">
                <a:solidFill>
                  <a:srgbClr val="C0392B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GIỚI THIỆU SẢN PHẨM HỌC QPAN 3D</a:t>
            </a:r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phạm vi sử dụng AI — công bố rõ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0" cy="3246120"/>
          </a:xfrm>
          <a:prstGeom prst="roundRect">
            <a:avLst>
              <a:gd name="adj" fmla="val 2817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114800" cy="502920"/>
          </a:xfrm>
          <a:prstGeom prst="rect">
            <a:avLst/>
          </a:prstGeom>
          <a:solidFill>
            <a:srgbClr val="1A6B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1155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TRONG SẢN PHẨM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Gemini hỏi đáp qua API máy chủ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MediaPipe tư thế tại thiết bị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788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AI không phải điểm chính thức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291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Nội dung do nhóm + GV thẩm định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4114800" cy="3246120"/>
          </a:xfrm>
          <a:prstGeom prst="roundRect">
            <a:avLst>
              <a:gd name="adj" fmla="val 2817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1051560"/>
            <a:ext cx="4114800" cy="5029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11155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TRONG NGHIÊN CỨU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1783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Hỗ trợ ý tưởng / ngữ pháp / mã khởi đầu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2286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Ghi prompt vào sổ nhật ký (ghi tay)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788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Nhóm rà soát và chịu trách nhiệm nội dung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291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Nguồn tham khảo được nhóm đối chiếu lại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" y="482803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QPAN 3D  ·  Phần mềm hệ thống  ·  KHKT TP.HCM 2026–2027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150">
                <a:solidFill>
                  <a:srgbClr val="C0392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02.</a:t>
            </a:r>
            <a:r>
              <a:rPr lang="en-US" sz="1100" b="1">
                <a:solidFill>
                  <a:srgbClr val="C0392B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GIỚI THIỆU SẢN PHẨM HỌC QPAN 3D</a:t>
            </a:r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liệu xác nhận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057400" cy="1828800"/>
          </a:xfrm>
          <a:prstGeom prst="roundRect">
            <a:avLst>
              <a:gd name="adj" fmla="val 5000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mô-đun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học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0" y="1005840"/>
            <a:ext cx="2057400" cy="1828800"/>
          </a:xfrm>
          <a:prstGeom prst="roundRect">
            <a:avLst>
              <a:gd name="adj" fmla="val 5000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0" y="114300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8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138/140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651760" y="187452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đạt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98,6%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2057400" cy="1828800"/>
          </a:xfrm>
          <a:prstGeom prst="roundRect">
            <a:avLst>
              <a:gd name="adj" fmla="val 5000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14300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6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846320" y="187452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cặp khảo sát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trước–sau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49440" y="1005840"/>
            <a:ext cx="2057400" cy="1828800"/>
          </a:xfrm>
          <a:prstGeom prst="roundRect">
            <a:avLst>
              <a:gd name="adj" fmla="val 5000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49440" y="114300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4,08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040880" y="187452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Likert sau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(từ 2,69)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57300" y="3063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57300" y="3429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tích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86200" y="3063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≈51,7%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86200" y="3429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tăng TB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15100" y="3063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15100" y="3429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tiếp tục dùng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39319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Thống kê mô tả · chưa nhóm đối chứng · không suy diễn nhân quả.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1480" y="482803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QPAN 3D  ·  Phần mềm hệ thống  ·  KHKT TP.HCM 2026–2027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150">
                <a:solidFill>
                  <a:srgbClr val="C0392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03  </a:t>
            </a:r>
            <a:r>
              <a:rPr lang="en-US" sz="1100" b="1">
                <a:solidFill>
                  <a:srgbClr val="C0392B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KỸ THUẬT &amp; KIỂM CHỨNG</a:t>
            </a:r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Liêm chính khoa học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116128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Pose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0" y="116128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kiểm định trên mẫu người thật có nhãn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8288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1984248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198424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193852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/ Express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14800" y="19385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đầy đủ · Worker công khai còn thiếu API chatbot </a:t>
            </a:r>
            <a:r>
              <a:rPr lang="en-US" sz="130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kiểm tra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60604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2761488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76148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TẢ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271576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Khảo sát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114800" y="271576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cặp — tín hiệu trải nghiệm · chưa nhóm đối chứng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38328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2920" y="3538728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53872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NGUYÊN MẪU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20240" y="349300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WebAR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114800" y="34930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Chồng camera · chưa WebXR neo mặt phẳng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" y="482803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QPAN 3D  ·  Phần mềm hệ thống  ·  KHKT TP.HCM 2026–2027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150">
                <a:solidFill>
                  <a:srgbClr val="C0392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03  </a:t>
            </a:r>
            <a:r>
              <a:rPr lang="en-US" sz="1100" b="1">
                <a:solidFill>
                  <a:srgbClr val="C0392B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KỸ THUẬT &amp; KIỂM CHỨNG</a:t>
            </a:r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</a:t>
            </a:r>
            <a:r>
              <a:rPr lang="en-US" sz="2400" b="1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mạch học · pipeline · giới hạn</a:t>
            </a:r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298448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29844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20700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mạch học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5544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liệu → 3D theo bước </a:t>
            </a:r>
            <a:r>
              <a:rPr lang="en-US" sz="130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luyện tập/kiểm tra → Pose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10312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2304288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3042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21284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kỹ thuật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5603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GLB → clip/camera → MediaPipe on-device · AI qua backend có kiểm soát.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3310128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31012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2186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Phạm vi kết luận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35661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· Worker thiếu API chatbot/thi · khảo sát chỉ mô tả.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482803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QPAN 3D  ·  Phần mềm hệ thống  ·  KHKT TP.HCM 2026–2027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150">
                <a:solidFill>
                  <a:srgbClr val="C0392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04  </a:t>
            </a:r>
            <a:r>
              <a:rPr lang="en-US" sz="1100" b="1">
                <a:solidFill>
                  <a:srgbClr val="C0392B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THỰC NGHIỆM &amp; ỨNG DỤNG</a:t>
            </a:r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Sáu ưu tiên tiếp theo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Thẩm định chuyên môn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· câu hỏi · animation · rubric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29000" y="1234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định Pose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thật · góc máy · ánh sáng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1234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Hợp nhất backend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+ Worker cùng API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265176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đối chứng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rộng mẫu · thống kê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46120" y="265176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2900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2900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ưu sản phẩm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42900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GLB · mobile · mạng yếu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26480" y="265176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0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0936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có nguồn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30936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từ học liệu đã thẩm định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11480" y="482803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QPAN 3D  ·  Phần mềm hệ thống  ·  KHKT TP.HCM 2026–2027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411480" y="228600"/>
            <a:ext cx="8229600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C0392B"/>
                </a:solidFill>
                <a:latin typeface="Arial"/>
              </a:rPr>
              <a:t>KẾT LUẬN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411480" y="316468"/>
            <a:ext cx="822960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rgbClr val="0A1628"/>
                </a:solidFill>
                <a:latin typeface="Arial"/>
              </a:rPr>
              <a:t>Nguyên mẫu vận hành, có tín hiệu tích cực và nêu rõ giới hạn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113415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655064" y="1113415"/>
            <a:ext cx="6345936" cy="493776"/>
          </a:xfrm>
          <a:prstGeom prst="rect">
            <a:avLst/>
          </a:prstGeom>
          <a:solidFill>
            <a:srgbClr val="F0F3F6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/>
            <a:r>
              <a:rPr lang="en-US" sz="1400" b="1">
                <a:solidFill>
                  <a:srgbClr val="0A1628"/>
                </a:solidFill>
                <a:latin typeface="Arial"/>
              </a:rPr>
              <a:t>Kỹ thuật</a:t>
            </a:r>
            <a:r>
              <a:rPr lang="en-US" sz="1250" b="0">
                <a:solidFill>
                  <a:srgbClr val="6B7C8F"/>
                </a:solidFill>
                <a:latin typeface="Arial"/>
              </a:rPr>
              <a:t>  ·  Type-check đạt · 138/140 test</a:t>
            </a:r>
          </a:p>
        </p:txBody>
      </p:sp>
      <p:sp>
        <p:nvSpPr>
          <p:cNvPr id="8" name="Down Arrow 7"/>
          <p:cNvSpPr>
            <a:spLocks/>
          </p:cNvSpPr>
          <p:nvPr/>
        </p:nvSpPr>
        <p:spPr>
          <a:xfrm>
            <a:off x="4311396" y="1604905"/>
            <a:ext cx="429768" cy="402336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143000" y="2021714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55064" y="2021714"/>
            <a:ext cx="6345936" cy="493776"/>
          </a:xfrm>
          <a:prstGeom prst="rect">
            <a:avLst/>
          </a:prstGeom>
          <a:solidFill>
            <a:srgbClr val="F6F8FA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/>
            <a:r>
              <a:rPr lang="en-US" sz="1400" b="1">
                <a:solidFill>
                  <a:srgbClr val="0A1628"/>
                </a:solidFill>
                <a:latin typeface="Arial"/>
              </a:rPr>
              <a:t>Trải nghiệm</a:t>
            </a:r>
            <a:r>
              <a:rPr lang="en-US" sz="1250" b="0">
                <a:solidFill>
                  <a:srgbClr val="6B7C8F"/>
                </a:solidFill>
                <a:latin typeface="Arial"/>
              </a:rPr>
              <a:t>  ·  Tín hiệu tích cực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311396" y="2520173"/>
            <a:ext cx="429768" cy="402336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>
          <a:xfrm>
            <a:off x="1143000" y="2922509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55064" y="2922509"/>
            <a:ext cx="6345936" cy="493776"/>
          </a:xfrm>
          <a:prstGeom prst="rect">
            <a:avLst/>
          </a:prstGeom>
          <a:solidFill>
            <a:srgbClr val="F0F3F6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/>
            <a:r>
              <a:rPr lang="vi-VN" sz="1400" b="1">
                <a:solidFill>
                  <a:srgbClr val="0A1628"/>
                </a:solidFill>
                <a:latin typeface="Arial"/>
              </a:rPr>
              <a:t>Giới hạn</a:t>
            </a:r>
            <a:r>
              <a:rPr lang="vi-VN" sz="1250" b="0">
                <a:solidFill>
                  <a:srgbClr val="6B7C8F"/>
                </a:solidFill>
                <a:latin typeface="Arial"/>
              </a:rPr>
              <a:t>  ·  Chưa chứng minh nhân quả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312176" y="3435351"/>
            <a:ext cx="428208" cy="401557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43000" y="3827764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6" name="Rectangle 15"/>
          <p:cNvSpPr>
            <a:spLocks/>
          </p:cNvSpPr>
          <p:nvPr/>
        </p:nvSpPr>
        <p:spPr>
          <a:xfrm>
            <a:off x="1655064" y="3827764"/>
            <a:ext cx="6345936" cy="493776"/>
          </a:xfrm>
          <a:prstGeom prst="rect">
            <a:avLst/>
          </a:prstGeom>
          <a:solidFill>
            <a:srgbClr val="F6F8FA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/>
            <a:r>
              <a:rPr lang="en-US" sz="1400" b="1">
                <a:solidFill>
                  <a:srgbClr val="0A1628"/>
                </a:solidFill>
                <a:latin typeface="Arial"/>
              </a:rPr>
              <a:t>Tiếp theo</a:t>
            </a:r>
            <a:r>
              <a:rPr lang="en-US" sz="1250" b="0">
                <a:solidFill>
                  <a:srgbClr val="6B7C8F"/>
                </a:solidFill>
                <a:latin typeface="Arial"/>
              </a:rPr>
              <a:t>  ·  Thẩm định GDQP · Pose · backend · đối chứng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865388"/>
            <a:ext cx="71323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6B7C8F"/>
                </a:solidFill>
                <a:latin typeface="Arial"/>
              </a:rPr>
              <a:t>HỌC QPAN 3D  ·  Phần mềm hệ thống  ·  KHKT TP.HCM 2026–2027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7772400" y="4865388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6B7C8F"/>
                </a:solidFill>
                <a:latin typeface="Arial"/>
              </a:rPr>
              <a:t>11/11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640080" y="4489704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850">
                <a:solidFill>
                  <a:srgbClr val="6B7C8F"/>
                </a:solidFill>
                <a:latin typeface="Arial"/>
              </a:rPr>
              <a:t>Sổ nhật ký ghi tay · Video &lt; 3 phút · Poster theo mẫu BTC   |   Lê Trọng Phúc · Nguyễn Anh Khôi · TH–THCS–THPT Tân Phú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150920" cy="89226"/>
            <a:chOff x="0" y="0"/>
            <a:chExt cx="24402453" cy="2379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237871"/>
            </a:xfrm>
            <a:custGeom>
              <a:avLst/>
              <a:gdLst/>
              <a:ahLst/>
              <a:cxnLst/>
              <a:rect l="l" t="t" r="r" b="b"/>
              <a:pathLst>
                <a:path w="24402414" h="237871">
                  <a:moveTo>
                    <a:pt x="0" y="0"/>
                  </a:moveTo>
                  <a:lnTo>
                    <a:pt x="24402414" y="0"/>
                  </a:lnTo>
                  <a:lnTo>
                    <a:pt x="24402414" y="237871"/>
                  </a:lnTo>
                  <a:lnTo>
                    <a:pt x="0" y="237871"/>
                  </a:lnTo>
                  <a:close/>
                </a:path>
              </a:pathLst>
            </a:custGeom>
            <a:solidFill>
              <a:srgbClr val="CA1C2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480436" y="549069"/>
            <a:ext cx="4804353" cy="446118"/>
            <a:chOff x="0" y="0"/>
            <a:chExt cx="12811608" cy="118964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811609" cy="1189649"/>
            </a:xfrm>
            <a:custGeom>
              <a:avLst/>
              <a:gdLst/>
              <a:ahLst/>
              <a:cxnLst/>
              <a:rect l="l" t="t" r="r" b="b"/>
              <a:pathLst>
                <a:path w="12811609" h="1189649">
                  <a:moveTo>
                    <a:pt x="0" y="0"/>
                  </a:moveTo>
                  <a:lnTo>
                    <a:pt x="12811609" y="0"/>
                  </a:lnTo>
                  <a:lnTo>
                    <a:pt x="12811609" y="1189649"/>
                  </a:lnTo>
                  <a:lnTo>
                    <a:pt x="0" y="118964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9838" b="-159838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2811608" cy="12182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2702"/>
                </a:lnSpc>
              </a:pPr>
              <a:r>
                <a:rPr lang="en-US" sz="2252" b="1">
                  <a:latin typeface="Arial Bold"/>
                  <a:ea typeface="Arial Bold"/>
                  <a:cs typeface="Arial Bold"/>
                  <a:sym typeface="Arial Bold"/>
                </a:rPr>
                <a:t>CẢM ƠN BAN GIÁM KHẢO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94162" y="1063824"/>
            <a:ext cx="4529819" cy="274535"/>
            <a:chOff x="0" y="0"/>
            <a:chExt cx="12079516" cy="7320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079517" cy="732092"/>
            </a:xfrm>
            <a:custGeom>
              <a:avLst/>
              <a:gdLst/>
              <a:ahLst/>
              <a:cxnLst/>
              <a:rect l="l" t="t" r="r" b="b"/>
              <a:pathLst>
                <a:path w="12079517" h="732092">
                  <a:moveTo>
                    <a:pt x="0" y="0"/>
                  </a:moveTo>
                  <a:lnTo>
                    <a:pt x="12079517" y="0"/>
                  </a:lnTo>
                  <a:lnTo>
                    <a:pt x="12079517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1503" b="-27150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2079516" cy="7511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351"/>
                </a:lnSpc>
              </a:pPr>
              <a:r>
                <a:rPr lang="en-US" sz="1126" b="1">
                  <a:solidFill>
                    <a:srgbClr val="F6BF1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Một cổng học tập, nhiều cách tiếp cận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94162" y="1455034"/>
            <a:ext cx="5010255" cy="308853"/>
            <a:chOff x="0" y="0"/>
            <a:chExt cx="13360679" cy="82360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360678" cy="823603"/>
            </a:xfrm>
            <a:custGeom>
              <a:avLst/>
              <a:gdLst/>
              <a:ahLst/>
              <a:cxnLst/>
              <a:rect l="l" t="t" r="r" b="b"/>
              <a:pathLst>
                <a:path w="13360678" h="823603">
                  <a:moveTo>
                    <a:pt x="0" y="0"/>
                  </a:moveTo>
                  <a:lnTo>
                    <a:pt x="13360678" y="0"/>
                  </a:lnTo>
                  <a:lnTo>
                    <a:pt x="13360678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66090" b="-26609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13360679" cy="8331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261"/>
                </a:lnSpc>
              </a:pPr>
              <a:r>
                <a:rPr lang="en-US" sz="1051">
                  <a:latin typeface="Arial"/>
                  <a:ea typeface="Arial"/>
                  <a:cs typeface="Arial"/>
                  <a:sym typeface="Arial"/>
                </a:rPr>
                <a:t>Học lý thuyết  •  Quan sát 3D  •  Luyện tập  •  Nhận phản hồi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4162" y="2093324"/>
            <a:ext cx="4975936" cy="1098137"/>
            <a:chOff x="0" y="0"/>
            <a:chExt cx="13269163" cy="292836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269213" cy="2928366"/>
            </a:xfrm>
            <a:custGeom>
              <a:avLst/>
              <a:gdLst/>
              <a:ahLst/>
              <a:cxnLst/>
              <a:rect l="l" t="t" r="r" b="b"/>
              <a:pathLst>
                <a:path w="13269213" h="2928366">
                  <a:moveTo>
                    <a:pt x="0" y="234315"/>
                  </a:moveTo>
                  <a:cubicBezTo>
                    <a:pt x="0" y="104902"/>
                    <a:pt x="104902" y="0"/>
                    <a:pt x="234315" y="0"/>
                  </a:cubicBezTo>
                  <a:lnTo>
                    <a:pt x="13034899" y="0"/>
                  </a:lnTo>
                  <a:cubicBezTo>
                    <a:pt x="13164313" y="0"/>
                    <a:pt x="13269213" y="104902"/>
                    <a:pt x="13269213" y="234315"/>
                  </a:cubicBezTo>
                  <a:lnTo>
                    <a:pt x="13269213" y="2694051"/>
                  </a:lnTo>
                  <a:cubicBezTo>
                    <a:pt x="13269213" y="2823464"/>
                    <a:pt x="13164313" y="2928366"/>
                    <a:pt x="13034899" y="2928366"/>
                  </a:cubicBezTo>
                  <a:lnTo>
                    <a:pt x="234315" y="2928366"/>
                  </a:lnTo>
                  <a:cubicBezTo>
                    <a:pt x="104902" y="2928366"/>
                    <a:pt x="0" y="2823464"/>
                    <a:pt x="0" y="2694051"/>
                  </a:cubicBezTo>
                  <a:close/>
                </a:path>
              </a:pathLst>
            </a:custGeom>
            <a:solidFill>
              <a:srgbClr val="142139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652020" y="2264912"/>
            <a:ext cx="1235407" cy="219628"/>
            <a:chOff x="0" y="0"/>
            <a:chExt cx="3294418" cy="58567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294414" cy="585674"/>
            </a:xfrm>
            <a:custGeom>
              <a:avLst/>
              <a:gdLst/>
              <a:ahLst/>
              <a:cxnLst/>
              <a:rect l="l" t="t" r="r" b="b"/>
              <a:pathLst>
                <a:path w="3294414" h="585674">
                  <a:moveTo>
                    <a:pt x="0" y="0"/>
                  </a:moveTo>
                  <a:lnTo>
                    <a:pt x="3294414" y="0"/>
                  </a:lnTo>
                  <a:lnTo>
                    <a:pt x="3294414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9603" b="-59603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3294418" cy="5951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46"/>
                </a:lnSpc>
              </a:pPr>
              <a:r>
                <a:rPr lang="en-US" sz="788" b="1">
                  <a:solidFill>
                    <a:srgbClr val="F6BF1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GIÁ TRỊ HIỆN TẠI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818789" y="2210005"/>
            <a:ext cx="3397363" cy="377486"/>
            <a:chOff x="0" y="0"/>
            <a:chExt cx="9059634" cy="100662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059638" cy="1006626"/>
            </a:xfrm>
            <a:custGeom>
              <a:avLst/>
              <a:gdLst/>
              <a:ahLst/>
              <a:cxnLst/>
              <a:rect l="l" t="t" r="r" b="b"/>
              <a:pathLst>
                <a:path w="9059638" h="1006626">
                  <a:moveTo>
                    <a:pt x="0" y="0"/>
                  </a:moveTo>
                  <a:lnTo>
                    <a:pt x="9059638" y="0"/>
                  </a:lnTo>
                  <a:lnTo>
                    <a:pt x="9059638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5365" b="-125365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9059634" cy="10352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08"/>
                </a:lnSpc>
              </a:pPr>
              <a:r>
                <a:rPr lang="en-US" sz="923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Kết nối học liệu, mô phỏng, AI Pose và phản hồi trong một website web-first.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52020" y="2779662"/>
            <a:ext cx="1338358" cy="219628"/>
            <a:chOff x="0" y="0"/>
            <a:chExt cx="3568954" cy="58567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568948" cy="585674"/>
            </a:xfrm>
            <a:custGeom>
              <a:avLst/>
              <a:gdLst/>
              <a:ahLst/>
              <a:cxnLst/>
              <a:rect l="l" t="t" r="r" b="b"/>
              <a:pathLst>
                <a:path w="3568948" h="585674">
                  <a:moveTo>
                    <a:pt x="0" y="0"/>
                  </a:moveTo>
                  <a:lnTo>
                    <a:pt x="3568948" y="0"/>
                  </a:lnTo>
                  <a:lnTo>
                    <a:pt x="3568948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8737" b="-68737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3568954" cy="5951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46"/>
                </a:lnSpc>
              </a:pPr>
              <a:r>
                <a:rPr lang="en-US" sz="788" b="1">
                  <a:solidFill>
                    <a:srgbClr val="F6BF1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PHẠM VI CAM KẾT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818789" y="2731618"/>
            <a:ext cx="3397363" cy="377486"/>
            <a:chOff x="0" y="0"/>
            <a:chExt cx="9059634" cy="100662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059638" cy="1006626"/>
            </a:xfrm>
            <a:custGeom>
              <a:avLst/>
              <a:gdLst/>
              <a:ahLst/>
              <a:cxnLst/>
              <a:rect l="l" t="t" r="r" b="b"/>
              <a:pathLst>
                <a:path w="9059638" h="1006626">
                  <a:moveTo>
                    <a:pt x="0" y="0"/>
                  </a:moveTo>
                  <a:lnTo>
                    <a:pt x="9059638" y="0"/>
                  </a:lnTo>
                  <a:lnTo>
                    <a:pt x="9059638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5365" b="-125365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9059634" cy="10256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81"/>
                </a:lnSpc>
              </a:pPr>
              <a:r>
                <a:rPr lang="en-US" sz="90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Nguyên mẫu hỗ trợ học tập; tiếp tục thẩm định kỹ thuật và sư phạm.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984853" y="720652"/>
            <a:ext cx="2436495" cy="2813976"/>
            <a:chOff x="0" y="0"/>
            <a:chExt cx="6497320" cy="750393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497320" cy="7503922"/>
            </a:xfrm>
            <a:custGeom>
              <a:avLst/>
              <a:gdLst/>
              <a:ahLst/>
              <a:cxnLst/>
              <a:rect l="l" t="t" r="r" b="b"/>
              <a:pathLst>
                <a:path w="6497320" h="7503922">
                  <a:moveTo>
                    <a:pt x="0" y="519811"/>
                  </a:moveTo>
                  <a:cubicBezTo>
                    <a:pt x="0" y="232664"/>
                    <a:pt x="232664" y="0"/>
                    <a:pt x="519811" y="0"/>
                  </a:cubicBezTo>
                  <a:lnTo>
                    <a:pt x="5977509" y="0"/>
                  </a:lnTo>
                  <a:cubicBezTo>
                    <a:pt x="6264529" y="0"/>
                    <a:pt x="6497320" y="232664"/>
                    <a:pt x="6497320" y="519811"/>
                  </a:cubicBezTo>
                  <a:lnTo>
                    <a:pt x="6497320" y="6984111"/>
                  </a:lnTo>
                  <a:cubicBezTo>
                    <a:pt x="6497320" y="7271131"/>
                    <a:pt x="6264656" y="7503922"/>
                    <a:pt x="5977509" y="7503922"/>
                  </a:cubicBezTo>
                  <a:lnTo>
                    <a:pt x="519811" y="7503922"/>
                  </a:lnTo>
                  <a:cubicBezTo>
                    <a:pt x="232664" y="7503922"/>
                    <a:pt x="0" y="7271258"/>
                    <a:pt x="0" y="698411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6142711" y="2985564"/>
            <a:ext cx="2113917" cy="233353"/>
            <a:chOff x="0" y="0"/>
            <a:chExt cx="5637111" cy="62227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637108" cy="622278"/>
            </a:xfrm>
            <a:custGeom>
              <a:avLst/>
              <a:gdLst/>
              <a:ahLst/>
              <a:cxnLst/>
              <a:rect l="l" t="t" r="r" b="b"/>
              <a:pathLst>
                <a:path w="5637108" h="622278">
                  <a:moveTo>
                    <a:pt x="0" y="0"/>
                  </a:moveTo>
                  <a:lnTo>
                    <a:pt x="5637108" y="0"/>
                  </a:lnTo>
                  <a:lnTo>
                    <a:pt x="5637108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6511" b="-126511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5637111" cy="631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46"/>
                </a:lnSpc>
              </a:pPr>
              <a:r>
                <a:rPr lang="en-US" sz="788" b="1">
                  <a:solidFill>
                    <a:srgbClr val="1A2A4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QUÉT MÃ TRUY CẬP BẢN THỬ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4667" y="3246373"/>
            <a:ext cx="2196275" cy="205902"/>
            <a:chOff x="0" y="0"/>
            <a:chExt cx="5856732" cy="54907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856736" cy="549069"/>
            </a:xfrm>
            <a:custGeom>
              <a:avLst/>
              <a:gdLst/>
              <a:ahLst/>
              <a:cxnLst/>
              <a:rect l="l" t="t" r="r" b="b"/>
              <a:pathLst>
                <a:path w="5856736" h="549069">
                  <a:moveTo>
                    <a:pt x="0" y="0"/>
                  </a:moveTo>
                  <a:lnTo>
                    <a:pt x="5856736" y="0"/>
                  </a:lnTo>
                  <a:lnTo>
                    <a:pt x="585673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7840" b="-157840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5856732" cy="5681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56"/>
                </a:lnSpc>
              </a:pPr>
              <a:r>
                <a:rPr lang="en-US" sz="713" b="1">
                  <a:solidFill>
                    <a:srgbClr val="CA1C2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94162" y="4495500"/>
            <a:ext cx="3431682" cy="192177"/>
            <a:chOff x="0" y="0"/>
            <a:chExt cx="9151150" cy="51247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151149" cy="512464"/>
            </a:xfrm>
            <a:custGeom>
              <a:avLst/>
              <a:gdLst/>
              <a:ahLst/>
              <a:cxnLst/>
              <a:rect l="l" t="t" r="r" b="b"/>
              <a:pathLst>
                <a:path w="9151149" h="512464">
                  <a:moveTo>
                    <a:pt x="0" y="0"/>
                  </a:moveTo>
                  <a:lnTo>
                    <a:pt x="9151149" y="0"/>
                  </a:lnTo>
                  <a:lnTo>
                    <a:pt x="915114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7946" b="-297947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9151150" cy="5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18"/>
                </a:lnSpc>
              </a:pPr>
              <a:r>
                <a:rPr lang="en-US" sz="765">
                  <a:latin typeface="Arial"/>
                  <a:ea typeface="Arial"/>
                  <a:cs typeface="Arial"/>
                  <a:sym typeface="Arial"/>
                </a:rPr>
                <a:t>Lê Trọng Phúc • Nguyễn Anh Khôi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975936" y="4495500"/>
            <a:ext cx="3500314" cy="192177"/>
            <a:chOff x="0" y="0"/>
            <a:chExt cx="9334170" cy="51247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334172" cy="512464"/>
            </a:xfrm>
            <a:custGeom>
              <a:avLst/>
              <a:gdLst/>
              <a:ahLst/>
              <a:cxnLst/>
              <a:rect l="l" t="t" r="r" b="b"/>
              <a:pathLst>
                <a:path w="9334172" h="512464">
                  <a:moveTo>
                    <a:pt x="0" y="0"/>
                  </a:moveTo>
                  <a:lnTo>
                    <a:pt x="9334172" y="0"/>
                  </a:lnTo>
                  <a:lnTo>
                    <a:pt x="9334172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4905" b="-304906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9334170" cy="5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918"/>
                </a:lnSpc>
              </a:pPr>
              <a:r>
                <a:rPr lang="en-US" sz="765">
                  <a:latin typeface="Arial"/>
                  <a:ea typeface="Arial"/>
                  <a:cs typeface="Arial"/>
                  <a:sym typeface="Arial"/>
                </a:rPr>
                <a:t>Trường TH–THCS–THPT Tân Phú • 2026</a:t>
              </a:r>
            </a:p>
          </p:txBody>
        </p:sp>
      </p:grpSp>
      <p:pic>
        <p:nvPicPr>
          <p:cNvPr id="43" name="Picture 42" descr="Mã QR HỌC QPAN 3D">
            <a:extLst>
              <a:ext uri="{FF2B5EF4-FFF2-40B4-BE49-F238E27FC236}">
                <a16:creationId xmlns:a16="http://schemas.microsoft.com/office/drawing/2014/main" id="{2F0D0EB7-42B9-5489-FB3E-48785CE07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019" y="1233348"/>
            <a:ext cx="1697300" cy="169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573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26257"/>
            <a:ext cx="82296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392B"/>
                </a:solidFill>
                <a:latin typeface="Arial"/>
              </a:rPr>
              <a:t>0</a:t>
            </a:r>
            <a:r>
              <a:rPr lang="en-US" sz="1100" b="1">
                <a:solidFill>
                  <a:srgbClr val="C0392B"/>
                </a:solidFill>
                <a:latin typeface="Arial"/>
              </a:rPr>
              <a:t>1</a:t>
            </a:r>
            <a:r>
              <a:rPr sz="1100" b="1">
                <a:solidFill>
                  <a:srgbClr val="C0392B"/>
                </a:solidFill>
                <a:latin typeface="Arial"/>
              </a:rPr>
              <a:t>  </a:t>
            </a:r>
            <a:r>
              <a:rPr lang="vi-VN" sz="1100" b="1">
                <a:solidFill>
                  <a:srgbClr val="C0392B"/>
                </a:solidFill>
                <a:latin typeface="Arial"/>
              </a:rPr>
              <a:t>LƯU ĐỒ QUY TRÌNH DỰ ÁN</a:t>
            </a:r>
            <a:endParaRPr sz="1100" b="1">
              <a:solidFill>
                <a:srgbClr val="C0392B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316468"/>
            <a:ext cx="822960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rgbClr val="0A1628"/>
                </a:solidFill>
                <a:latin typeface="Arial"/>
              </a:rPr>
              <a:t>Quy trình nghiên cứu kỹ thuật đi từ vấn đề đến công bố giới hạn</a:t>
            </a:r>
            <a:endParaRPr sz="2400" b="1">
              <a:solidFill>
                <a:srgbClr val="0A1628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43000" y="1005840"/>
            <a:ext cx="512064" cy="3931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655064" y="1005840"/>
            <a:ext cx="6345936" cy="393192"/>
          </a:xfrm>
          <a:prstGeom prst="rect">
            <a:avLst/>
          </a:prstGeom>
          <a:solidFill>
            <a:srgbClr val="F0F3F6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50" b="1">
                <a:solidFill>
                  <a:srgbClr val="0A1628"/>
                </a:solidFill>
                <a:latin typeface="Arial"/>
              </a:rPr>
              <a:t>Vấn đề</a:t>
            </a:r>
          </a:p>
        </p:txBody>
      </p:sp>
      <p:sp>
        <p:nvSpPr>
          <p:cNvPr id="8" name="Down Arrow 7"/>
          <p:cNvSpPr>
            <a:spLocks/>
          </p:cNvSpPr>
          <p:nvPr/>
        </p:nvSpPr>
        <p:spPr>
          <a:xfrm>
            <a:off x="4462272" y="1404518"/>
            <a:ext cx="219456" cy="68580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143000" y="1481328"/>
            <a:ext cx="512064" cy="3931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55064" y="1481328"/>
            <a:ext cx="6345936" cy="393192"/>
          </a:xfrm>
          <a:prstGeom prst="rect">
            <a:avLst/>
          </a:prstGeom>
          <a:solidFill>
            <a:srgbClr val="F6F8FA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vi-VN" sz="1350" b="1">
                <a:solidFill>
                  <a:srgbClr val="0A1628"/>
                </a:solidFill>
                <a:latin typeface="Arial"/>
              </a:rPr>
              <a:t>Phân tích chương trình GDQP-AN</a:t>
            </a:r>
            <a:r>
              <a:rPr lang="vi-VN" sz="1250" b="0">
                <a:solidFill>
                  <a:srgbClr val="6B7C8F"/>
                </a:solidFill>
                <a:latin typeface="Arial"/>
              </a:rPr>
              <a:t>  ·  nhu cầu quan sát</a:t>
            </a:r>
          </a:p>
        </p:txBody>
      </p:sp>
      <p:sp>
        <p:nvSpPr>
          <p:cNvPr id="11" name="Down Arrow 10"/>
          <p:cNvSpPr>
            <a:spLocks/>
          </p:cNvSpPr>
          <p:nvPr/>
        </p:nvSpPr>
        <p:spPr>
          <a:xfrm>
            <a:off x="4462272" y="1880006"/>
            <a:ext cx="219456" cy="68580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143000" y="1956816"/>
            <a:ext cx="512064" cy="3931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55064" y="1956816"/>
            <a:ext cx="6345936" cy="393192"/>
          </a:xfrm>
          <a:prstGeom prst="rect">
            <a:avLst/>
          </a:prstGeom>
          <a:solidFill>
            <a:srgbClr val="F0F3F6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50" b="1">
                <a:solidFill>
                  <a:srgbClr val="0A1628"/>
                </a:solidFill>
                <a:latin typeface="Arial"/>
              </a:rPr>
              <a:t>Thiết kế</a:t>
            </a:r>
            <a:r>
              <a:rPr lang="en-US" sz="1250" b="0">
                <a:solidFill>
                  <a:srgbClr val="6B7C8F"/>
                </a:solidFill>
                <a:latin typeface="Arial"/>
              </a:rPr>
              <a:t>  ·  4 lớp · Ti</a:t>
            </a:r>
            <a:r>
              <a:rPr lang="en-US" sz="1250">
                <a:solidFill>
                  <a:srgbClr val="6B7C8F"/>
                </a:solidFill>
                <a:latin typeface="Arial"/>
              </a:rPr>
              <a:t>êu chí</a:t>
            </a:r>
            <a:endParaRPr lang="en-US" sz="1250" b="0">
              <a:solidFill>
                <a:srgbClr val="6B7C8F"/>
              </a:solidFill>
              <a:latin typeface="Arial"/>
            </a:endParaRPr>
          </a:p>
        </p:txBody>
      </p:sp>
      <p:sp>
        <p:nvSpPr>
          <p:cNvPr id="14" name="Down Arrow 13"/>
          <p:cNvSpPr>
            <a:spLocks/>
          </p:cNvSpPr>
          <p:nvPr/>
        </p:nvSpPr>
        <p:spPr>
          <a:xfrm>
            <a:off x="4462272" y="2355494"/>
            <a:ext cx="219456" cy="68580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143000" y="2432304"/>
            <a:ext cx="512064" cy="3931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55064" y="2432304"/>
            <a:ext cx="6345936" cy="393192"/>
          </a:xfrm>
          <a:prstGeom prst="rect">
            <a:avLst/>
          </a:prstGeom>
          <a:solidFill>
            <a:srgbClr val="F6F8FA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it-IT" sz="1350" b="1">
                <a:solidFill>
                  <a:srgbClr val="0A1628"/>
                </a:solidFill>
                <a:latin typeface="Arial"/>
              </a:rPr>
              <a:t>Chế tạo</a:t>
            </a:r>
            <a:r>
              <a:rPr lang="it-IT" sz="1250" b="0">
                <a:solidFill>
                  <a:srgbClr val="6B7C8F"/>
                </a:solidFill>
                <a:latin typeface="Arial"/>
              </a:rPr>
              <a:t>  ·  website · GLB · Pose · AI</a:t>
            </a:r>
          </a:p>
        </p:txBody>
      </p:sp>
      <p:sp>
        <p:nvSpPr>
          <p:cNvPr id="17" name="Down Arrow 16"/>
          <p:cNvSpPr>
            <a:spLocks/>
          </p:cNvSpPr>
          <p:nvPr/>
        </p:nvSpPr>
        <p:spPr>
          <a:xfrm>
            <a:off x="4462272" y="2830982"/>
            <a:ext cx="219456" cy="68580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143000" y="2907792"/>
            <a:ext cx="512064" cy="3931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55064" y="2907792"/>
            <a:ext cx="6345936" cy="393192"/>
          </a:xfrm>
          <a:prstGeom prst="rect">
            <a:avLst/>
          </a:prstGeom>
          <a:solidFill>
            <a:srgbClr val="F0F3F6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50" b="1">
                <a:solidFill>
                  <a:srgbClr val="0A1628"/>
                </a:solidFill>
                <a:latin typeface="Arial"/>
              </a:rPr>
              <a:t>Kiểm thử</a:t>
            </a:r>
            <a:r>
              <a:rPr lang="en-US" sz="1250" b="0">
                <a:solidFill>
                  <a:srgbClr val="6B7C8F"/>
                </a:solidFill>
                <a:latin typeface="Arial"/>
              </a:rPr>
              <a:t>  ·  type-check đạt · 138/140 test · HTTPS</a:t>
            </a:r>
          </a:p>
        </p:txBody>
      </p:sp>
      <p:sp>
        <p:nvSpPr>
          <p:cNvPr id="20" name="Down Arrow 19"/>
          <p:cNvSpPr>
            <a:spLocks/>
          </p:cNvSpPr>
          <p:nvPr/>
        </p:nvSpPr>
        <p:spPr>
          <a:xfrm>
            <a:off x="4462272" y="3306470"/>
            <a:ext cx="219456" cy="68580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143000" y="3383280"/>
            <a:ext cx="512064" cy="3931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55064" y="3383280"/>
            <a:ext cx="6345936" cy="393192"/>
          </a:xfrm>
          <a:prstGeom prst="rect">
            <a:avLst/>
          </a:prstGeom>
          <a:solidFill>
            <a:srgbClr val="F6F8FA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vi-VN" sz="1350" b="1">
                <a:solidFill>
                  <a:srgbClr val="0A1628"/>
                </a:solidFill>
                <a:latin typeface="Arial"/>
              </a:rPr>
              <a:t>Khảo sát trước–sau</a:t>
            </a:r>
            <a:r>
              <a:rPr lang="vi-VN" sz="1250" b="0">
                <a:solidFill>
                  <a:srgbClr val="6B7C8F"/>
                </a:solidFill>
                <a:latin typeface="Arial"/>
              </a:rPr>
              <a:t>  ·  mô tả</a:t>
            </a:r>
          </a:p>
        </p:txBody>
      </p:sp>
      <p:sp>
        <p:nvSpPr>
          <p:cNvPr id="23" name="Down Arrow 22"/>
          <p:cNvSpPr>
            <a:spLocks/>
          </p:cNvSpPr>
          <p:nvPr/>
        </p:nvSpPr>
        <p:spPr>
          <a:xfrm>
            <a:off x="4462272" y="3781958"/>
            <a:ext cx="219456" cy="68580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143000" y="3858768"/>
            <a:ext cx="512064" cy="3931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55064" y="3858768"/>
            <a:ext cx="6345936" cy="393192"/>
          </a:xfrm>
          <a:prstGeom prst="rect">
            <a:avLst/>
          </a:prstGeom>
          <a:solidFill>
            <a:srgbClr val="0A1628"/>
          </a:solidFill>
          <a:ln w="1397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50" b="1">
                <a:solidFill>
                  <a:srgbClr val="FFFFFF"/>
                </a:solidFill>
                <a:latin typeface="Arial"/>
              </a:rPr>
              <a:t>Kết luận + công bố giới hạn</a:t>
            </a:r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411480" y="4865388"/>
            <a:ext cx="71323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6B7C8F"/>
                </a:solidFill>
                <a:latin typeface="Arial"/>
              </a:rPr>
              <a:t>HỌC QPAN 3D  ·  Phần mềm hệ thống  ·  KHKT TP.HCM 2026–2027</a:t>
            </a: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6B7C8F"/>
                </a:solidFill>
                <a:latin typeface="Arial"/>
              </a:rPr>
              <a:t>PHỤ LỤC 1/4</a:t>
            </a:r>
          </a:p>
        </p:txBody>
      </p:sp>
    </p:spTree>
    <p:extLst>
      <p:ext uri="{BB962C8B-B14F-4D97-AF65-F5344CB8AC3E}">
        <p14:creationId xmlns:p14="http://schemas.microsoft.com/office/powerpoint/2010/main" val="846367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26257"/>
            <a:ext cx="82296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C0392B"/>
                </a:solidFill>
                <a:latin typeface="Arial"/>
              </a:rPr>
              <a:t>02</a:t>
            </a:r>
            <a:r>
              <a:rPr sz="1100" b="1">
                <a:solidFill>
                  <a:srgbClr val="C0392B"/>
                </a:solidFill>
                <a:latin typeface="Arial"/>
              </a:rPr>
              <a:t>  LƯU ĐỒ SẢN PHẨM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1628"/>
                </a:solidFill>
                <a:latin typeface="Arial"/>
              </a:rPr>
              <a:t>Người học đi từ chọn bài đến khảo sát trong một mạch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042415"/>
            <a:ext cx="512064" cy="4480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655064" y="1042415"/>
            <a:ext cx="6345936" cy="448056"/>
          </a:xfrm>
          <a:prstGeom prst="rect">
            <a:avLst/>
          </a:prstGeom>
          <a:solidFill>
            <a:srgbClr val="F0F3F6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1628"/>
                </a:solidFill>
                <a:latin typeface="Arial"/>
              </a:rPr>
              <a:t>Chọn khối / bài</a:t>
            </a:r>
          </a:p>
        </p:txBody>
      </p:sp>
      <p:sp>
        <p:nvSpPr>
          <p:cNvPr id="8" name="Down Arrow 7"/>
          <p:cNvSpPr/>
          <p:nvPr/>
        </p:nvSpPr>
        <p:spPr>
          <a:xfrm>
            <a:off x="4462272" y="1501444"/>
            <a:ext cx="219456" cy="86868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3000" y="1600200"/>
            <a:ext cx="512064" cy="4480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55064" y="1600200"/>
            <a:ext cx="6345936" cy="448056"/>
          </a:xfrm>
          <a:prstGeom prst="rect">
            <a:avLst/>
          </a:prstGeom>
          <a:solidFill>
            <a:srgbClr val="F6F8FA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1628"/>
                </a:solidFill>
                <a:latin typeface="Arial"/>
              </a:rPr>
              <a:t>Đọc lý thuyết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462272" y="2059228"/>
            <a:ext cx="219456" cy="86868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43000" y="2157984"/>
            <a:ext cx="512064" cy="4480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55064" y="2157984"/>
            <a:ext cx="6345936" cy="448056"/>
          </a:xfrm>
          <a:prstGeom prst="rect">
            <a:avLst/>
          </a:prstGeom>
          <a:solidFill>
            <a:srgbClr val="F0F3F6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1628"/>
                </a:solidFill>
                <a:latin typeface="Arial"/>
              </a:rPr>
              <a:t>Xem / thao tác 3D</a:t>
            </a:r>
            <a:r>
              <a:rPr sz="1300" b="0">
                <a:solidFill>
                  <a:srgbClr val="6B7C8F"/>
                </a:solidFill>
                <a:latin typeface="Arial"/>
              </a:rPr>
              <a:t>  ·  theo bước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462272" y="2617012"/>
            <a:ext cx="219456" cy="86868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43000" y="2715768"/>
            <a:ext cx="512064" cy="4480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55064" y="2715768"/>
            <a:ext cx="6345936" cy="448056"/>
          </a:xfrm>
          <a:prstGeom prst="rect">
            <a:avLst/>
          </a:prstGeom>
          <a:solidFill>
            <a:srgbClr val="F6F8FA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1628"/>
                </a:solidFill>
                <a:latin typeface="Arial"/>
              </a:rPr>
              <a:t>Luyện quiz · thi thử · Pose</a:t>
            </a:r>
            <a:r>
              <a:rPr sz="1300" b="0">
                <a:solidFill>
                  <a:srgbClr val="6B7C8F"/>
                </a:solidFill>
                <a:latin typeface="Arial"/>
              </a:rPr>
              <a:t>  ·  tuỳ chọn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4462272" y="3174796"/>
            <a:ext cx="219456" cy="86868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43000" y="3273552"/>
            <a:ext cx="512064" cy="4480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55064" y="3273552"/>
            <a:ext cx="6345936" cy="448056"/>
          </a:xfrm>
          <a:prstGeom prst="rect">
            <a:avLst/>
          </a:prstGeom>
          <a:solidFill>
            <a:srgbClr val="F0F3F6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1628"/>
                </a:solidFill>
                <a:latin typeface="Arial"/>
              </a:rPr>
              <a:t>Nhận phản hồi · XP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4462272" y="3732580"/>
            <a:ext cx="219456" cy="86868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43000" y="3831335"/>
            <a:ext cx="512064" cy="4480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55064" y="3831335"/>
            <a:ext cx="6345936" cy="448056"/>
          </a:xfrm>
          <a:prstGeom prst="rect">
            <a:avLst/>
          </a:prstGeom>
          <a:solidFill>
            <a:srgbClr val="0A1628"/>
          </a:solidFill>
          <a:ln w="1397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Khảo sát trải nghiệm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828032"/>
            <a:ext cx="7132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C8F"/>
                </a:solidFill>
                <a:latin typeface="Arial"/>
              </a:rPr>
              <a:t>HỌC QPAN 3D  ·  Phần mềm hệ thống  ·  KHKT TP.HCM 2026–2027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C8F"/>
                </a:solidFill>
                <a:latin typeface="Arial"/>
              </a:rPr>
              <a:t>PHỤ LỤC 2/4</a:t>
            </a:r>
          </a:p>
        </p:txBody>
      </p:sp>
    </p:spTree>
    <p:extLst>
      <p:ext uri="{BB962C8B-B14F-4D97-AF65-F5344CB8AC3E}">
        <p14:creationId xmlns:p14="http://schemas.microsoft.com/office/powerpoint/2010/main" val="1002483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8229600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vi-VN" sz="1100" b="1">
                <a:solidFill>
                  <a:srgbClr val="C0392B"/>
                </a:solidFill>
                <a:latin typeface="Arial"/>
              </a:rPr>
              <a:t>03  LƯU ĐỒ KỸ THUẬT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1628"/>
                </a:solidFill>
                <a:latin typeface="Arial"/>
              </a:rPr>
              <a:t>Pipeline 3D từ Blender đến tương tác trên web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261872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655064" y="1261872"/>
            <a:ext cx="6345936" cy="493776"/>
          </a:xfrm>
          <a:prstGeom prst="rect">
            <a:avLst/>
          </a:prstGeom>
          <a:solidFill>
            <a:srgbClr val="F0F3F6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/>
            <a:r>
              <a:rPr lang="en-US" sz="1400" b="1">
                <a:solidFill>
                  <a:srgbClr val="0A1628"/>
                </a:solidFill>
                <a:latin typeface="Arial"/>
              </a:rPr>
              <a:t>Blender</a:t>
            </a:r>
            <a:r>
              <a:rPr lang="en-US" sz="1300">
                <a:solidFill>
                  <a:srgbClr val="6B7C8F"/>
                </a:solidFill>
                <a:latin typeface="Arial"/>
              </a:rPr>
              <a:t>  ·  dựng hình</a:t>
            </a:r>
          </a:p>
        </p:txBody>
      </p:sp>
      <p:sp>
        <p:nvSpPr>
          <p:cNvPr id="8" name="Down Arrow 7"/>
          <p:cNvSpPr>
            <a:spLocks/>
          </p:cNvSpPr>
          <p:nvPr/>
        </p:nvSpPr>
        <p:spPr>
          <a:xfrm>
            <a:off x="4462272" y="1778507"/>
            <a:ext cx="219456" cy="109728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143000" y="1920239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55064" y="1920239"/>
            <a:ext cx="6345936" cy="493776"/>
          </a:xfrm>
          <a:prstGeom prst="rect">
            <a:avLst/>
          </a:prstGeom>
          <a:solidFill>
            <a:srgbClr val="F6F8FA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/>
            <a:r>
              <a:rPr lang="vi-VN" sz="1400" b="1">
                <a:solidFill>
                  <a:srgbClr val="0A1628"/>
                </a:solidFill>
                <a:latin typeface="Arial"/>
              </a:rPr>
              <a:t>Rig / clip</a:t>
            </a:r>
            <a:r>
              <a:rPr lang="vi-VN" sz="1300">
                <a:solidFill>
                  <a:srgbClr val="6B7C8F"/>
                </a:solidFill>
                <a:latin typeface="Arial"/>
              </a:rPr>
              <a:t>  ·  gắn xương · chuyển động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462272" y="2436875"/>
            <a:ext cx="219456" cy="109728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>
          <a:xfrm>
            <a:off x="1143000" y="2578608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55064" y="2578608"/>
            <a:ext cx="6345936" cy="493776"/>
          </a:xfrm>
          <a:prstGeom prst="rect">
            <a:avLst/>
          </a:prstGeom>
          <a:solidFill>
            <a:srgbClr val="F0F3F6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/>
            <a:r>
              <a:rPr lang="en-US" sz="1400" b="1">
                <a:solidFill>
                  <a:srgbClr val="0A1628"/>
                </a:solidFill>
                <a:latin typeface="Arial"/>
              </a:rPr>
              <a:t>Xuất GLB</a:t>
            </a:r>
            <a:r>
              <a:rPr lang="en-US" sz="1300">
                <a:solidFill>
                  <a:srgbClr val="6B7C8F"/>
                </a:solidFill>
                <a:latin typeface="Arial"/>
              </a:rPr>
              <a:t>  ·  đóng gói mô hình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462272" y="3095244"/>
            <a:ext cx="219456" cy="109728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43000" y="3236976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6" name="Rectangle 15"/>
          <p:cNvSpPr>
            <a:spLocks/>
          </p:cNvSpPr>
          <p:nvPr/>
        </p:nvSpPr>
        <p:spPr>
          <a:xfrm>
            <a:off x="1655064" y="3236976"/>
            <a:ext cx="6345936" cy="493776"/>
          </a:xfrm>
          <a:prstGeom prst="rect">
            <a:avLst/>
          </a:prstGeom>
          <a:solidFill>
            <a:srgbClr val="F6F8FA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/>
            <a:r>
              <a:rPr lang="en-US" sz="1400" b="1">
                <a:solidFill>
                  <a:srgbClr val="0A1628"/>
                </a:solidFill>
                <a:latin typeface="Arial"/>
              </a:rPr>
              <a:t>Nạp web</a:t>
            </a:r>
            <a:r>
              <a:rPr lang="en-US" sz="1300">
                <a:solidFill>
                  <a:srgbClr val="6B7C8F"/>
                </a:solidFill>
                <a:latin typeface="Arial"/>
              </a:rPr>
              <a:t>  ·  Three.js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4462272" y="3753612"/>
            <a:ext cx="219456" cy="109728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43000" y="3895344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55064" y="3895344"/>
            <a:ext cx="6345936" cy="493776"/>
          </a:xfrm>
          <a:prstGeom prst="rect">
            <a:avLst/>
          </a:prstGeom>
          <a:solidFill>
            <a:srgbClr val="0A1628"/>
          </a:solidFill>
          <a:ln w="1397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</a:rPr>
              <a:t>Điều khiển</a:t>
            </a:r>
            <a:r>
              <a:rPr lang="en-US" sz="1300">
                <a:solidFill>
                  <a:srgbClr val="BCC7D3"/>
                </a:solidFill>
                <a:latin typeface="Arial"/>
              </a:rPr>
              <a:t>  ·  camera / clip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865388"/>
            <a:ext cx="71323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6B7C8F"/>
                </a:solidFill>
                <a:latin typeface="Arial"/>
              </a:rPr>
              <a:t>HỌC QPAN 3D  ·  Phần mềm hệ thống  ·  KHKT TP.HCM 2026–2027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6B7C8F"/>
                </a:solidFill>
                <a:latin typeface="Arial"/>
              </a:rPr>
              <a:t>PHỤ LỤC 3/4</a:t>
            </a:r>
          </a:p>
        </p:txBody>
      </p:sp>
    </p:spTree>
    <p:extLst>
      <p:ext uri="{BB962C8B-B14F-4D97-AF65-F5344CB8AC3E}">
        <p14:creationId xmlns:p14="http://schemas.microsoft.com/office/powerpoint/2010/main" val="2072308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8048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8229600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392B"/>
                </a:solidFill>
                <a:latin typeface="Arial"/>
              </a:rPr>
              <a:t>04  LƯU ĐỒ KỸ THUẬT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1628"/>
                </a:solidFill>
                <a:latin typeface="Arial"/>
              </a:rPr>
              <a:t>Pipeline Pose từ camera đến góp ý theo rubric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261872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655064" y="1261872"/>
            <a:ext cx="6345936" cy="493776"/>
          </a:xfrm>
          <a:prstGeom prst="rect">
            <a:avLst/>
          </a:prstGeom>
          <a:solidFill>
            <a:srgbClr val="F0F3F6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Camera trình duyệt</a:t>
            </a:r>
            <a:r>
              <a:rPr sz="1300">
                <a:solidFill>
                  <a:srgbClr val="6B7C8F"/>
                </a:solidFill>
                <a:latin typeface="Arial"/>
              </a:rPr>
              <a:t>  ·  đầu vào trực tiếp</a:t>
            </a:r>
          </a:p>
        </p:txBody>
      </p:sp>
      <p:sp>
        <p:nvSpPr>
          <p:cNvPr id="8" name="Down Arrow 7"/>
          <p:cNvSpPr/>
          <p:nvPr/>
        </p:nvSpPr>
        <p:spPr>
          <a:xfrm>
            <a:off x="4462272" y="1778507"/>
            <a:ext cx="219456" cy="109728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3000" y="1920239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55064" y="1920239"/>
            <a:ext cx="6345936" cy="493776"/>
          </a:xfrm>
          <a:prstGeom prst="rect">
            <a:avLst/>
          </a:prstGeom>
          <a:solidFill>
            <a:srgbClr val="F6F8FA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MediaPipe</a:t>
            </a:r>
            <a:r>
              <a:rPr sz="1300">
                <a:solidFill>
                  <a:srgbClr val="6B7C8F"/>
                </a:solidFill>
                <a:latin typeface="Arial"/>
              </a:rPr>
              <a:t>  ·  33 mốc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462272" y="2436875"/>
            <a:ext cx="219456" cy="109728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43000" y="2578608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55064" y="2578608"/>
            <a:ext cx="6345936" cy="493776"/>
          </a:xfrm>
          <a:prstGeom prst="rect">
            <a:avLst/>
          </a:prstGeom>
          <a:solidFill>
            <a:srgbClr val="F0F3F6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Lọc chất lượng</a:t>
            </a:r>
            <a:r>
              <a:rPr sz="1300">
                <a:solidFill>
                  <a:srgbClr val="6B7C8F"/>
                </a:solidFill>
                <a:latin typeface="Arial"/>
              </a:rPr>
              <a:t>  ·  khung hình hợp lệ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462272" y="3095244"/>
            <a:ext cx="219456" cy="109728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43000" y="3236976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55064" y="3236976"/>
            <a:ext cx="6345936" cy="493776"/>
          </a:xfrm>
          <a:prstGeom prst="rect">
            <a:avLst/>
          </a:prstGeom>
          <a:solidFill>
            <a:srgbClr val="F6F8FA"/>
          </a:solidFill>
          <a:ln w="7620"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Rubric</a:t>
            </a:r>
            <a:r>
              <a:rPr sz="1300">
                <a:solidFill>
                  <a:srgbClr val="6B7C8F"/>
                </a:solidFill>
                <a:latin typeface="Arial"/>
              </a:rPr>
              <a:t>  ·  đối chiếu tiêu chí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4462272" y="3753612"/>
            <a:ext cx="219456" cy="109728"/>
          </a:xfrm>
          <a:prstGeom prst="downArrow">
            <a:avLst/>
          </a:prstGeom>
          <a:solidFill>
            <a:srgbClr val="1A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43000" y="3895344"/>
            <a:ext cx="512064" cy="4937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55064" y="3895344"/>
            <a:ext cx="6345936" cy="493776"/>
          </a:xfrm>
          <a:prstGeom prst="rect">
            <a:avLst/>
          </a:prstGeom>
          <a:solidFill>
            <a:srgbClr val="0A1628"/>
          </a:solidFill>
          <a:ln w="1397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64592" bIns="0"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Góp ý</a:t>
            </a:r>
            <a:r>
              <a:rPr sz="1300">
                <a:solidFill>
                  <a:srgbClr val="BCC7D3"/>
                </a:solidFill>
                <a:latin typeface="Arial"/>
              </a:rPr>
              <a:t>  ·  phản hồi cho người học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828032"/>
            <a:ext cx="7132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C8F"/>
                </a:solidFill>
                <a:latin typeface="Arial"/>
              </a:rPr>
              <a:t>HỌC QPAN 3D  ·  Phần mềm hệ thống  ·  KHKT TP.HCM 2026–2027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C8F"/>
                </a:solidFill>
                <a:latin typeface="Arial"/>
              </a:rPr>
              <a:t>PHỤ LỤC 4/4</a:t>
            </a:r>
          </a:p>
        </p:txBody>
      </p:sp>
    </p:spTree>
    <p:extLst>
      <p:ext uri="{BB962C8B-B14F-4D97-AF65-F5344CB8AC3E}">
        <p14:creationId xmlns:p14="http://schemas.microsoft.com/office/powerpoint/2010/main" val="3765070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1580</Words>
  <Application>Microsoft Office PowerPoint</Application>
  <PresentationFormat>On-screen Show (16:9)</PresentationFormat>
  <Paragraphs>314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Arial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HỌC QPAN 3D – KHKT TP.HCM 2026</dc:title>
  <dc:subject>Dự án kỹ thuật · Phần mềm hệ thống</dc:subject>
  <dc:creator>Lê Trọng Phúc · Nguyễn Anh Khôi</dc:creator>
  <cp:lastModifiedBy>Le Nghia</cp:lastModifiedBy>
  <cp:revision>9</cp:revision>
  <dcterms:created xsi:type="dcterms:W3CDTF">2026-09-30T03:09:21Z</dcterms:created>
  <dcterms:modified xsi:type="dcterms:W3CDTF">2026-09-30T09:16:51Z</dcterms:modified>
</cp:coreProperties>
</file>