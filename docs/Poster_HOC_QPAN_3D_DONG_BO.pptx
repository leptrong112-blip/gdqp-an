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6" r:id="rId2"/>
  </p:sldIdLst>
  <p:sldSz cx="8572500" cy="128587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66" y="-7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Điểm trung bình</c:v>
          </c:tx>
          <c:spPr>
            <a:solidFill>
              <a:srgbClr val="073A7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9AABC1"/>
              </a:solidFill>
              <a:ln w="9525">
                <a:solidFill>
                  <a:srgbClr val="9AABC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6378-4EB4-B736-D22661B643AE}"/>
              </c:ext>
            </c:extLst>
          </c:dPt>
          <c:dPt>
            <c:idx val="1"/>
            <c:invertIfNegative val="0"/>
            <c:bubble3D val="0"/>
            <c:spPr>
              <a:solidFill>
                <a:srgbClr val="D8192F"/>
              </a:solidFill>
              <a:ln w="9525">
                <a:solidFill>
                  <a:srgbClr val="D8192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6378-4EB4-B736-D22661B643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02A43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Trước</c:v>
              </c:pt>
              <c:pt idx="1">
                <c:v>Sau</c:v>
              </c:pt>
            </c:strLit>
          </c:cat>
          <c:val>
            <c:numLit>
              <c:formatCode>0.00</c:formatCode>
              <c:ptCount val="2"/>
              <c:pt idx="0">
                <c:v>2.69</c:v>
              </c:pt>
              <c:pt idx="1">
                <c:v>4.08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378-4EB4-B736-D22661B643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7F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D9E7F3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Báo cáo đề tài HỌC QPAN 3D cập nhật khảo sát và thống kê. Ảnh giao diện chụp từ https://gdqp-an.gdqp-3d.workers.dev/ ngày 21/09/2026. Ảnh minh họa khái niệm lấy từ bìa báo cáo và không phải ảnh chụp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0008721B-FD92-4C03-8322-8A8B364271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00" cy="552450"/>
          </a:xfrm>
          <a:prstGeom prst="rect">
            <a:avLst/>
          </a:prstGeom>
          <a:solidFill>
            <a:srgbClr val="052C5E"/>
          </a:solidFill>
          <a:ln w="0">
            <a:solidFill>
              <a:srgbClr val="052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C7D218-9842-4F5D-AFF3-B93F22B33D7C}"/>
              </a:ext>
            </a:extLst>
          </p:cNvPr>
          <p:cNvSpPr>
            <a:spLocks noGrp="1"/>
          </p:cNvSpPr>
          <p:nvPr/>
        </p:nvSpPr>
        <p:spPr>
          <a:xfrm>
            <a:off x="285750" y="762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PHỤ LỤC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F4A9D0-EAE7-4424-9871-AED26D235BC2}"/>
              </a:ext>
            </a:extLst>
          </p:cNvPr>
          <p:cNvSpPr>
            <a:spLocks noGrp="1"/>
          </p:cNvSpPr>
          <p:nvPr/>
        </p:nvSpPr>
        <p:spPr>
          <a:xfrm>
            <a:off x="5381625" y="76200"/>
            <a:ext cx="2905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MẪU POSTER ONLINE</a:t>
            </a:r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3"/>
          <a:srcRect l="9121" r="9121"/>
          <a:stretch>
            <a:fillRect/>
          </a:stretch>
        </p:blipFill>
        <p:spPr>
          <a:xfrm>
            <a:off x="6238875" y="704850"/>
            <a:ext cx="2047875" cy="1409700"/>
          </a:xfrm>
          <a:prstGeom prst="roundRect">
            <a:avLst>
              <a:gd name="adj" fmla="val 1081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EFE79D-4A0F-4BF3-98D8-2F0590EEF0FA}"/>
              </a:ext>
            </a:extLst>
          </p:cNvPr>
          <p:cNvSpPr>
            <a:spLocks noGrp="1"/>
          </p:cNvSpPr>
          <p:nvPr/>
        </p:nvSpPr>
        <p:spPr>
          <a:xfrm>
            <a:off x="6286500" y="2124075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 i="1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750" b="0" i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Ảnh minh họa khái niệm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D6AC4-9B4D-45CD-BCED-F22866ABE20D}"/>
              </a:ext>
            </a:extLst>
          </p:cNvPr>
          <p:cNvSpPr>
            <a:spLocks noGrp="1"/>
          </p:cNvSpPr>
          <p:nvPr/>
        </p:nvSpPr>
        <p:spPr>
          <a:xfrm>
            <a:off x="285750" y="685800"/>
            <a:ext cx="5810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ỨNG DỤNG TÁI TẠO 3D VÀ AI TẠO SINH</a:t>
            </a:r>
          </a:p>
          <a:p>
            <a:pPr algn="ctr">
              <a:lnSpc>
                <a:spcPct val="94000"/>
              </a:lnSpc>
              <a:buNone/>
              <a:def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XÂY DỰNG WEBSITE HỖ TRỢ HỌC TẬP</a:t>
            </a:r>
          </a:p>
          <a:p>
            <a:pPr algn="ctr">
              <a:lnSpc>
                <a:spcPct val="94000"/>
              </a:lnSpc>
              <a:buNone/>
              <a:def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LÝ THUYẾT VÀ THỰC HÀNH MÔN</a:t>
            </a:r>
          </a:p>
          <a:p>
            <a:pPr algn="ctr">
              <a:lnSpc>
                <a:spcPct val="94000"/>
              </a:lnSpc>
              <a:buNone/>
              <a:def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GIÁO DỤC QUỐC PHÒNG VÀ AN NINH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415061-A8F3-4831-A3CA-1E8DBDFF706C}"/>
              </a:ext>
            </a:extLst>
          </p:cNvPr>
          <p:cNvSpPr>
            <a:spLocks noGrp="1"/>
          </p:cNvSpPr>
          <p:nvPr/>
        </p:nvSpPr>
        <p:spPr>
          <a:xfrm>
            <a:off x="2857500" y="2057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MÃ SỐ: ........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F050AE-57CE-4A83-A025-C5CC823261DA}"/>
              </a:ext>
            </a:extLst>
          </p:cNvPr>
          <p:cNvSpPr>
            <a:spLocks noGrp="1"/>
          </p:cNvSpPr>
          <p:nvPr/>
        </p:nvSpPr>
        <p:spPr>
          <a:xfrm>
            <a:off x="333375" y="2381250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00" b="1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Lê </a:t>
            </a:r>
            <a:r>
              <a:rPr sz="1200" b="1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Trọng</a:t>
            </a:r>
            <a:r>
              <a:rPr sz="1200" b="1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Phúc - </a:t>
            </a:r>
            <a:r>
              <a:rPr sz="1200" b="1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Lớp</a:t>
            </a:r>
            <a:r>
              <a:rPr sz="1200" b="1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12C3</a:t>
            </a:r>
            <a:r>
              <a:rPr sz="1200" b="1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lang="en-US" sz="1200" b="1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Nguyễn Chí Toàn</a:t>
            </a:r>
            <a:r>
              <a:rPr sz="1200" b="1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1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- </a:t>
            </a:r>
            <a:r>
              <a:rPr sz="1200" b="1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Lớp</a:t>
            </a:r>
            <a:r>
              <a:rPr sz="1200" b="1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12C7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081B7D-992E-4AB6-91F7-49E3BD0146DE}"/>
              </a:ext>
            </a:extLst>
          </p:cNvPr>
          <p:cNvSpPr>
            <a:spLocks noGrp="1"/>
          </p:cNvSpPr>
          <p:nvPr/>
        </p:nvSpPr>
        <p:spPr>
          <a:xfrm>
            <a:off x="333375" y="264795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1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Trường TH</a:t>
            </a:r>
            <a:r>
              <a:rPr lang="en-US" sz="11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1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THCS-THPT Tân </a:t>
            </a:r>
            <a:r>
              <a:rPr sz="11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Phú</a:t>
            </a:r>
            <a:r>
              <a:rPr sz="11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, TP. </a:t>
            </a:r>
            <a:r>
              <a:rPr sz="11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Hồ</a:t>
            </a:r>
            <a:r>
              <a:rPr sz="11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 Chí Minh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50C35E-841B-4DBA-844E-D948FD95D6EA}"/>
              </a:ext>
            </a:extLst>
          </p:cNvPr>
          <p:cNvSpPr>
            <a:spLocks noGrp="1"/>
          </p:cNvSpPr>
          <p:nvPr/>
        </p:nvSpPr>
        <p:spPr>
          <a:xfrm>
            <a:off x="238125" y="3048000"/>
            <a:ext cx="3905250" cy="46291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8CB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E14C4C-77E4-4B74-B4BD-501842DA8121}"/>
              </a:ext>
            </a:extLst>
          </p:cNvPr>
          <p:cNvSpPr>
            <a:spLocks noGrp="1"/>
          </p:cNvSpPr>
          <p:nvPr/>
        </p:nvSpPr>
        <p:spPr>
          <a:xfrm>
            <a:off x="238125" y="3048000"/>
            <a:ext cx="3905250" cy="495300"/>
          </a:xfrm>
          <a:prstGeom prst="roundRect">
            <a:avLst>
              <a:gd name="adj" fmla="val 30769"/>
            </a:avLst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DDD24-F66F-4823-9DD2-F65437ABD091}"/>
              </a:ext>
            </a:extLst>
          </p:cNvPr>
          <p:cNvSpPr>
            <a:spLocks noGrp="1"/>
          </p:cNvSpPr>
          <p:nvPr/>
        </p:nvSpPr>
        <p:spPr>
          <a:xfrm>
            <a:off x="238125" y="3381375"/>
            <a:ext cx="3905250" cy="161925"/>
          </a:xfrm>
          <a:prstGeom prst="rect">
            <a:avLst/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4D6A30-3331-4888-A52D-6F0DDA3C8372}"/>
              </a:ext>
            </a:extLst>
          </p:cNvPr>
          <p:cNvSpPr>
            <a:spLocks noGrp="1"/>
          </p:cNvSpPr>
          <p:nvPr/>
        </p:nvSpPr>
        <p:spPr>
          <a:xfrm>
            <a:off x="371475" y="3124200"/>
            <a:ext cx="342900" cy="342900"/>
          </a:xfrm>
          <a:prstGeom prst="ellipse">
            <a:avLst/>
          </a:prstGeom>
          <a:solidFill>
            <a:srgbClr val="D819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B8E30-C06E-4BAC-852C-E068781AAB2A}"/>
              </a:ext>
            </a:extLst>
          </p:cNvPr>
          <p:cNvSpPr>
            <a:spLocks noGrp="1"/>
          </p:cNvSpPr>
          <p:nvPr/>
        </p:nvSpPr>
        <p:spPr>
          <a:xfrm>
            <a:off x="790575" y="3095625"/>
            <a:ext cx="325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47625" bIns="19050" anchor="ctr">
            <a:normAutofit fontScale="93137"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CÂU HỎI NGHIÊN CỨU - MỤC ĐÍCH NGHIÊN CỨU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FB8967-D681-4489-BF89-12363522622A}"/>
              </a:ext>
            </a:extLst>
          </p:cNvPr>
          <p:cNvSpPr>
            <a:spLocks noGrp="1"/>
          </p:cNvSpPr>
          <p:nvPr/>
        </p:nvSpPr>
        <p:spPr>
          <a:xfrm>
            <a:off x="4286250" y="3048000"/>
            <a:ext cx="4048125" cy="462915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4288">
            <a:solidFill>
              <a:srgbClr val="8CB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6B6806-D633-4DD0-97D4-8CC7266A74B1}"/>
              </a:ext>
            </a:extLst>
          </p:cNvPr>
          <p:cNvSpPr>
            <a:spLocks noGrp="1"/>
          </p:cNvSpPr>
          <p:nvPr/>
        </p:nvSpPr>
        <p:spPr>
          <a:xfrm>
            <a:off x="4286250" y="3048000"/>
            <a:ext cx="4048125" cy="495300"/>
          </a:xfrm>
          <a:prstGeom prst="roundRect">
            <a:avLst>
              <a:gd name="adj" fmla="val 30769"/>
            </a:avLst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49A24-2336-430D-96C0-D3C779CBDA6E}"/>
              </a:ext>
            </a:extLst>
          </p:cNvPr>
          <p:cNvSpPr>
            <a:spLocks noGrp="1"/>
          </p:cNvSpPr>
          <p:nvPr/>
        </p:nvSpPr>
        <p:spPr>
          <a:xfrm>
            <a:off x="4286250" y="3381375"/>
            <a:ext cx="4048125" cy="161925"/>
          </a:xfrm>
          <a:prstGeom prst="rect">
            <a:avLst/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186013-E49B-4277-9418-1233705716CC}"/>
              </a:ext>
            </a:extLst>
          </p:cNvPr>
          <p:cNvSpPr>
            <a:spLocks noGrp="1"/>
          </p:cNvSpPr>
          <p:nvPr/>
        </p:nvSpPr>
        <p:spPr>
          <a:xfrm>
            <a:off x="4419600" y="3124200"/>
            <a:ext cx="342900" cy="342900"/>
          </a:xfrm>
          <a:prstGeom prst="ellipse">
            <a:avLst/>
          </a:prstGeom>
          <a:solidFill>
            <a:srgbClr val="D819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DC494-5AB8-4237-AD53-F1AB69683A7D}"/>
              </a:ext>
            </a:extLst>
          </p:cNvPr>
          <p:cNvSpPr>
            <a:spLocks noGrp="1"/>
          </p:cNvSpPr>
          <p:nvPr/>
        </p:nvSpPr>
        <p:spPr>
          <a:xfrm>
            <a:off x="4838700" y="3095625"/>
            <a:ext cx="3400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47625" bIns="19050" anchor="ctr">
            <a:norm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DỮ LIỆU VÀ PHÂN TÍCH DỮ LIỆU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D6478D-079E-40E6-B804-E001E64192E6}"/>
              </a:ext>
            </a:extLst>
          </p:cNvPr>
          <p:cNvSpPr>
            <a:spLocks noGrp="1"/>
          </p:cNvSpPr>
          <p:nvPr/>
        </p:nvSpPr>
        <p:spPr>
          <a:xfrm>
            <a:off x="238125" y="7810500"/>
            <a:ext cx="3905250" cy="43243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8CB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5CB5240-A988-4E2A-ABE3-7A44193E1B18}"/>
              </a:ext>
            </a:extLst>
          </p:cNvPr>
          <p:cNvSpPr>
            <a:spLocks noGrp="1"/>
          </p:cNvSpPr>
          <p:nvPr/>
        </p:nvSpPr>
        <p:spPr>
          <a:xfrm>
            <a:off x="238125" y="7810500"/>
            <a:ext cx="3905250" cy="495300"/>
          </a:xfrm>
          <a:prstGeom prst="roundRect">
            <a:avLst>
              <a:gd name="adj" fmla="val 30769"/>
            </a:avLst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3CDA89-3C0A-4E4C-B038-02754E5089EE}"/>
              </a:ext>
            </a:extLst>
          </p:cNvPr>
          <p:cNvSpPr>
            <a:spLocks noGrp="1"/>
          </p:cNvSpPr>
          <p:nvPr/>
        </p:nvSpPr>
        <p:spPr>
          <a:xfrm>
            <a:off x="238125" y="8143875"/>
            <a:ext cx="3905250" cy="161925"/>
          </a:xfrm>
          <a:prstGeom prst="rect">
            <a:avLst/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C9F3C9-61D8-4638-9A41-61343BF968CA}"/>
              </a:ext>
            </a:extLst>
          </p:cNvPr>
          <p:cNvSpPr>
            <a:spLocks noGrp="1"/>
          </p:cNvSpPr>
          <p:nvPr/>
        </p:nvSpPr>
        <p:spPr>
          <a:xfrm>
            <a:off x="371475" y="7886700"/>
            <a:ext cx="342900" cy="342900"/>
          </a:xfrm>
          <a:prstGeom prst="ellipse">
            <a:avLst/>
          </a:prstGeom>
          <a:solidFill>
            <a:srgbClr val="D819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C5AB1E-C650-4641-8079-1384087D1C9B}"/>
              </a:ext>
            </a:extLst>
          </p:cNvPr>
          <p:cNvSpPr>
            <a:spLocks noGrp="1"/>
          </p:cNvSpPr>
          <p:nvPr/>
        </p:nvSpPr>
        <p:spPr>
          <a:xfrm>
            <a:off x="790575" y="7858125"/>
            <a:ext cx="325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47625" bIns="19050" anchor="ctr">
            <a:norm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PHƯƠNG PHÁP NGHIÊN CỨU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28EE31-EEFE-4D2F-B6C5-36791D3FEED3}"/>
              </a:ext>
            </a:extLst>
          </p:cNvPr>
          <p:cNvSpPr>
            <a:spLocks noGrp="1"/>
          </p:cNvSpPr>
          <p:nvPr/>
        </p:nvSpPr>
        <p:spPr>
          <a:xfrm>
            <a:off x="4286250" y="7810500"/>
            <a:ext cx="4048125" cy="432435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4288">
            <a:solidFill>
              <a:srgbClr val="8CB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7FD604-932E-411E-919D-CE7B74FE9276}"/>
              </a:ext>
            </a:extLst>
          </p:cNvPr>
          <p:cNvSpPr>
            <a:spLocks noGrp="1"/>
          </p:cNvSpPr>
          <p:nvPr/>
        </p:nvSpPr>
        <p:spPr>
          <a:xfrm>
            <a:off x="4286250" y="7810500"/>
            <a:ext cx="4048125" cy="495300"/>
          </a:xfrm>
          <a:prstGeom prst="roundRect">
            <a:avLst>
              <a:gd name="adj" fmla="val 30769"/>
            </a:avLst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B9121C-0E5E-4261-9C6F-B0A799DD0448}"/>
              </a:ext>
            </a:extLst>
          </p:cNvPr>
          <p:cNvSpPr>
            <a:spLocks noGrp="1"/>
          </p:cNvSpPr>
          <p:nvPr/>
        </p:nvSpPr>
        <p:spPr>
          <a:xfrm>
            <a:off x="4286250" y="8143875"/>
            <a:ext cx="4048125" cy="161925"/>
          </a:xfrm>
          <a:prstGeom prst="rect">
            <a:avLst/>
          </a:prstGeom>
          <a:solidFill>
            <a:srgbClr val="073A78"/>
          </a:solidFill>
          <a:ln w="0">
            <a:solidFill>
              <a:srgbClr val="073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51C988C-5A63-4297-9148-3E9F9513B988}"/>
              </a:ext>
            </a:extLst>
          </p:cNvPr>
          <p:cNvSpPr>
            <a:spLocks noGrp="1"/>
          </p:cNvSpPr>
          <p:nvPr/>
        </p:nvSpPr>
        <p:spPr>
          <a:xfrm>
            <a:off x="4419600" y="7886700"/>
            <a:ext cx="342900" cy="342900"/>
          </a:xfrm>
          <a:prstGeom prst="ellipse">
            <a:avLst/>
          </a:prstGeom>
          <a:solidFill>
            <a:srgbClr val="D819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824444-7BD4-42BC-BCCE-C5B1FD678962}"/>
              </a:ext>
            </a:extLst>
          </p:cNvPr>
          <p:cNvSpPr>
            <a:spLocks noGrp="1"/>
          </p:cNvSpPr>
          <p:nvPr/>
        </p:nvSpPr>
        <p:spPr>
          <a:xfrm>
            <a:off x="4838700" y="7858125"/>
            <a:ext cx="3400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47625" bIns="19050" anchor="ctr">
            <a:normAutofit fontScale="98958"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GIẢI THÍCH - KẾT LUẬN - TÍNH MỚI CỦA ĐỀ TÀI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D671CE6-0A27-44DC-AF9D-E71D62E9D935}"/>
              </a:ext>
            </a:extLst>
          </p:cNvPr>
          <p:cNvSpPr>
            <a:spLocks noGrp="1"/>
          </p:cNvSpPr>
          <p:nvPr/>
        </p:nvSpPr>
        <p:spPr>
          <a:xfrm>
            <a:off x="428625" y="3705225"/>
            <a:ext cx="323850" cy="323850"/>
          </a:xfrm>
          <a:prstGeom prst="ellipse">
            <a:avLst/>
          </a:prstGeom>
          <a:solidFill>
            <a:srgbClr val="EAF3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D5C73E-E11B-44CE-A7CE-474296E17495}"/>
              </a:ext>
            </a:extLst>
          </p:cNvPr>
          <p:cNvSpPr>
            <a:spLocks noGrp="1"/>
          </p:cNvSpPr>
          <p:nvPr/>
        </p:nvSpPr>
        <p:spPr>
          <a:xfrm>
            <a:off x="428625" y="37052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A3453E-662A-4396-B959-8EFDAA30EA40}"/>
              </a:ext>
            </a:extLst>
          </p:cNvPr>
          <p:cNvSpPr>
            <a:spLocks noGrp="1"/>
          </p:cNvSpPr>
          <p:nvPr/>
        </p:nvSpPr>
        <p:spPr>
          <a:xfrm>
            <a:off x="866775" y="3695700"/>
            <a:ext cx="3086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Có thể tích hợp học liệu, mô phỏng 3D, luyện tập và AI trên một website chạy trực tiếp trên trình duyệt?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789DBA12-EC09-4FC1-BA35-6EC0EA7EB426}"/>
              </a:ext>
            </a:extLst>
          </p:cNvPr>
          <p:cNvSpPr>
            <a:spLocks noGrp="1"/>
          </p:cNvSpPr>
          <p:nvPr/>
        </p:nvSpPr>
        <p:spPr>
          <a:xfrm>
            <a:off x="428625" y="4629150"/>
            <a:ext cx="352425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2A97087-9D3C-4654-A213-EE98A23B7609}"/>
              </a:ext>
            </a:extLst>
          </p:cNvPr>
          <p:cNvSpPr>
            <a:spLocks noGrp="1"/>
          </p:cNvSpPr>
          <p:nvPr/>
        </p:nvSpPr>
        <p:spPr>
          <a:xfrm>
            <a:off x="428625" y="4800600"/>
            <a:ext cx="323850" cy="323850"/>
          </a:xfrm>
          <a:prstGeom prst="ellipse">
            <a:avLst/>
          </a:prstGeom>
          <a:solidFill>
            <a:srgbClr val="FCE8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A84E9-85E8-4865-BB72-521316D6FB70}"/>
              </a:ext>
            </a:extLst>
          </p:cNvPr>
          <p:cNvSpPr>
            <a:spLocks noGrp="1"/>
          </p:cNvSpPr>
          <p:nvPr/>
        </p:nvSpPr>
        <p:spPr>
          <a:xfrm>
            <a:off x="428625" y="48006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B2C8F7-0F6C-4F83-A26A-CAEA5F9E0BA5}"/>
              </a:ext>
            </a:extLst>
          </p:cNvPr>
          <p:cNvSpPr>
            <a:spLocks noGrp="1"/>
          </p:cNvSpPr>
          <p:nvPr/>
        </p:nvSpPr>
        <p:spPr>
          <a:xfrm>
            <a:off x="866775" y="4791075"/>
            <a:ext cx="3086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3D đa góc và hoạt ảnh theo bước có hỗ trợ học sinh quan sát thao tác rõ hơn?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CF4B14AB-8FDF-4204-95ED-7B24895DC1B5}"/>
              </a:ext>
            </a:extLst>
          </p:cNvPr>
          <p:cNvSpPr>
            <a:spLocks noGrp="1"/>
          </p:cNvSpPr>
          <p:nvPr/>
        </p:nvSpPr>
        <p:spPr>
          <a:xfrm>
            <a:off x="428625" y="5657850"/>
            <a:ext cx="352425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C8374C9-EEBD-4BC4-8196-9886C2E85E15}"/>
              </a:ext>
            </a:extLst>
          </p:cNvPr>
          <p:cNvSpPr>
            <a:spLocks noGrp="1"/>
          </p:cNvSpPr>
          <p:nvPr/>
        </p:nvSpPr>
        <p:spPr>
          <a:xfrm>
            <a:off x="428625" y="5829300"/>
            <a:ext cx="323850" cy="323850"/>
          </a:xfrm>
          <a:prstGeom prst="ellipse">
            <a:avLst/>
          </a:prstGeom>
          <a:solidFill>
            <a:srgbClr val="EAF3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AFE2EB-E20B-4B75-B61B-D6DBA62805E6}"/>
              </a:ext>
            </a:extLst>
          </p:cNvPr>
          <p:cNvSpPr>
            <a:spLocks noGrp="1"/>
          </p:cNvSpPr>
          <p:nvPr/>
        </p:nvSpPr>
        <p:spPr>
          <a:xfrm>
            <a:off x="428625" y="5829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46D3B5-6237-4DC2-A721-B2726C7FA49C}"/>
              </a:ext>
            </a:extLst>
          </p:cNvPr>
          <p:cNvSpPr>
            <a:spLocks noGrp="1"/>
          </p:cNvSpPr>
          <p:nvPr/>
        </p:nvSpPr>
        <p:spPr>
          <a:xfrm>
            <a:off x="866775" y="5819775"/>
            <a:ext cx="3086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Xây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dựng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cổng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học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tập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thống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nhất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cho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lớp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10-12,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dễ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truy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cập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và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dùng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 an </a:t>
            </a:r>
            <a:r>
              <a:rPr sz="1275" b="0" i="0" dirty="0" err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toàn</a:t>
            </a:r>
            <a:r>
              <a:rPr sz="1275" b="0" i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7E2A3F2-3D29-4710-B8A7-77D148DB0869}"/>
              </a:ext>
            </a:extLst>
          </p:cNvPr>
          <p:cNvSpPr>
            <a:spLocks noGrp="1"/>
          </p:cNvSpPr>
          <p:nvPr/>
        </p:nvSpPr>
        <p:spPr>
          <a:xfrm>
            <a:off x="400050" y="6800850"/>
            <a:ext cx="3581400" cy="666750"/>
          </a:xfrm>
          <a:prstGeom prst="roundRect">
            <a:avLst>
              <a:gd name="adj" fmla="val 17143"/>
            </a:avLst>
          </a:prstGeom>
          <a:solidFill>
            <a:srgbClr val="EAF3FB"/>
          </a:solidFill>
          <a:ln w="9525">
            <a:solidFill>
              <a:srgbClr val="BFD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243DF5-3F0B-4E2F-9586-5F317EFD8556}"/>
              </a:ext>
            </a:extLst>
          </p:cNvPr>
          <p:cNvSpPr>
            <a:spLocks noGrp="1"/>
          </p:cNvSpPr>
          <p:nvPr/>
        </p:nvSpPr>
        <p:spPr>
          <a:xfrm>
            <a:off x="514350" y="6877050"/>
            <a:ext cx="3352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7778"/>
          </a:bodyPr>
          <a:lstStyle/>
          <a:p>
            <a:pPr algn="ctr">
              <a:defRPr sz="112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Trọng tâm nghiên cứu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E46492-40F9-4377-8C7F-7FFC1B39640D}"/>
              </a:ext>
            </a:extLst>
          </p:cNvPr>
          <p:cNvSpPr>
            <a:spLocks noGrp="1"/>
          </p:cNvSpPr>
          <p:nvPr/>
        </p:nvSpPr>
        <p:spPr>
          <a:xfrm>
            <a:off x="514350" y="7096125"/>
            <a:ext cx="335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71429"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Khả năng tích hợp kỹ thuật và tín hiệu cải thiện từ khảo sát trước-sau</a:t>
            </a:r>
          </a:p>
        </p:txBody>
      </p:sp>
      <p:pic>
        <p:nvPicPr>
          <p:cNvPr id="147" name="Picture 146"/>
          <p:cNvPicPr>
            <a:picLocks noChangeAspect="1"/>
          </p:cNvPicPr>
          <p:nvPr/>
        </p:nvPicPr>
        <p:blipFill>
          <a:blip r:embed="rId4"/>
          <a:srcRect l="33" r="33"/>
          <a:stretch>
            <a:fillRect/>
          </a:stretch>
        </p:blipFill>
        <p:spPr>
          <a:xfrm>
            <a:off x="4438650" y="3676650"/>
            <a:ext cx="1828800" cy="1257300"/>
          </a:xfrm>
          <a:prstGeom prst="roundRect">
            <a:avLst>
              <a:gd name="adj" fmla="val 7576"/>
            </a:avLst>
          </a:prstGeom>
        </p:spPr>
      </p:pic>
      <p:pic>
        <p:nvPicPr>
          <p:cNvPr id="148" name="Picture 147"/>
          <p:cNvPicPr>
            <a:picLocks noChangeAspect="1"/>
          </p:cNvPicPr>
          <p:nvPr/>
        </p:nvPicPr>
        <p:blipFill>
          <a:blip r:embed="rId5"/>
          <a:srcRect l="294" r="294"/>
          <a:stretch>
            <a:fillRect/>
          </a:stretch>
        </p:blipFill>
        <p:spPr>
          <a:xfrm>
            <a:off x="6362700" y="3676650"/>
            <a:ext cx="1819275" cy="1257300"/>
          </a:xfrm>
          <a:prstGeom prst="roundRect">
            <a:avLst>
              <a:gd name="adj" fmla="val 7576"/>
            </a:avLst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C90E4FF7-8153-44B7-B492-250BDDC73826}"/>
              </a:ext>
            </a:extLst>
          </p:cNvPr>
          <p:cNvSpPr>
            <a:spLocks noGrp="1"/>
          </p:cNvSpPr>
          <p:nvPr/>
        </p:nvSpPr>
        <p:spPr>
          <a:xfrm>
            <a:off x="4438650" y="4953000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750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Giao diện tổng quan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32DEB8-D65F-4242-8844-20FA49F37F3C}"/>
              </a:ext>
            </a:extLst>
          </p:cNvPr>
          <p:cNvSpPr>
            <a:spLocks noGrp="1"/>
          </p:cNvSpPr>
          <p:nvPr/>
        </p:nvSpPr>
        <p:spPr>
          <a:xfrm>
            <a:off x="6362700" y="4953000"/>
            <a:ext cx="1819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750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Phân bố câu trả lời</a:t>
            </a:r>
          </a:p>
        </p:txBody>
      </p:sp>
      <p:graphicFrame>
        <p:nvGraphicFramePr>
          <p:cNvPr id="151" name="Chart"/>
          <p:cNvGraphicFramePr/>
          <p:nvPr/>
        </p:nvGraphicFramePr>
        <p:xfrm>
          <a:off x="4438650" y="5267325"/>
          <a:ext cx="1762125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4CCC8922-B60C-483D-956D-773E77F182C0}"/>
              </a:ext>
            </a:extLst>
          </p:cNvPr>
          <p:cNvSpPr>
            <a:spLocks noGrp="1"/>
          </p:cNvSpPr>
          <p:nvPr/>
        </p:nvSpPr>
        <p:spPr>
          <a:xfrm>
            <a:off x="4457700" y="69246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Điểm trung bình / 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3DC24D-59EC-4E82-BE03-633EF13309F3}"/>
              </a:ext>
            </a:extLst>
          </p:cNvPr>
          <p:cNvSpPr>
            <a:spLocks noGrp="1"/>
          </p:cNvSpPr>
          <p:nvPr/>
        </p:nvSpPr>
        <p:spPr>
          <a:xfrm>
            <a:off x="6400800" y="5248275"/>
            <a:ext cx="70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10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47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330EF9-3E79-4D31-A03F-EB4DB171D796}"/>
              </a:ext>
            </a:extLst>
          </p:cNvPr>
          <p:cNvSpPr>
            <a:spLocks noGrp="1"/>
          </p:cNvSpPr>
          <p:nvPr/>
        </p:nvSpPr>
        <p:spPr>
          <a:xfrm>
            <a:off x="7105650" y="5248275"/>
            <a:ext cx="102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phản</a:t>
            </a:r>
            <a:r>
              <a:rPr sz="8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hồi</a:t>
            </a:r>
            <a:endParaRPr sz="825" b="0" i="0" dirty="0">
              <a:solidFill>
                <a:srgbClr val="526579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45 </a:t>
            </a:r>
            <a:r>
              <a:rPr sz="8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học</a:t>
            </a:r>
            <a:r>
              <a:rPr sz="8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sinh</a:t>
            </a:r>
            <a:r>
              <a:rPr sz="8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, 2 </a:t>
            </a:r>
            <a:r>
              <a:rPr sz="8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giáo</a:t>
            </a:r>
            <a:r>
              <a:rPr sz="825" b="0" i="0" dirty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i="0" dirty="0" err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viên</a:t>
            </a:r>
            <a:endParaRPr sz="825" b="0" i="0" dirty="0">
              <a:solidFill>
                <a:srgbClr val="52657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0309AAD1-F33C-4F5C-BB95-2D528D1F1DE0}"/>
              </a:ext>
            </a:extLst>
          </p:cNvPr>
          <p:cNvSpPr>
            <a:spLocks noGrp="1"/>
          </p:cNvSpPr>
          <p:nvPr/>
        </p:nvSpPr>
        <p:spPr>
          <a:xfrm>
            <a:off x="6381750" y="5753100"/>
            <a:ext cx="175260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49AFBF-7C80-4737-A45B-659B980BC825}"/>
              </a:ext>
            </a:extLst>
          </p:cNvPr>
          <p:cNvSpPr>
            <a:spLocks noGrp="1"/>
          </p:cNvSpPr>
          <p:nvPr/>
        </p:nvSpPr>
        <p:spPr>
          <a:xfrm>
            <a:off x="6400800" y="5829300"/>
            <a:ext cx="70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10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D7DCA6-86EC-42CC-A7E2-F46942ED0220}"/>
              </a:ext>
            </a:extLst>
          </p:cNvPr>
          <p:cNvSpPr>
            <a:spLocks noGrp="1"/>
          </p:cNvSpPr>
          <p:nvPr/>
        </p:nvSpPr>
        <p:spPr>
          <a:xfrm>
            <a:off x="7105650" y="5829300"/>
            <a:ext cx="102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cặp học sinh</a:t>
            </a:r>
          </a:p>
          <a:p>
            <a:pPr algn="l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trước-sau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7D33EE8B-FEC3-4AB1-A0B7-01123102DE81}"/>
              </a:ext>
            </a:extLst>
          </p:cNvPr>
          <p:cNvSpPr>
            <a:spLocks noGrp="1"/>
          </p:cNvSpPr>
          <p:nvPr/>
        </p:nvSpPr>
        <p:spPr>
          <a:xfrm>
            <a:off x="6381750" y="6334125"/>
            <a:ext cx="175260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F4C5B78-463D-43D8-8A99-58ADB25A398F}"/>
              </a:ext>
            </a:extLst>
          </p:cNvPr>
          <p:cNvSpPr>
            <a:spLocks noGrp="1"/>
          </p:cNvSpPr>
          <p:nvPr/>
        </p:nvSpPr>
        <p:spPr>
          <a:xfrm>
            <a:off x="6362700" y="641032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42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+51,7%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43E99B-0665-4092-94D2-545CA1D5F1A1}"/>
              </a:ext>
            </a:extLst>
          </p:cNvPr>
          <p:cNvSpPr>
            <a:spLocks noGrp="1"/>
          </p:cNvSpPr>
          <p:nvPr/>
        </p:nvSpPr>
        <p:spPr>
          <a:xfrm>
            <a:off x="7315200" y="6410325"/>
            <a:ext cx="81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0909"/>
          </a:bodyPr>
          <a:lstStyle/>
          <a:p>
            <a:pPr algn="l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mức tăng</a:t>
            </a:r>
          </a:p>
          <a:p>
            <a:pPr algn="l">
              <a:def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điểm trung bình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BA8696E-49E6-4752-BA60-2E0BCA08E684}"/>
              </a:ext>
            </a:extLst>
          </p:cNvPr>
          <p:cNvSpPr>
            <a:spLocks noGrp="1"/>
          </p:cNvSpPr>
          <p:nvPr/>
        </p:nvSpPr>
        <p:spPr>
          <a:xfrm>
            <a:off x="4438650" y="7191375"/>
            <a:ext cx="1790700" cy="323850"/>
          </a:xfrm>
          <a:prstGeom prst="roundRect">
            <a:avLst>
              <a:gd name="adj" fmla="val 29412"/>
            </a:avLst>
          </a:prstGeom>
          <a:solidFill>
            <a:srgbClr val="EAF3FB"/>
          </a:solidFill>
          <a:ln w="9525">
            <a:solidFill>
              <a:srgbClr val="BFD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EE8443-6D0C-4518-B85C-A744EB8C14E3}"/>
              </a:ext>
            </a:extLst>
          </p:cNvPr>
          <p:cNvSpPr>
            <a:spLocks noGrp="1"/>
          </p:cNvSpPr>
          <p:nvPr/>
        </p:nvSpPr>
        <p:spPr>
          <a:xfrm>
            <a:off x="4476750" y="7219950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9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75% đánh giá tích cực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CADCF7B-E921-4ADF-9E88-98E2016A58C9}"/>
              </a:ext>
            </a:extLst>
          </p:cNvPr>
          <p:cNvSpPr>
            <a:spLocks noGrp="1"/>
          </p:cNvSpPr>
          <p:nvPr/>
        </p:nvSpPr>
        <p:spPr>
          <a:xfrm>
            <a:off x="6343650" y="7191375"/>
            <a:ext cx="1828800" cy="323850"/>
          </a:xfrm>
          <a:prstGeom prst="roundRect">
            <a:avLst>
              <a:gd name="adj" fmla="val 29412"/>
            </a:avLst>
          </a:prstGeom>
          <a:solidFill>
            <a:srgbClr val="FCE8EC"/>
          </a:solidFill>
          <a:ln w="9525">
            <a:solidFill>
              <a:srgbClr val="F3B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472E965-866E-4CEF-97FF-DB271544692D}"/>
              </a:ext>
            </a:extLst>
          </p:cNvPr>
          <p:cNvSpPr>
            <a:spLocks noGrp="1"/>
          </p:cNvSpPr>
          <p:nvPr/>
        </p:nvSpPr>
        <p:spPr>
          <a:xfrm>
            <a:off x="6381750" y="7219950"/>
            <a:ext cx="1752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5581"/>
          </a:bodyPr>
          <a:lstStyle/>
          <a:p>
            <a:pPr algn="ctr">
              <a:defRPr sz="9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95% muốn tiếp tục sử dụng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845BD2E-4D44-4E98-928F-43C936EF8F11}"/>
              </a:ext>
            </a:extLst>
          </p:cNvPr>
          <p:cNvSpPr>
            <a:spLocks noGrp="1"/>
          </p:cNvSpPr>
          <p:nvPr/>
        </p:nvSpPr>
        <p:spPr>
          <a:xfrm>
            <a:off x="4476750" y="7524750"/>
            <a:ext cx="3667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0" i="1">
                <a:solidFill>
                  <a:srgbClr val="526579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1">
                <a:solidFill>
                  <a:srgbClr val="526579"/>
                </a:solidFill>
                <a:latin typeface="DejaVu Sans"/>
                <a:ea typeface="DejaVu Sans"/>
                <a:cs typeface="DejaVu Sans"/>
              </a:rPr>
              <a:t>Thống kê mô tả; chưa khẳng định quan hệ nhân quả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5121258-1483-425D-A848-C9923D0B0D3B}"/>
              </a:ext>
            </a:extLst>
          </p:cNvPr>
          <p:cNvSpPr>
            <a:spLocks noGrp="1"/>
          </p:cNvSpPr>
          <p:nvPr/>
        </p:nvSpPr>
        <p:spPr>
          <a:xfrm>
            <a:off x="428625" y="8477250"/>
            <a:ext cx="323850" cy="323850"/>
          </a:xfrm>
          <a:prstGeom prst="ellipse">
            <a:avLst/>
          </a:prstGeom>
          <a:solidFill>
            <a:srgbClr val="EAF3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3F26DE-838B-4B47-8BD7-E58D0EA51BBF}"/>
              </a:ext>
            </a:extLst>
          </p:cNvPr>
          <p:cNvSpPr>
            <a:spLocks noGrp="1"/>
          </p:cNvSpPr>
          <p:nvPr/>
        </p:nvSpPr>
        <p:spPr>
          <a:xfrm>
            <a:off x="428625" y="84772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D842F6-3143-4CB2-8673-CE4B4C811ED2}"/>
              </a:ext>
            </a:extLst>
          </p:cNvPr>
          <p:cNvSpPr>
            <a:spLocks noGrp="1"/>
          </p:cNvSpPr>
          <p:nvPr/>
        </p:nvSpPr>
        <p:spPr>
          <a:xfrm>
            <a:off x="866775" y="8467725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Phân tích chương trình GDQP-AN và nhu cầu quan sát thao tác.</a:t>
            </a:r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10D341DC-C140-4F5F-9169-877004916260}"/>
              </a:ext>
            </a:extLst>
          </p:cNvPr>
          <p:cNvSpPr>
            <a:spLocks noGrp="1"/>
          </p:cNvSpPr>
          <p:nvPr/>
        </p:nvSpPr>
        <p:spPr>
          <a:xfrm>
            <a:off x="428625" y="9067800"/>
            <a:ext cx="352425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147AE05-AE75-45F5-BAF5-DDDAC6AD5489}"/>
              </a:ext>
            </a:extLst>
          </p:cNvPr>
          <p:cNvSpPr>
            <a:spLocks noGrp="1"/>
          </p:cNvSpPr>
          <p:nvPr/>
        </p:nvSpPr>
        <p:spPr>
          <a:xfrm>
            <a:off x="428625" y="9220200"/>
            <a:ext cx="323850" cy="323850"/>
          </a:xfrm>
          <a:prstGeom prst="ellipse">
            <a:avLst/>
          </a:prstGeom>
          <a:solidFill>
            <a:srgbClr val="FCE8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419A62-0399-49A2-B4E4-9C88AD53D1D6}"/>
              </a:ext>
            </a:extLst>
          </p:cNvPr>
          <p:cNvSpPr>
            <a:spLocks noGrp="1"/>
          </p:cNvSpPr>
          <p:nvPr/>
        </p:nvSpPr>
        <p:spPr>
          <a:xfrm>
            <a:off x="428625" y="92202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FD6DF7-E6A1-46E9-986C-C648ABF320A8}"/>
              </a:ext>
            </a:extLst>
          </p:cNvPr>
          <p:cNvSpPr>
            <a:spLocks noGrp="1"/>
          </p:cNvSpPr>
          <p:nvPr/>
        </p:nvSpPr>
        <p:spPr>
          <a:xfrm>
            <a:off x="866775" y="9210675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Xây dựng website bằng React, TypeScript; mô phỏng GLB/Three.js.</a:t>
            </a:r>
          </a:p>
        </p:txBody>
      </p:sp>
      <p:sp>
        <p:nvSpPr>
          <p:cNvPr id="70" name="Straight Connector 69">
            <a:extLst>
              <a:ext uri="{FF2B5EF4-FFF2-40B4-BE49-F238E27FC236}">
                <a16:creationId xmlns:a16="http://schemas.microsoft.com/office/drawing/2014/main" id="{189B3748-9F49-47A7-8AF2-8A779B502F9B}"/>
              </a:ext>
            </a:extLst>
          </p:cNvPr>
          <p:cNvSpPr>
            <a:spLocks noGrp="1"/>
          </p:cNvSpPr>
          <p:nvPr/>
        </p:nvSpPr>
        <p:spPr>
          <a:xfrm>
            <a:off x="428625" y="9810750"/>
            <a:ext cx="352425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5C3B1B0-A177-49C7-BAB5-FC43ACA2E324}"/>
              </a:ext>
            </a:extLst>
          </p:cNvPr>
          <p:cNvSpPr>
            <a:spLocks noGrp="1"/>
          </p:cNvSpPr>
          <p:nvPr/>
        </p:nvSpPr>
        <p:spPr>
          <a:xfrm>
            <a:off x="428625" y="9963150"/>
            <a:ext cx="323850" cy="323850"/>
          </a:xfrm>
          <a:prstGeom prst="ellipse">
            <a:avLst/>
          </a:prstGeom>
          <a:solidFill>
            <a:srgbClr val="EAF3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14ACD13-4C0A-46E2-AE10-7081FF6E39C4}"/>
              </a:ext>
            </a:extLst>
          </p:cNvPr>
          <p:cNvSpPr>
            <a:spLocks noGrp="1"/>
          </p:cNvSpPr>
          <p:nvPr/>
        </p:nvSpPr>
        <p:spPr>
          <a:xfrm>
            <a:off x="428625" y="99631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4B4187B-BFCF-4A8E-BD6A-B3CCEBE363D7}"/>
              </a:ext>
            </a:extLst>
          </p:cNvPr>
          <p:cNvSpPr>
            <a:spLocks noGrp="1"/>
          </p:cNvSpPr>
          <p:nvPr/>
        </p:nvSpPr>
        <p:spPr>
          <a:xfrm>
            <a:off x="866775" y="9953625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13 phân hệ kỹ thuật; type-check và 136/136 test đạt.</a:t>
            </a:r>
            <a:endParaRPr sz="1275" b="0" i="0">
              <a:solidFill>
                <a:srgbClr val="102A4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4" name="Straight Connector 73">
            <a:extLst>
              <a:ext uri="{FF2B5EF4-FFF2-40B4-BE49-F238E27FC236}">
                <a16:creationId xmlns:a16="http://schemas.microsoft.com/office/drawing/2014/main" id="{A9895C7A-B9ED-42AE-BDF0-1A2CEFAAD25B}"/>
              </a:ext>
            </a:extLst>
          </p:cNvPr>
          <p:cNvSpPr>
            <a:spLocks noGrp="1"/>
          </p:cNvSpPr>
          <p:nvPr/>
        </p:nvSpPr>
        <p:spPr>
          <a:xfrm>
            <a:off x="428625" y="10553700"/>
            <a:ext cx="3524250" cy="0"/>
          </a:xfrm>
          <a:prstGeom prst="line">
            <a:avLst/>
          </a:prstGeom>
          <a:noFill/>
          <a:ln w="9525">
            <a:solidFill>
              <a:srgbClr val="D9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21F6C1F-DEA7-4E60-83A1-97D93E279E20}"/>
              </a:ext>
            </a:extLst>
          </p:cNvPr>
          <p:cNvSpPr>
            <a:spLocks noGrp="1"/>
          </p:cNvSpPr>
          <p:nvPr/>
        </p:nvSpPr>
        <p:spPr>
          <a:xfrm>
            <a:off x="428625" y="10706100"/>
            <a:ext cx="323850" cy="323850"/>
          </a:xfrm>
          <a:prstGeom prst="ellipse">
            <a:avLst/>
          </a:prstGeom>
          <a:solidFill>
            <a:srgbClr val="FCE8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57AEBBA-87FD-4A66-84A6-09363E72712B}"/>
              </a:ext>
            </a:extLst>
          </p:cNvPr>
          <p:cNvSpPr>
            <a:spLocks noGrp="1"/>
          </p:cNvSpPr>
          <p:nvPr/>
        </p:nvSpPr>
        <p:spPr>
          <a:xfrm>
            <a:off x="428625" y="1070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1A03CF-1999-41F0-9A42-CF1254A38CA6}"/>
              </a:ext>
            </a:extLst>
          </p:cNvPr>
          <p:cNvSpPr>
            <a:spLocks noGrp="1"/>
          </p:cNvSpPr>
          <p:nvPr/>
        </p:nvSpPr>
        <p:spPr>
          <a:xfrm>
            <a:off x="866775" y="10696575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28575" bIns="19050" anchor="ctr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Khảo sát trước-sau theo thang Likert 5 mức, ghép cặp cùng người.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A0C2211-572A-4A79-85B2-605E06551965}"/>
              </a:ext>
            </a:extLst>
          </p:cNvPr>
          <p:cNvSpPr>
            <a:spLocks noGrp="1"/>
          </p:cNvSpPr>
          <p:nvPr/>
        </p:nvSpPr>
        <p:spPr>
          <a:xfrm>
            <a:off x="400050" y="11534775"/>
            <a:ext cx="571500" cy="323850"/>
          </a:xfrm>
          <a:prstGeom prst="roundRect">
            <a:avLst>
              <a:gd name="adj" fmla="val 23529"/>
            </a:avLst>
          </a:prstGeom>
          <a:solidFill>
            <a:srgbClr val="FCE8EC"/>
          </a:solidFill>
          <a:ln w="9525">
            <a:solidFill>
              <a:srgbClr val="F3B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5B58CD2-4E68-48D7-9743-F35BF3D099D8}"/>
              </a:ext>
            </a:extLst>
          </p:cNvPr>
          <p:cNvSpPr>
            <a:spLocks noGrp="1"/>
          </p:cNvSpPr>
          <p:nvPr/>
        </p:nvSpPr>
        <p:spPr>
          <a:xfrm>
            <a:off x="419100" y="115633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defRPr sz="6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Phân tích</a:t>
            </a:r>
          </a:p>
        </p:txBody>
      </p:sp>
      <p:sp>
        <p:nvSpPr>
          <p:cNvPr id="80" name="Straight Connector 79">
            <a:extLst>
              <a:ext uri="{FF2B5EF4-FFF2-40B4-BE49-F238E27FC236}">
                <a16:creationId xmlns:a16="http://schemas.microsoft.com/office/drawing/2014/main" id="{183FAF68-71E1-46AF-94C3-552322E87F9D}"/>
              </a:ext>
            </a:extLst>
          </p:cNvPr>
          <p:cNvSpPr>
            <a:spLocks noGrp="1"/>
          </p:cNvSpPr>
          <p:nvPr/>
        </p:nvSpPr>
        <p:spPr>
          <a:xfrm>
            <a:off x="971550" y="11696700"/>
            <a:ext cx="133350" cy="0"/>
          </a:xfrm>
          <a:prstGeom prst="line">
            <a:avLst/>
          </a:prstGeom>
          <a:noFill/>
          <a:ln w="14288">
            <a:solidFill>
              <a:srgbClr val="8CB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8541CA6-206D-4714-BE4A-AD54ACB51F1B}"/>
              </a:ext>
            </a:extLst>
          </p:cNvPr>
          <p:cNvSpPr>
            <a:spLocks noGrp="1"/>
          </p:cNvSpPr>
          <p:nvPr/>
        </p:nvSpPr>
        <p:spPr>
          <a:xfrm>
            <a:off x="1104900" y="11534775"/>
            <a:ext cx="571500" cy="323850"/>
          </a:xfrm>
          <a:prstGeom prst="roundRect">
            <a:avLst>
              <a:gd name="adj" fmla="val 23529"/>
            </a:avLst>
          </a:prstGeom>
          <a:solidFill>
            <a:srgbClr val="EAF3FB"/>
          </a:solidFill>
          <a:ln w="9525">
            <a:solidFill>
              <a:srgbClr val="BFD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ABB920-610D-4280-B695-AEB312A52640}"/>
              </a:ext>
            </a:extLst>
          </p:cNvPr>
          <p:cNvSpPr>
            <a:spLocks noGrp="1"/>
          </p:cNvSpPr>
          <p:nvPr/>
        </p:nvSpPr>
        <p:spPr>
          <a:xfrm>
            <a:off x="1123950" y="115633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def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Website</a:t>
            </a:r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4EF83BEA-8030-43BD-9658-F249DF516B54}"/>
              </a:ext>
            </a:extLst>
          </p:cNvPr>
          <p:cNvSpPr>
            <a:spLocks noGrp="1"/>
          </p:cNvSpPr>
          <p:nvPr/>
        </p:nvSpPr>
        <p:spPr>
          <a:xfrm>
            <a:off x="1676400" y="11696700"/>
            <a:ext cx="133350" cy="0"/>
          </a:xfrm>
          <a:prstGeom prst="line">
            <a:avLst/>
          </a:prstGeom>
          <a:noFill/>
          <a:ln w="14288">
            <a:solidFill>
              <a:srgbClr val="8CB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83D0F1C-6D6E-4A5D-82DB-20A841A772FA}"/>
              </a:ext>
            </a:extLst>
          </p:cNvPr>
          <p:cNvSpPr>
            <a:spLocks noGrp="1"/>
          </p:cNvSpPr>
          <p:nvPr/>
        </p:nvSpPr>
        <p:spPr>
          <a:xfrm>
            <a:off x="1809750" y="11534775"/>
            <a:ext cx="571500" cy="323850"/>
          </a:xfrm>
          <a:prstGeom prst="roundRect">
            <a:avLst>
              <a:gd name="adj" fmla="val 23529"/>
            </a:avLst>
          </a:prstGeom>
          <a:solidFill>
            <a:srgbClr val="FCE8EC"/>
          </a:solidFill>
          <a:ln w="9525">
            <a:solidFill>
              <a:srgbClr val="F3B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DE19DA5-9959-4E8A-8F16-E040BD5A319B}"/>
              </a:ext>
            </a:extLst>
          </p:cNvPr>
          <p:cNvSpPr>
            <a:spLocks noGrp="1"/>
          </p:cNvSpPr>
          <p:nvPr/>
        </p:nvSpPr>
        <p:spPr>
          <a:xfrm>
            <a:off x="1828800" y="115633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defRPr sz="6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Mô phỏng 3D</a:t>
            </a:r>
          </a:p>
        </p:txBody>
      </p:sp>
      <p:sp>
        <p:nvSpPr>
          <p:cNvPr id="86" name="Straight Connector 85">
            <a:extLst>
              <a:ext uri="{FF2B5EF4-FFF2-40B4-BE49-F238E27FC236}">
                <a16:creationId xmlns:a16="http://schemas.microsoft.com/office/drawing/2014/main" id="{C419A6BF-9D69-4BE0-8277-27D5DD7D0F03}"/>
              </a:ext>
            </a:extLst>
          </p:cNvPr>
          <p:cNvSpPr>
            <a:spLocks noGrp="1"/>
          </p:cNvSpPr>
          <p:nvPr/>
        </p:nvSpPr>
        <p:spPr>
          <a:xfrm>
            <a:off x="2381250" y="11696700"/>
            <a:ext cx="133350" cy="0"/>
          </a:xfrm>
          <a:prstGeom prst="line">
            <a:avLst/>
          </a:prstGeom>
          <a:noFill/>
          <a:ln w="14288">
            <a:solidFill>
              <a:srgbClr val="8CB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2690807-DE66-4417-B0D6-5ADC16920A52}"/>
              </a:ext>
            </a:extLst>
          </p:cNvPr>
          <p:cNvSpPr>
            <a:spLocks noGrp="1"/>
          </p:cNvSpPr>
          <p:nvPr/>
        </p:nvSpPr>
        <p:spPr>
          <a:xfrm>
            <a:off x="2514600" y="11534775"/>
            <a:ext cx="571500" cy="323850"/>
          </a:xfrm>
          <a:prstGeom prst="roundRect">
            <a:avLst>
              <a:gd name="adj" fmla="val 23529"/>
            </a:avLst>
          </a:prstGeom>
          <a:solidFill>
            <a:srgbClr val="EAF3FB"/>
          </a:solidFill>
          <a:ln w="9525">
            <a:solidFill>
              <a:srgbClr val="BFD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384648B-5EB6-4C6D-9A41-4BAC751FA3D9}"/>
              </a:ext>
            </a:extLst>
          </p:cNvPr>
          <p:cNvSpPr>
            <a:spLocks noGrp="1"/>
          </p:cNvSpPr>
          <p:nvPr/>
        </p:nvSpPr>
        <p:spPr>
          <a:xfrm>
            <a:off x="2533650" y="115633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def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Kiểm thử</a:t>
            </a:r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1A0469BF-2CAF-49E0-A115-FCAB14B47904}"/>
              </a:ext>
            </a:extLst>
          </p:cNvPr>
          <p:cNvSpPr>
            <a:spLocks noGrp="1"/>
          </p:cNvSpPr>
          <p:nvPr/>
        </p:nvSpPr>
        <p:spPr>
          <a:xfrm>
            <a:off x="3086100" y="11696700"/>
            <a:ext cx="133350" cy="0"/>
          </a:xfrm>
          <a:prstGeom prst="line">
            <a:avLst/>
          </a:prstGeom>
          <a:noFill/>
          <a:ln w="14288">
            <a:solidFill>
              <a:srgbClr val="8CB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C4BFA05-72E0-462C-941C-014516A6B686}"/>
              </a:ext>
            </a:extLst>
          </p:cNvPr>
          <p:cNvSpPr>
            <a:spLocks noGrp="1"/>
          </p:cNvSpPr>
          <p:nvPr/>
        </p:nvSpPr>
        <p:spPr>
          <a:xfrm>
            <a:off x="3219450" y="11534775"/>
            <a:ext cx="571500" cy="323850"/>
          </a:xfrm>
          <a:prstGeom prst="roundRect">
            <a:avLst>
              <a:gd name="adj" fmla="val 23529"/>
            </a:avLst>
          </a:prstGeom>
          <a:solidFill>
            <a:srgbClr val="FCE8EC"/>
          </a:solidFill>
          <a:ln w="9525">
            <a:solidFill>
              <a:srgbClr val="F3B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BC1C4A1-3A2C-469F-8227-2BBE597826A5}"/>
              </a:ext>
            </a:extLst>
          </p:cNvPr>
          <p:cNvSpPr>
            <a:spLocks noGrp="1"/>
          </p:cNvSpPr>
          <p:nvPr/>
        </p:nvSpPr>
        <p:spPr>
          <a:xfrm>
            <a:off x="3238500" y="115633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defRPr sz="6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D8192F"/>
                </a:solidFill>
                <a:latin typeface="DejaVu Sans"/>
                <a:ea typeface="DejaVu Sans"/>
                <a:cs typeface="DejaVu Sans"/>
              </a:rPr>
              <a:t>Khảo sát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19DDDD4-6FE0-4799-8754-B8D84EE869E1}"/>
              </a:ext>
            </a:extLst>
          </p:cNvPr>
          <p:cNvSpPr>
            <a:spLocks noGrp="1"/>
          </p:cNvSpPr>
          <p:nvPr/>
        </p:nvSpPr>
        <p:spPr>
          <a:xfrm>
            <a:off x="4457700" y="8429625"/>
            <a:ext cx="3705225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9632"/>
          </a:bodyPr>
          <a:lstStyle/>
          <a:p>
            <a:pPr algn="l">
              <a:def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1  Tích hợp: </a:t>
            </a:r>
            <a:r>
              <a: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Học liệu, 3D/WebAR, trường bắn, bản đồ, AI và khảo sát trong một cổng web.</a:t>
            </a:r>
          </a:p>
          <a:p>
            <a:pPr algn="l">
              <a:def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2  Tính mới: </a:t>
            </a:r>
            <a:r>
              <a: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Điều khiển hoạt ảnh GLB theo từng bước, chọn chi tiết và tập trung camera.</a:t>
            </a:r>
          </a:p>
          <a:p>
            <a:pPr algn="l">
              <a:def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3  Kết quả bước đầu: </a:t>
            </a:r>
            <a:r>
              <a: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Hiểu và ghi nhớ, trực quan hóa, hứng thú và tự ôn tập đều tăng trong nhóm ghép cặp.</a:t>
            </a:r>
          </a:p>
          <a:p>
            <a:pPr algn="l">
              <a:def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4  Hạn chế: </a:t>
            </a:r>
            <a:r>
              <a:rPr sz="1275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Nghiên cứu chưa có nhóm đối chứng; mẫu giáo viên còn nhỏ.</a:t>
            </a:r>
          </a:p>
        </p:txBody>
      </p:sp>
      <p:pic>
        <p:nvPicPr>
          <p:cNvPr id="196" name="Picture 195"/>
          <p:cNvPicPr>
            <a:picLocks noChangeAspect="1"/>
          </p:cNvPicPr>
          <p:nvPr/>
        </p:nvPicPr>
        <p:blipFill>
          <a:blip r:embed="rId7"/>
          <a:srcRect t="9894" b="9894"/>
          <a:stretch>
            <a:fillRect/>
          </a:stretch>
        </p:blipFill>
        <p:spPr>
          <a:xfrm>
            <a:off x="4457700" y="10639425"/>
            <a:ext cx="1143000" cy="838200"/>
          </a:xfrm>
          <a:prstGeom prst="roundRect">
            <a:avLst>
              <a:gd name="adj" fmla="val 10227"/>
            </a:avLst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A5FBF1A3-ED98-4137-88D4-1C88B38FC52B}"/>
              </a:ext>
            </a:extLst>
          </p:cNvPr>
          <p:cNvSpPr>
            <a:spLocks noGrp="1"/>
          </p:cNvSpPr>
          <p:nvPr/>
        </p:nvSpPr>
        <p:spPr>
          <a:xfrm>
            <a:off x="4457700" y="114966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Thao trường 3D</a:t>
            </a:r>
          </a:p>
        </p:txBody>
      </p:sp>
      <p:pic>
        <p:nvPicPr>
          <p:cNvPr id="198" name="Picture 197"/>
          <p:cNvPicPr>
            <a:picLocks noChangeAspect="1"/>
          </p:cNvPicPr>
          <p:nvPr/>
        </p:nvPicPr>
        <p:blipFill>
          <a:blip r:embed="rId8"/>
          <a:srcRect t="9894" b="9894"/>
          <a:stretch>
            <a:fillRect/>
          </a:stretch>
        </p:blipFill>
        <p:spPr>
          <a:xfrm>
            <a:off x="5695950" y="10639425"/>
            <a:ext cx="1143000" cy="838200"/>
          </a:xfrm>
          <a:prstGeom prst="roundRect">
            <a:avLst>
              <a:gd name="adj" fmla="val 10227"/>
            </a:avLst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29B23ED7-F165-464A-A99E-CCEC027B1870}"/>
              </a:ext>
            </a:extLst>
          </p:cNvPr>
          <p:cNvSpPr>
            <a:spLocks noGrp="1"/>
          </p:cNvSpPr>
          <p:nvPr/>
        </p:nvSpPr>
        <p:spPr>
          <a:xfrm>
            <a:off x="5695950" y="114966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Vận động 3D</a:t>
            </a:r>
          </a:p>
        </p:txBody>
      </p:sp>
      <p:pic>
        <p:nvPicPr>
          <p:cNvPr id="200" name="Picture 199"/>
          <p:cNvPicPr>
            <a:picLocks noChangeAspect="1"/>
          </p:cNvPicPr>
          <p:nvPr/>
        </p:nvPicPr>
        <p:blipFill>
          <a:blip r:embed="rId9"/>
          <a:srcRect t="9856" b="9856"/>
          <a:stretch>
            <a:fillRect/>
          </a:stretch>
        </p:blipFill>
        <p:spPr>
          <a:xfrm>
            <a:off x="6934200" y="10639425"/>
            <a:ext cx="1143000" cy="838200"/>
          </a:xfrm>
          <a:prstGeom prst="roundRect">
            <a:avLst>
              <a:gd name="adj" fmla="val 10227"/>
            </a:avLst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E643C4E6-B4AB-4693-8A53-7C3DAAD8474C}"/>
              </a:ext>
            </a:extLst>
          </p:cNvPr>
          <p:cNvSpPr>
            <a:spLocks noGrp="1"/>
          </p:cNvSpPr>
          <p:nvPr/>
        </p:nvSpPr>
        <p:spPr>
          <a:xfrm>
            <a:off x="6934200" y="114966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675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Tháo lắp AK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45114F56-857F-4736-9230-CA08AB53E440}"/>
              </a:ext>
            </a:extLst>
          </p:cNvPr>
          <p:cNvSpPr>
            <a:spLocks noGrp="1"/>
          </p:cNvSpPr>
          <p:nvPr/>
        </p:nvSpPr>
        <p:spPr>
          <a:xfrm>
            <a:off x="4457700" y="11811000"/>
            <a:ext cx="3705225" cy="190500"/>
          </a:xfrm>
          <a:prstGeom prst="roundRect">
            <a:avLst>
              <a:gd name="adj" fmla="val 40000"/>
            </a:avLst>
          </a:prstGeom>
          <a:solidFill>
            <a:srgbClr val="EAF3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B90EE07-A105-4822-AAB0-281F76A32F5D}"/>
              </a:ext>
            </a:extLst>
          </p:cNvPr>
          <p:cNvSpPr>
            <a:spLocks noGrp="1"/>
          </p:cNvSpPr>
          <p:nvPr/>
        </p:nvSpPr>
        <p:spPr>
          <a:xfrm>
            <a:off x="4495800" y="11811000"/>
            <a:ext cx="36290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" tIns="0" rIns="9525" bIns="0" anchor="ctr">
            <a:normAutofit fontScale="87335"/>
          </a:bodyPr>
          <a:lstStyle/>
          <a:p>
            <a:pPr algn="ctr">
              <a:defRPr sz="75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 i="0">
                <a:solidFill>
                  <a:srgbClr val="073A78"/>
                </a:solidFill>
                <a:latin typeface="DejaVu Sans"/>
                <a:ea typeface="DejaVu Sans"/>
                <a:cs typeface="DejaVu Sans"/>
              </a:rPr>
              <a:t>Kết luận: sản phẩm khả thi về kỹ thuật và cần mở rộng thực nghiệm sư phạm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6A21BF8-5684-444D-9BC8-14458ABB1276}"/>
              </a:ext>
            </a:extLst>
          </p:cNvPr>
          <p:cNvSpPr>
            <a:spLocks noGrp="1"/>
          </p:cNvSpPr>
          <p:nvPr/>
        </p:nvSpPr>
        <p:spPr>
          <a:xfrm>
            <a:off x="0" y="12249150"/>
            <a:ext cx="8572500" cy="609600"/>
          </a:xfrm>
          <a:prstGeom prst="rect">
            <a:avLst/>
          </a:prstGeom>
          <a:solidFill>
            <a:srgbClr val="052C5E"/>
          </a:solidFill>
          <a:ln w="0">
            <a:solidFill>
              <a:srgbClr val="052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BF1A5B3-1453-4F01-9075-2B974F5698DF}"/>
              </a:ext>
            </a:extLst>
          </p:cNvPr>
          <p:cNvSpPr>
            <a:spLocks noGrp="1"/>
          </p:cNvSpPr>
          <p:nvPr/>
        </p:nvSpPr>
        <p:spPr>
          <a:xfrm>
            <a:off x="285750" y="12334875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4444"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Website: https://gdqp-an.gdqp-3d.workers.dev/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54F19CF-D3EF-4AF1-9F41-EC4158F9C494}"/>
              </a:ext>
            </a:extLst>
          </p:cNvPr>
          <p:cNvSpPr>
            <a:spLocks noGrp="1"/>
          </p:cNvSpPr>
          <p:nvPr/>
        </p:nvSpPr>
        <p:spPr>
          <a:xfrm>
            <a:off x="285750" y="12582525"/>
            <a:ext cx="8001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675" b="0" i="0">
                <a:solidFill>
                  <a:srgbClr val="D8E7F7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D8E7F7"/>
                </a:solidFill>
                <a:latin typeface="DejaVu Sans"/>
                <a:ea typeface="DejaVu Sans"/>
                <a:cs typeface="DejaVu Sans"/>
              </a:rPr>
              <a:t>Ảnh khảo sát: giao diện website thực tế ngày 21/09/2026</a:t>
            </a:r>
          </a:p>
        </p:txBody>
      </p:sp>
    </p:spTree>
    <p:extLst>
      <p:ext uri="{BB962C8B-B14F-4D97-AF65-F5344CB8AC3E}">
        <p14:creationId xmlns:p14="http://schemas.microsoft.com/office/powerpoint/2010/main" val="16263443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DocSecurity>0</DocSecurity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DejaVu Sans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 Nghia</cp:lastModifiedBy>
  <cp:revision>3</cp:revision>
  <dcterms:created xsi:type="dcterms:W3CDTF">2026-09-21T07:31:47Z</dcterms:created>
  <dcterms:modified xsi:type="dcterms:W3CDTF">2026-09-27T09:22:48Z</dcterms:modified>
</cp:coreProperties>
</file>