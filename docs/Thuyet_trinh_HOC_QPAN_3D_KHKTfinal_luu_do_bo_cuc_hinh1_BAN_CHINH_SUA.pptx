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  <p:sldId id="268" r:id="rId16"/>
    <p:sldId id="269" r:id="rId17"/>
    <p:sldId id="270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2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5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KHOA HỌC KỸ THUẬT  ·  TP.HCM 2026–2027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MỀM HỆ THỐNG  ·  DỰ ÁN KỸ THUẬT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hỗ trợ học lý thuyết &amp; thực hành GDQP-AN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3D theo bước  ·  WebAR  ·  AI Pose  ·  Trợ giảng có kiểm soát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Trọng Phúc · 12C3     Nguyễn Anh Khôi · 12C7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Hoàng Văn Cường  ·  TH–THCS–THPT Tân Phú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138/140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ĐẠT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LIKERT SAU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397780">
            <a:off x="-2575432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7780">
            <a:off x="-219794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397780">
            <a:off x="-182046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397780">
            <a:off x="-144297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97780">
            <a:off x="-106549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97780">
            <a:off x="-68800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97780">
            <a:off x="-31052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97780">
            <a:off x="6696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AutoShape 10"/>
          <p:cNvSpPr/>
          <p:nvPr/>
        </p:nvSpPr>
        <p:spPr>
          <a:xfrm rot="5397780">
            <a:off x="44445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97780">
            <a:off x="82193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97780">
            <a:off x="1199417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97780">
            <a:off x="1576902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97780">
            <a:off x="1954387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97780">
            <a:off x="2331873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97780">
            <a:off x="2709358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97780">
            <a:off x="3086843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97780">
            <a:off x="3464328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97780">
            <a:off x="3841814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97780">
            <a:off x="4219299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97780">
            <a:off x="4596784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97780">
            <a:off x="497427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97780">
            <a:off x="535175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97780">
            <a:off x="572924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97780">
            <a:off x="610672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5397780">
            <a:off x="648421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1260">
            <a:off x="-1667" y="-238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1260">
            <a:off x="-1667" y="375104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1260">
            <a:off x="-1667" y="752590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rot="1260">
            <a:off x="-1667" y="1130075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rot="1260">
            <a:off x="-1667" y="1507560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rot="1260">
            <a:off x="-1667" y="1885045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 rot="1260">
            <a:off x="-1667" y="226253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rot="1260">
            <a:off x="-1667" y="264001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 rot="1260">
            <a:off x="-1667" y="3017496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 rot="1260">
            <a:off x="-1667" y="3394982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rot="1260">
            <a:off x="-1667" y="3772467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rot="1260">
            <a:off x="-1667" y="4149952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 rot="1260">
            <a:off x="-1667" y="4527438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 rot="1260">
            <a:off x="-1667" y="4904923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0" y="0"/>
            <a:ext cx="9150920" cy="75495"/>
            <a:chOff x="0" y="0"/>
            <a:chExt cx="24402453" cy="2013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02414" cy="201295"/>
            </a:xfrm>
            <a:custGeom>
              <a:avLst/>
              <a:gdLst/>
              <a:ahLst/>
              <a:cxnLst/>
              <a:rect l="l" t="t" r="r" b="b"/>
              <a:pathLst>
                <a:path w="24402414" h="201295">
                  <a:moveTo>
                    <a:pt x="0" y="0"/>
                  </a:moveTo>
                  <a:lnTo>
                    <a:pt x="24402414" y="0"/>
                  </a:lnTo>
                  <a:lnTo>
                    <a:pt x="24402414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308853" y="150995"/>
            <a:ext cx="4255284" cy="192177"/>
            <a:chOff x="0" y="0"/>
            <a:chExt cx="11347425" cy="51247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347425" cy="512464"/>
            </a:xfrm>
            <a:custGeom>
              <a:avLst/>
              <a:gdLst/>
              <a:ahLst/>
              <a:cxnLst/>
              <a:rect l="l" t="t" r="r" b="b"/>
              <a:pathLst>
                <a:path w="11347425" h="512464">
                  <a:moveTo>
                    <a:pt x="0" y="0"/>
                  </a:moveTo>
                  <a:lnTo>
                    <a:pt x="11347425" y="0"/>
                  </a:lnTo>
                  <a:lnTo>
                    <a:pt x="1134742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1453" b="-38145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1347425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56"/>
                </a:lnSpc>
              </a:pPr>
              <a:r>
                <a:rPr lang="en-US" sz="713" b="1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 BÁO CÁO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40848" y="150995"/>
            <a:ext cx="1235407" cy="192177"/>
            <a:chOff x="0" y="0"/>
            <a:chExt cx="3294418" cy="5124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294414" cy="512464"/>
            </a:xfrm>
            <a:custGeom>
              <a:avLst/>
              <a:gdLst/>
              <a:ahLst/>
              <a:cxnLst/>
              <a:rect l="l" t="t" r="r" b="b"/>
              <a:pathLst>
                <a:path w="3294414" h="512464">
                  <a:moveTo>
                    <a:pt x="0" y="0"/>
                  </a:moveTo>
                  <a:lnTo>
                    <a:pt x="3294414" y="0"/>
                  </a:lnTo>
                  <a:lnTo>
                    <a:pt x="329441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260" b="-7526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3294418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 b="1">
                  <a:solidFill>
                    <a:srgbClr val="1A2A4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HỌC QPAN 3D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76250" y="150995"/>
            <a:ext cx="343167" cy="192177"/>
            <a:chOff x="0" y="0"/>
            <a:chExt cx="915111" cy="5124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5115" cy="512464"/>
            </a:xfrm>
            <a:custGeom>
              <a:avLst/>
              <a:gdLst/>
              <a:ahLst/>
              <a:cxnLst/>
              <a:rect l="l" t="t" r="r" b="b"/>
              <a:pathLst>
                <a:path w="915115" h="512464">
                  <a:moveTo>
                    <a:pt x="0" y="0"/>
                  </a:moveTo>
                  <a:lnTo>
                    <a:pt x="915115" y="0"/>
                  </a:lnTo>
                  <a:lnTo>
                    <a:pt x="91511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1" r="-21850" b="-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15111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 b="1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77486" y="562794"/>
            <a:ext cx="2127642" cy="514750"/>
            <a:chOff x="0" y="0"/>
            <a:chExt cx="5673712" cy="137266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673713" cy="1372672"/>
            </a:xfrm>
            <a:custGeom>
              <a:avLst/>
              <a:gdLst/>
              <a:ahLst/>
              <a:cxnLst/>
              <a:rect l="l" t="t" r="r" b="b"/>
              <a:pathLst>
                <a:path w="5673713" h="1372672">
                  <a:moveTo>
                    <a:pt x="0" y="0"/>
                  </a:moveTo>
                  <a:lnTo>
                    <a:pt x="5673713" y="0"/>
                  </a:lnTo>
                  <a:lnTo>
                    <a:pt x="5673713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538" b="-30537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5673712" cy="14012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242"/>
                </a:lnSpc>
              </a:pPr>
              <a:r>
                <a:rPr lang="en-US" sz="2702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MỤC LỤC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947808" y="1192508"/>
            <a:ext cx="425530" cy="425530"/>
            <a:chOff x="0" y="0"/>
            <a:chExt cx="1134745" cy="113474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2879275" y="998077"/>
            <a:ext cx="490638" cy="669723"/>
            <a:chOff x="-173621" y="-651181"/>
            <a:chExt cx="1308366" cy="1785926"/>
          </a:xfrm>
        </p:grpSpPr>
        <p:sp>
          <p:nvSpPr>
            <p:cNvPr id="58" name="Freeform 58"/>
            <p:cNvSpPr/>
            <p:nvPr/>
          </p:nvSpPr>
          <p:spPr>
            <a:xfrm>
              <a:off x="-173621" y="-651181"/>
              <a:ext cx="1134742" cy="1134743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534632" y="1235407"/>
            <a:ext cx="3980750" cy="288260"/>
            <a:chOff x="0" y="0"/>
            <a:chExt cx="10615333" cy="76869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&amp; vấn đề nghiên cứu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534632" y="1544255"/>
            <a:ext cx="4461186" cy="219628"/>
            <a:chOff x="0" y="0"/>
            <a:chExt cx="11896496" cy="58567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endParaRPr lang="en-US" dirty="0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30132" y="1317765"/>
            <a:ext cx="425530" cy="54907"/>
            <a:chOff x="0" y="0"/>
            <a:chExt cx="1134745" cy="14641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6BF1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2944383" y="1950333"/>
            <a:ext cx="425530" cy="425530"/>
            <a:chOff x="0" y="0"/>
            <a:chExt cx="1134745" cy="113474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2944383" y="1848125"/>
            <a:ext cx="425530" cy="608959"/>
            <a:chOff x="0" y="-489143"/>
            <a:chExt cx="1134745" cy="1623888"/>
          </a:xfrm>
        </p:grpSpPr>
        <p:sp>
          <p:nvSpPr>
            <p:cNvPr id="71" name="Freeform 71"/>
            <p:cNvSpPr/>
            <p:nvPr/>
          </p:nvSpPr>
          <p:spPr>
            <a:xfrm>
              <a:off x="0" y="-489143"/>
              <a:ext cx="1134742" cy="1134742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534632" y="2024691"/>
            <a:ext cx="3980750" cy="288261"/>
            <a:chOff x="0" y="0"/>
            <a:chExt cx="10615333" cy="76869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615333" cy="768700"/>
            </a:xfrm>
            <a:custGeom>
              <a:avLst/>
              <a:gdLst/>
              <a:ahLst/>
              <a:cxnLst/>
              <a:rect l="l" t="t" r="r" b="b"/>
              <a:pathLst>
                <a:path w="10615333" h="768700">
                  <a:moveTo>
                    <a:pt x="0" y="0"/>
                  </a:moveTo>
                  <a:lnTo>
                    <a:pt x="10615333" y="0"/>
                  </a:lnTo>
                  <a:lnTo>
                    <a:pt x="10615333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8" b="-21907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0615333" cy="787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Giới thiệu sản phẩm HỌC QPAN 3D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534632" y="2333544"/>
            <a:ext cx="4461186" cy="219628"/>
            <a:chOff x="0" y="0"/>
            <a:chExt cx="11896496" cy="58567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endParaRPr lang="en-US" dirty="0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030132" y="2107054"/>
            <a:ext cx="425530" cy="54907"/>
            <a:chOff x="0" y="0"/>
            <a:chExt cx="1134745" cy="14641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2947808" y="2755005"/>
            <a:ext cx="425530" cy="425530"/>
            <a:chOff x="0" y="0"/>
            <a:chExt cx="1134745" cy="113474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2944383" y="2574884"/>
            <a:ext cx="425530" cy="671489"/>
            <a:chOff x="0" y="-655890"/>
            <a:chExt cx="1134745" cy="1790635"/>
          </a:xfrm>
        </p:grpSpPr>
        <p:sp>
          <p:nvSpPr>
            <p:cNvPr id="84" name="Freeform 84"/>
            <p:cNvSpPr/>
            <p:nvPr/>
          </p:nvSpPr>
          <p:spPr>
            <a:xfrm>
              <a:off x="0" y="-655890"/>
              <a:ext cx="1134742" cy="1134742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534632" y="2813976"/>
            <a:ext cx="3980750" cy="288260"/>
            <a:chOff x="0" y="0"/>
            <a:chExt cx="10615333" cy="76869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Kỹ thuật &amp; kiểm chứng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3534632" y="3122829"/>
            <a:ext cx="4461186" cy="219628"/>
            <a:chOff x="0" y="0"/>
            <a:chExt cx="11896496" cy="58567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endParaRPr lang="en-US" dirty="0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030132" y="2896338"/>
            <a:ext cx="425530" cy="54907"/>
            <a:chOff x="0" y="0"/>
            <a:chExt cx="1134745" cy="14641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6BF1F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2944383" y="3509975"/>
            <a:ext cx="425530" cy="425530"/>
            <a:chOff x="0" y="0"/>
            <a:chExt cx="1134745" cy="113474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2947808" y="2755006"/>
            <a:ext cx="488992" cy="1231904"/>
            <a:chOff x="0" y="-2150328"/>
            <a:chExt cx="1303976" cy="3285073"/>
          </a:xfrm>
        </p:grpSpPr>
        <p:sp>
          <p:nvSpPr>
            <p:cNvPr id="97" name="Freeform 97"/>
            <p:cNvSpPr/>
            <p:nvPr/>
          </p:nvSpPr>
          <p:spPr>
            <a:xfrm>
              <a:off x="169234" y="-2150328"/>
              <a:ext cx="1134742" cy="1134742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534632" y="3603265"/>
            <a:ext cx="3980750" cy="288260"/>
            <a:chOff x="0" y="0"/>
            <a:chExt cx="10615333" cy="768693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&amp; ứng dụng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3534632" y="3912118"/>
            <a:ext cx="4461186" cy="219628"/>
            <a:chOff x="0" y="0"/>
            <a:chExt cx="11896496" cy="58567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endParaRPr lang="en-US" dirty="0">
                <a:solidFill>
                  <a:srgbClr val="5D68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030132" y="3685628"/>
            <a:ext cx="425530" cy="54907"/>
            <a:chOff x="0" y="0"/>
            <a:chExt cx="1134745" cy="14641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sp>
        <p:nvSpPr>
          <p:cNvPr id="107" name="AutoShape 107"/>
          <p:cNvSpPr/>
          <p:nvPr/>
        </p:nvSpPr>
        <p:spPr>
          <a:xfrm rot="2700">
            <a:off x="305515" y="4836290"/>
            <a:ext cx="8517246" cy="0"/>
          </a:xfrm>
          <a:prstGeom prst="line">
            <a:avLst/>
          </a:prstGeom>
          <a:ln w="9525" cap="rnd">
            <a:solidFill>
              <a:srgbClr val="CDD3D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8" name="Group 108"/>
          <p:cNvGrpSpPr/>
          <p:nvPr/>
        </p:nvGrpSpPr>
        <p:grpSpPr>
          <a:xfrm>
            <a:off x="308853" y="4859260"/>
            <a:ext cx="3980750" cy="137270"/>
            <a:chOff x="0" y="0"/>
            <a:chExt cx="10615333" cy="36605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615333" cy="366046"/>
            </a:xfrm>
            <a:custGeom>
              <a:avLst/>
              <a:gdLst/>
              <a:ahLst/>
              <a:cxnLst/>
              <a:rect l="l" t="t" r="r" b="b"/>
              <a:pathLst>
                <a:path w="10615333" h="366046">
                  <a:moveTo>
                    <a:pt x="0" y="0"/>
                  </a:moveTo>
                  <a:lnTo>
                    <a:pt x="10615333" y="0"/>
                  </a:lnTo>
                  <a:lnTo>
                    <a:pt x="106153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5065" b="-515066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10615333" cy="385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21"/>
                </a:lnSpc>
              </a:pPr>
              <a:r>
                <a:rPr lang="en-US" sz="600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Trường TH–THCS–THPT Tân Phú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961500" y="4859260"/>
            <a:ext cx="857922" cy="137270"/>
            <a:chOff x="0" y="0"/>
            <a:chExt cx="2287791" cy="366052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2287791" cy="385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1"/>
                </a:lnSpc>
              </a:pPr>
              <a:r>
                <a:rPr lang="en-US" sz="600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62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TỔNG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QUAN &amp; VẤN ĐỀ NGHIÊN CỨU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trống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mạch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nhất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phổ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</a:t>
            </a: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Học </a:t>
            </a: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liệu</a:t>
            </a: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</a:t>
            </a: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SGK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đa góc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theo bước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- 3D </a:t>
            </a: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còn</a:t>
            </a: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</a:t>
            </a: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rời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cố định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tách khỏi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&amp; kiểm tra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</a:t>
            </a: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phổ</a:t>
            </a: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bám chương trình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kiểm chứng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Web-first</a:t>
            </a:r>
            <a:b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thống nhất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+ AI có kiểm soát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977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tự học &amp; chuẩn bị thực hành  —  không thay giờ có giáo viên.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TỔNG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QUAN &amp; VẤN ĐỀ NGHIÊN CỨU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dung SGK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10–12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hóa: dựng hình → GLB → điều khiển web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&amp; AI có cảnh </a:t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</a:t>
            </a: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GV kiểm chứng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kỹ thuật + khảo sát mô tả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05156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 THUYẾT &amp; GIỚI HẠN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Web-first tạo luồng học thống nhất — không cài app chuyên dụng.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514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đa góc hỗ trợ quan sát; hiệu quả học tập cần thử nghiệm riêng.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337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chỉ đưa ra gợi ý; kết luận chuyên môn cần GV kiểm chứng.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mô-đun · một mạch học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057400" cy="91440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&amp; ÔN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</a:t>
            </a:r>
            <a:r>
              <a:rPr lang="en-US" sz="13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thuyết</a:t>
            </a: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Quiz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</a:t>
            </a: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</a:t>
            </a: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</a:t>
            </a: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Kỹ năng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2057400" cy="914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&amp; MÔ PHỎNG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Tháo/lắp 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- Trường bắn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2057400" cy="91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HỖ TRỢ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giảng Gemini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051560"/>
            <a:ext cx="2057400" cy="91440"/>
          </a:xfrm>
          <a:prstGeom prst="rect">
            <a:avLst/>
          </a:prstGeom>
          <a:solidFill>
            <a:srgbClr val="148F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6 di tích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- Khảo sát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2880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918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đang dùng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tích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8096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6809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cấp/huy hiệu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lớp </a:t>
            </a:r>
            <a:r>
              <a:rPr lang="en-US" sz="24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- TS - Tailwind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- Quiz - Exam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/ Pose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- MediaPipe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18421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- Express - Gemini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ĐÁNH GIÁ SẢN PHẨM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HTTPS - không cần plugin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0312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031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7627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được nạp và điều khiển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1363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Type-check đạt - 138/140 test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5099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chỉ mô tả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5 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8835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backend - Pose on-device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phạm vi sử dụng AI — công bố rõ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SẢN PHẨM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Gemini hỏi đáp qua API máy chủ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MediaPipe tư thế tại thiết bị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AI không phải điểm chính thức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Nội dung do nhóm + GV thẩm định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NGHIÊN CỨU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Hỗ trợ ý tưởng / ngữ pháp / mã khởi đầu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Ghi prompt vào sổ nhật ký (ghi tay)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Nhóm rà soát và chịu trách nhiệm nội dung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Nguồn tham khảo được nhóm đối chiếu lại</a:t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dirty="0" err="1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hiện có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học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138/140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đạt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98,6%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khảo sát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trước–sau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4088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Likert sau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(từ 2,69)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573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573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tích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≈51,7%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</a:t>
            </a: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</a:t>
            </a: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51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1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 dùng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319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mô tả · chưa nhóm đối chứng · không suy diễn nhân quả.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KỸ THUẬT &amp; KIỂM CHỨNG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Liêm chính khoa học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1612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1612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kiểm định trên mẫu người thật có nhãn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9842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9385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/ Express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1938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đầy đủ · Worker công khai còn thiếu API chatbot </a:t>
            </a:r>
            <a:r>
              <a:rPr lang="en-US" sz="130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kiểm tra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715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27157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cặp — tín hiệu trải nghiệm · chưa nhóm đối chứng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53872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3872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MẪU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4930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0" y="3493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Chồng camera · chưa WebXR neo mặt phẳng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KỸ THUẬT &amp; KIỂM CHỨNG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</a:t>
            </a:r>
            <a:r>
              <a:rPr lang="en-US" sz="24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mạch học - pipeline - giới hạn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2070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mạch học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 → 3D theo bước </a:t>
            </a:r>
            <a:r>
              <a:rPr lang="en-US" sz="130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luyện tập/kiểm tra → Pose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12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kỹ thuật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→ clip/camera → MediaPipe on-device · AI qua backend có kiểm soát.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18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kết luận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· Worker thiếu API chatbot/thi · khảo sát chỉ mô tả.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04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THỰC NGHIỆM &amp; ỨNG DỤNG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ưu tiên tiếp theo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Thẩm định chuyên môn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· câu hỏi · animation · rubric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định 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thật · góc máy · ánh sáng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nhất backend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Worker cùng 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đối chứng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mẫu · thống kê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sản phẩm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290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· mobile · mạng yếu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có nguồn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từ học liệu đã thẩm định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0392B"/>
                </a:solidFill>
                <a:latin typeface="Arial"/>
              </a:rPr>
              <a:t>KẾT LUẬN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411480" y="316468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A1628"/>
                </a:solidFill>
                <a:latin typeface="Arial"/>
              </a:rPr>
              <a:t>Nguyên mẫu vận hành, có tín hiệu tích cực và nêu rõ giới hạn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13415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113415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Kỹ thuật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Type-check đạt · 138/140 test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311396" y="1604905"/>
            <a:ext cx="429768" cy="402336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202171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2021714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Trải nghiệm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Tín hiệu tích cực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11396" y="2520173"/>
            <a:ext cx="429768" cy="402336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1143000" y="292250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922509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vi-VN" sz="1400" b="1">
                <a:solidFill>
                  <a:srgbClr val="0A1628"/>
                </a:solidFill>
                <a:latin typeface="Arial"/>
              </a:rPr>
              <a:t>Giới hạn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Chưa chứng minh nhân quả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12176" y="3435351"/>
            <a:ext cx="428208" cy="401557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82776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1655064" y="3827764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Tiếp theo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Thẩm định GDQP · Pose · backend · đối chứng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772400" y="4865388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11/11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40080" y="448970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50">
                <a:solidFill>
                  <a:srgbClr val="6B7C8F"/>
                </a:solidFill>
                <a:latin typeface="Arial"/>
              </a:rPr>
              <a:t>Sổ nhật ký ghi tay · Video &lt; 3 phút · Poster theo mẫu BTC   |   Lê Trọng Phúc · Nguyễn Anh Khôi · TH–THCS–THPT Tân Phú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50920" cy="89226"/>
            <a:chOff x="0" y="0"/>
            <a:chExt cx="24402453" cy="237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7871"/>
            </a:xfrm>
            <a:custGeom>
              <a:avLst/>
              <a:gdLst/>
              <a:ahLst/>
              <a:cxnLst/>
              <a:rect l="l" t="t" r="r" b="b"/>
              <a:pathLst>
                <a:path w="24402414" h="237871">
                  <a:moveTo>
                    <a:pt x="0" y="0"/>
                  </a:moveTo>
                  <a:lnTo>
                    <a:pt x="24402414" y="0"/>
                  </a:lnTo>
                  <a:lnTo>
                    <a:pt x="24402414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80436" y="549069"/>
            <a:ext cx="4804353" cy="446118"/>
            <a:chOff x="0" y="0"/>
            <a:chExt cx="12811608" cy="118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609" cy="1189649"/>
            </a:xfrm>
            <a:custGeom>
              <a:avLst/>
              <a:gdLst/>
              <a:ahLst/>
              <a:cxnLst/>
              <a:rect l="l" t="t" r="r" b="b"/>
              <a:pathLst>
                <a:path w="12811609" h="1189649">
                  <a:moveTo>
                    <a:pt x="0" y="0"/>
                  </a:moveTo>
                  <a:lnTo>
                    <a:pt x="12811609" y="0"/>
                  </a:lnTo>
                  <a:lnTo>
                    <a:pt x="12811609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838" b="-15983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2811608" cy="121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02"/>
                </a:lnSpc>
              </a:pPr>
              <a:r>
                <a:rPr lang="en-US" sz="2252" b="1">
                  <a:latin typeface="Arial Bold"/>
                  <a:ea typeface="Arial Bold"/>
                  <a:cs typeface="Arial Bold"/>
                  <a:sym typeface="Arial Bold"/>
                </a:rPr>
                <a:t>CẢM ƠN BAN GIÁM KHẢO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4162" y="1063824"/>
            <a:ext cx="4529819" cy="274535"/>
            <a:chOff x="0" y="0"/>
            <a:chExt cx="12079516" cy="732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079517" cy="732092"/>
            </a:xfrm>
            <a:custGeom>
              <a:avLst/>
              <a:gdLst/>
              <a:ahLst/>
              <a:cxnLst/>
              <a:rect l="l" t="t" r="r" b="b"/>
              <a:pathLst>
                <a:path w="12079517" h="732092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1503" b="-2715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079516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51"/>
                </a:lnSpc>
              </a:pPr>
              <a:r>
                <a:rPr lang="en-US" sz="1126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Một cổng học tập, nhiều cách tiếp cận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4162" y="1455034"/>
            <a:ext cx="5010255" cy="308853"/>
            <a:chOff x="0" y="0"/>
            <a:chExt cx="13360679" cy="8236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60678" cy="823603"/>
            </a:xfrm>
            <a:custGeom>
              <a:avLst/>
              <a:gdLst/>
              <a:ahLst/>
              <a:cxnLst/>
              <a:rect l="l" t="t" r="r" b="b"/>
              <a:pathLst>
                <a:path w="13360678" h="823603">
                  <a:moveTo>
                    <a:pt x="0" y="0"/>
                  </a:moveTo>
                  <a:lnTo>
                    <a:pt x="13360678" y="0"/>
                  </a:lnTo>
                  <a:lnTo>
                    <a:pt x="1336067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6090" b="-26609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3360679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61"/>
                </a:lnSpc>
              </a:pPr>
              <a:r>
                <a:rPr lang="en-US" sz="1051">
                  <a:latin typeface="Arial"/>
                  <a:ea typeface="Arial"/>
                  <a:cs typeface="Arial"/>
                  <a:sym typeface="Arial"/>
                </a:rPr>
                <a:t>Học lý thuyết  •  Quan sát 3D  •  Luyện tập  •  Nhận phản hồi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162" y="2093324"/>
            <a:ext cx="4975936" cy="1098137"/>
            <a:chOff x="0" y="0"/>
            <a:chExt cx="13269163" cy="29283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69213" cy="2928366"/>
            </a:xfrm>
            <a:custGeom>
              <a:avLst/>
              <a:gdLst/>
              <a:ahLst/>
              <a:cxnLst/>
              <a:rect l="l" t="t" r="r" b="b"/>
              <a:pathLst>
                <a:path w="13269213" h="2928366">
                  <a:moveTo>
                    <a:pt x="0" y="234315"/>
                  </a:moveTo>
                  <a:cubicBezTo>
                    <a:pt x="0" y="104902"/>
                    <a:pt x="104902" y="0"/>
                    <a:pt x="234315" y="0"/>
                  </a:cubicBezTo>
                  <a:lnTo>
                    <a:pt x="13034899" y="0"/>
                  </a:lnTo>
                  <a:cubicBezTo>
                    <a:pt x="13164313" y="0"/>
                    <a:pt x="13269213" y="104902"/>
                    <a:pt x="13269213" y="234315"/>
                  </a:cubicBezTo>
                  <a:lnTo>
                    <a:pt x="13269213" y="2694051"/>
                  </a:lnTo>
                  <a:cubicBezTo>
                    <a:pt x="13269213" y="2823464"/>
                    <a:pt x="13164313" y="2928366"/>
                    <a:pt x="13034899" y="2928366"/>
                  </a:cubicBezTo>
                  <a:lnTo>
                    <a:pt x="234315" y="2928366"/>
                  </a:lnTo>
                  <a:cubicBezTo>
                    <a:pt x="104902" y="2928366"/>
                    <a:pt x="0" y="2823464"/>
                    <a:pt x="0" y="2694051"/>
                  </a:cubicBezTo>
                  <a:close/>
                </a:path>
              </a:pathLst>
            </a:custGeom>
            <a:solidFill>
              <a:srgbClr val="14213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52020" y="2264912"/>
            <a:ext cx="1235407" cy="219628"/>
            <a:chOff x="0" y="0"/>
            <a:chExt cx="3294418" cy="5856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94414" cy="585674"/>
            </a:xfrm>
            <a:custGeom>
              <a:avLst/>
              <a:gdLst/>
              <a:ahLst/>
              <a:cxnLst/>
              <a:rect l="l" t="t" r="r" b="b"/>
              <a:pathLst>
                <a:path w="3294414" h="58567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GIÁ TRỊ HIỆN TẠI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18789" y="2210005"/>
            <a:ext cx="3397363" cy="377486"/>
            <a:chOff x="0" y="0"/>
            <a:chExt cx="9059634" cy="10066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59638" cy="1006626"/>
            </a:xfrm>
            <a:custGeom>
              <a:avLst/>
              <a:gdLst/>
              <a:ahLst/>
              <a:cxnLst/>
              <a:rect l="l" t="t" r="r" b="b"/>
              <a:pathLst>
                <a:path w="9059638" h="1006626">
                  <a:moveTo>
                    <a:pt x="0" y="0"/>
                  </a:moveTo>
                  <a:lnTo>
                    <a:pt x="9059638" y="0"/>
                  </a:lnTo>
                  <a:lnTo>
                    <a:pt x="905963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059634" cy="1035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8"/>
                </a:lnSpc>
              </a:pPr>
              <a:r>
                <a:rPr lang="en-US" sz="923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nối học liệu, mô phỏng, AI Pose và phản hồi trong một website web-first.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2020" y="2779662"/>
            <a:ext cx="1338358" cy="219628"/>
            <a:chOff x="0" y="0"/>
            <a:chExt cx="3568954" cy="5856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68948" cy="585674"/>
            </a:xfrm>
            <a:custGeom>
              <a:avLst/>
              <a:gdLst/>
              <a:ahLst/>
              <a:cxnLst/>
              <a:rect l="l" t="t" r="r" b="b"/>
              <a:pathLst>
                <a:path w="3568948" h="585674">
                  <a:moveTo>
                    <a:pt x="0" y="0"/>
                  </a:moveTo>
                  <a:lnTo>
                    <a:pt x="3568948" y="0"/>
                  </a:lnTo>
                  <a:lnTo>
                    <a:pt x="356894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737" b="-6873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568954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PHẠM VI CAM KẾT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18789" y="2731618"/>
            <a:ext cx="3397363" cy="377486"/>
            <a:chOff x="0" y="0"/>
            <a:chExt cx="9059634" cy="10066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59638" cy="1006626"/>
            </a:xfrm>
            <a:custGeom>
              <a:avLst/>
              <a:gdLst/>
              <a:ahLst/>
              <a:cxnLst/>
              <a:rect l="l" t="t" r="r" b="b"/>
              <a:pathLst>
                <a:path w="9059638" h="1006626">
                  <a:moveTo>
                    <a:pt x="0" y="0"/>
                  </a:moveTo>
                  <a:lnTo>
                    <a:pt x="9059638" y="0"/>
                  </a:lnTo>
                  <a:lnTo>
                    <a:pt x="905963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059634" cy="1025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1"/>
                </a:lnSpc>
              </a:pPr>
              <a:r>
                <a:rPr lang="en-US" sz="90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Nguyên mẫu hỗ trợ học tập; tiếp tục thẩm định kỹ thuật và sư phạm.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84853" y="720652"/>
            <a:ext cx="2436495" cy="2813976"/>
            <a:chOff x="0" y="0"/>
            <a:chExt cx="6497320" cy="75039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97320" cy="7503922"/>
            </a:xfrm>
            <a:custGeom>
              <a:avLst/>
              <a:gdLst/>
              <a:ahLst/>
              <a:cxnLst/>
              <a:rect l="l" t="t" r="r" b="b"/>
              <a:pathLst>
                <a:path w="6497320" h="7503922">
                  <a:moveTo>
                    <a:pt x="0" y="519811"/>
                  </a:moveTo>
                  <a:cubicBezTo>
                    <a:pt x="0" y="232664"/>
                    <a:pt x="232664" y="0"/>
                    <a:pt x="519811" y="0"/>
                  </a:cubicBezTo>
                  <a:lnTo>
                    <a:pt x="5977509" y="0"/>
                  </a:lnTo>
                  <a:cubicBezTo>
                    <a:pt x="6264529" y="0"/>
                    <a:pt x="6497320" y="232664"/>
                    <a:pt x="6497320" y="519811"/>
                  </a:cubicBezTo>
                  <a:lnTo>
                    <a:pt x="6497320" y="6984111"/>
                  </a:lnTo>
                  <a:cubicBezTo>
                    <a:pt x="6497320" y="7271131"/>
                    <a:pt x="6264656" y="7503922"/>
                    <a:pt x="5977509" y="7503922"/>
                  </a:cubicBezTo>
                  <a:lnTo>
                    <a:pt x="519811" y="7503922"/>
                  </a:lnTo>
                  <a:cubicBezTo>
                    <a:pt x="232664" y="7503922"/>
                    <a:pt x="0" y="7271258"/>
                    <a:pt x="0" y="69841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142711" y="2985564"/>
            <a:ext cx="2113917" cy="233353"/>
            <a:chOff x="0" y="0"/>
            <a:chExt cx="5637111" cy="62227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37108" cy="622278"/>
            </a:xfrm>
            <a:custGeom>
              <a:avLst/>
              <a:gdLst/>
              <a:ahLst/>
              <a:cxnLst/>
              <a:rect l="l" t="t" r="r" b="b"/>
              <a:pathLst>
                <a:path w="5637108" h="622278">
                  <a:moveTo>
                    <a:pt x="0" y="0"/>
                  </a:moveTo>
                  <a:lnTo>
                    <a:pt x="5637108" y="0"/>
                  </a:lnTo>
                  <a:lnTo>
                    <a:pt x="563710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11" b="-12651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637111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6"/>
                </a:lnSpc>
              </a:pPr>
              <a:r>
                <a:rPr lang="en-US" sz="788" b="1">
                  <a:solidFill>
                    <a:srgbClr val="1A2A4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QUÉT MÃ TRUY CẬP BẢN THỬ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4667" y="3246373"/>
            <a:ext cx="2196275" cy="205902"/>
            <a:chOff x="0" y="0"/>
            <a:chExt cx="5856732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856732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56"/>
                </a:lnSpc>
              </a:pPr>
              <a:r>
                <a:rPr lang="en-US" sz="713" b="1" dirty="0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https://gdqp-an.gdqp-3d.workers.dev/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94162" y="4495500"/>
            <a:ext cx="3431682" cy="192177"/>
            <a:chOff x="0" y="0"/>
            <a:chExt cx="9151150" cy="5124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51149" cy="512464"/>
            </a:xfrm>
            <a:custGeom>
              <a:avLst/>
              <a:gdLst/>
              <a:ahLst/>
              <a:cxnLst/>
              <a:rect l="l" t="t" r="r" b="b"/>
              <a:pathLst>
                <a:path w="9151149" h="512464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7946" b="-29794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9151150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18"/>
                </a:lnSpc>
              </a:pPr>
              <a:r>
                <a:rPr lang="en-US" sz="765">
                  <a:latin typeface="Arial"/>
                  <a:ea typeface="Arial"/>
                  <a:cs typeface="Arial"/>
                  <a:sym typeface="Arial"/>
                </a:rPr>
                <a:t>Lê Trọng Phúc • Nguyễn Anh Khôi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75936" y="4495500"/>
            <a:ext cx="3500314" cy="192177"/>
            <a:chOff x="0" y="0"/>
            <a:chExt cx="9334170" cy="51247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34172" cy="512464"/>
            </a:xfrm>
            <a:custGeom>
              <a:avLst/>
              <a:gdLst/>
              <a:ahLst/>
              <a:cxnLst/>
              <a:rect l="l" t="t" r="r" b="b"/>
              <a:pathLst>
                <a:path w="9334172" h="512464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4905" b="-30490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334170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918"/>
                </a:lnSpc>
              </a:pPr>
              <a:r>
                <a:rPr lang="en-US" sz="765">
                  <a:latin typeface="Arial"/>
                  <a:ea typeface="Arial"/>
                  <a:cs typeface="Arial"/>
                  <a:sym typeface="Arial"/>
                </a:rPr>
                <a:t>Trường TH–THCS–THPT Tân Phú • 2026</a:t>
              </a:r>
            </a:p>
          </p:txBody>
        </p:sp>
      </p:grpSp>
      <p:pic>
        <p:nvPicPr>
          <p:cNvPr id="43" name="Picture 42" descr="Mã QR HỌC QPAN 3D">
            <a:extLst>
              <a:ext uri="{FF2B5EF4-FFF2-40B4-BE49-F238E27FC236}">
                <a16:creationId xmlns:a16="http://schemas.microsoft.com/office/drawing/2014/main" id="{2F0D0EB7-42B9-5489-FB3E-48785CE07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19" y="1233348"/>
            <a:ext cx="1697300" cy="16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6257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Arial"/>
              </a:rPr>
              <a:t>0</a:t>
            </a:r>
            <a:r>
              <a:rPr lang="en-US" sz="1100" b="1">
                <a:solidFill>
                  <a:srgbClr val="C0392B"/>
                </a:solidFill>
                <a:latin typeface="Arial"/>
              </a:rPr>
              <a:t>1</a:t>
            </a:r>
            <a:r>
              <a:rPr sz="1100" b="1">
                <a:solidFill>
                  <a:srgbClr val="C0392B"/>
                </a:solidFill>
                <a:latin typeface="Arial"/>
              </a:rPr>
              <a:t>  </a:t>
            </a:r>
            <a:r>
              <a:rPr lang="vi-VN" sz="1100" b="1">
                <a:solidFill>
                  <a:srgbClr val="C0392B"/>
                </a:solidFill>
                <a:latin typeface="Arial"/>
              </a:rPr>
              <a:t>LƯU ĐỒ QUY TRÌNH DỰ ÁN</a:t>
            </a:r>
            <a:endParaRPr sz="1100" b="1">
              <a:solidFill>
                <a:srgbClr val="C0392B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16468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A1628"/>
                </a:solidFill>
                <a:latin typeface="Arial"/>
              </a:rPr>
              <a:t>Quy trình nghiên cứu đi từ vấn đề đến kiểm chứng và kết luận</a:t>
            </a:r>
            <a:endParaRPr sz="2400" b="1">
              <a:solidFill>
                <a:srgbClr val="0A1628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1005840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005840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Vấn đề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462272" y="1404518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1481328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481328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350" b="1">
                <a:solidFill>
                  <a:srgbClr val="0A1628"/>
                </a:solidFill>
                <a:latin typeface="Arial"/>
              </a:rPr>
              <a:t>Phân tích chương trình GDQP-AN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nhu cầu quan sát</a:t>
            </a:r>
          </a:p>
        </p:txBody>
      </p:sp>
      <p:sp>
        <p:nvSpPr>
          <p:cNvPr id="11" name="Down Arrow 10"/>
          <p:cNvSpPr>
            <a:spLocks/>
          </p:cNvSpPr>
          <p:nvPr/>
        </p:nvSpPr>
        <p:spPr>
          <a:xfrm>
            <a:off x="4462272" y="1880006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43000" y="1956816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1956816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Thiết kế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4 lớp · Ti</a:t>
            </a:r>
            <a:r>
              <a:rPr lang="en-US" sz="1250">
                <a:solidFill>
                  <a:srgbClr val="6B7C8F"/>
                </a:solidFill>
                <a:latin typeface="Arial"/>
              </a:rPr>
              <a:t>êu chí</a:t>
            </a:r>
            <a:endParaRPr lang="en-US" sz="1250" b="0">
              <a:solidFill>
                <a:srgbClr val="6B7C8F"/>
              </a:solidFill>
              <a:latin typeface="Arial"/>
            </a:endParaRPr>
          </a:p>
        </p:txBody>
      </p:sp>
      <p:sp>
        <p:nvSpPr>
          <p:cNvPr id="14" name="Down Arrow 13"/>
          <p:cNvSpPr>
            <a:spLocks/>
          </p:cNvSpPr>
          <p:nvPr/>
        </p:nvSpPr>
        <p:spPr>
          <a:xfrm>
            <a:off x="4462272" y="2355494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3000" y="2432304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2432304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it-IT" sz="1350" b="1">
                <a:solidFill>
                  <a:srgbClr val="0A1628"/>
                </a:solidFill>
                <a:latin typeface="Arial"/>
              </a:rPr>
              <a:t>Chế tạo</a:t>
            </a:r>
            <a:r>
              <a:rPr lang="it-IT" sz="1250" b="0">
                <a:solidFill>
                  <a:srgbClr val="6B7C8F"/>
                </a:solidFill>
                <a:latin typeface="Arial"/>
              </a:rPr>
              <a:t>  ·  website · GLB · Pose · AI</a:t>
            </a:r>
          </a:p>
        </p:txBody>
      </p:sp>
      <p:sp>
        <p:nvSpPr>
          <p:cNvPr id="17" name="Down Arrow 16"/>
          <p:cNvSpPr>
            <a:spLocks/>
          </p:cNvSpPr>
          <p:nvPr/>
        </p:nvSpPr>
        <p:spPr>
          <a:xfrm>
            <a:off x="4462272" y="2830982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143000" y="2907792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2907792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Kiểm thử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type-check đạt · 138/140 test · HTTPS</a:t>
            </a:r>
          </a:p>
        </p:txBody>
      </p:sp>
      <p:sp>
        <p:nvSpPr>
          <p:cNvPr id="20" name="Down Arrow 19"/>
          <p:cNvSpPr>
            <a:spLocks/>
          </p:cNvSpPr>
          <p:nvPr/>
        </p:nvSpPr>
        <p:spPr>
          <a:xfrm>
            <a:off x="4462272" y="3306470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43000" y="3383280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064" y="3383280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350" b="1">
                <a:solidFill>
                  <a:srgbClr val="0A1628"/>
                </a:solidFill>
                <a:latin typeface="Arial"/>
              </a:rPr>
              <a:t>Khảo sát trước–sau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mô tả</a:t>
            </a:r>
          </a:p>
        </p:txBody>
      </p:sp>
      <p:sp>
        <p:nvSpPr>
          <p:cNvPr id="23" name="Down Arrow 22"/>
          <p:cNvSpPr>
            <a:spLocks/>
          </p:cNvSpPr>
          <p:nvPr/>
        </p:nvSpPr>
        <p:spPr>
          <a:xfrm>
            <a:off x="4462272" y="3781958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43000" y="3858768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55064" y="3858768"/>
            <a:ext cx="6345936" cy="393192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Kết luận + nêu giới hạn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PHỤ LỤC 1/6</a:t>
            </a:r>
          </a:p>
        </p:txBody>
      </p:sp>
    </p:spTree>
    <p:extLst>
      <p:ext uri="{BB962C8B-B14F-4D97-AF65-F5344CB8AC3E}">
        <p14:creationId xmlns:p14="http://schemas.microsoft.com/office/powerpoint/2010/main" val="84636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6257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0392B"/>
                </a:solidFill>
                <a:latin typeface="Arial"/>
              </a:rPr>
              <a:t>02</a:t>
            </a:r>
            <a:r>
              <a:rPr sz="1100" b="1">
                <a:solidFill>
                  <a:srgbClr val="C0392B"/>
                </a:solidFill>
                <a:latin typeface="Arial"/>
              </a:rPr>
              <a:t>  LƯU ĐỒ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Người học đi từ chọn bài đến khảo sát trong một mạch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042415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042415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Chọn khối / bài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501444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600200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600200"/>
            <a:ext cx="6345936" cy="44805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Đọc lý thuyết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059228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157984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157984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Xem / thao tác 3D</a:t>
            </a:r>
            <a:r>
              <a:rPr sz="1300" b="0">
                <a:solidFill>
                  <a:srgbClr val="6B7C8F"/>
                </a:solidFill>
                <a:latin typeface="Arial"/>
              </a:rPr>
              <a:t>  ·  theo bước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2617012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2715768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2715768"/>
            <a:ext cx="6345936" cy="44805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Luyện quiz · thi thử · Pose</a:t>
            </a:r>
            <a:r>
              <a:rPr sz="1300" b="0">
                <a:solidFill>
                  <a:srgbClr val="6B7C8F"/>
                </a:solidFill>
                <a:latin typeface="Arial"/>
              </a:rPr>
              <a:t>  ·  tuỳ chọn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174796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273552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273552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Nhận phản hồi · XP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462272" y="3732580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3000" y="3831335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064" y="3831335"/>
            <a:ext cx="6345936" cy="44805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Khảo sát trải nghiệm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PHỤ LỤC 2/6</a:t>
            </a:r>
          </a:p>
        </p:txBody>
      </p:sp>
    </p:spTree>
    <p:extLst>
      <p:ext uri="{BB962C8B-B14F-4D97-AF65-F5344CB8AC3E}">
        <p14:creationId xmlns:p14="http://schemas.microsoft.com/office/powerpoint/2010/main" val="100248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100" b="1">
                <a:solidFill>
                  <a:srgbClr val="C0392B"/>
                </a:solidFill>
                <a:latin typeface="Arial"/>
              </a:rPr>
              <a:t>03  LƯU ĐỒ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Pipeline 3D từ Blender đến tương tác trên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Blender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dựng hình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vi-VN" sz="1400" b="1">
                <a:solidFill>
                  <a:srgbClr val="0A1628"/>
                </a:solidFill>
                <a:latin typeface="Arial"/>
              </a:rPr>
              <a:t>Rig / clip</a:t>
            </a:r>
            <a:r>
              <a:rPr lang="vi-VN" sz="1300">
                <a:solidFill>
                  <a:srgbClr val="6B7C8F"/>
                </a:solidFill>
                <a:latin typeface="Arial"/>
              </a:rPr>
              <a:t>  ·  gắn xương · chuyển động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Xuất GLB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đóng gói mô hình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Nạp web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Three.js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Điều khiển</a:t>
            </a:r>
            <a:r>
              <a:rPr lang="en-US" sz="1300">
                <a:solidFill>
                  <a:srgbClr val="BCC7D3"/>
                </a:solidFill>
                <a:latin typeface="Arial"/>
              </a:rPr>
              <a:t>  ·  camera / clip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PHỤ LỤC 3/6</a:t>
            </a:r>
          </a:p>
        </p:txBody>
      </p:sp>
    </p:spTree>
    <p:extLst>
      <p:ext uri="{BB962C8B-B14F-4D97-AF65-F5344CB8AC3E}">
        <p14:creationId xmlns:p14="http://schemas.microsoft.com/office/powerpoint/2010/main" val="207230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04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Arial"/>
              </a:rPr>
              <a:t>04  LƯU ĐỒ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Pipeline Pose từ camera đến góp ý theo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Camera trình duyệt</a:t>
            </a:r>
            <a:r>
              <a:rPr sz="1300">
                <a:solidFill>
                  <a:srgbClr val="6B7C8F"/>
                </a:solidFill>
                <a:latin typeface="Arial"/>
              </a:rPr>
              <a:t>  ·  đầu vào trực tiếp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MediaPipe</a:t>
            </a:r>
            <a:r>
              <a:rPr sz="1300">
                <a:solidFill>
                  <a:srgbClr val="6B7C8F"/>
                </a:solidFill>
                <a:latin typeface="Arial"/>
              </a:rPr>
              <a:t>  ·  33 mốc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Lọc chất lượng</a:t>
            </a:r>
            <a:r>
              <a:rPr sz="1300">
                <a:solidFill>
                  <a:srgbClr val="6B7C8F"/>
                </a:solidFill>
                <a:latin typeface="Arial"/>
              </a:rPr>
              <a:t>  ·  khung hình hợp lệ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Rubric</a:t>
            </a:r>
            <a:r>
              <a:rPr sz="1300">
                <a:solidFill>
                  <a:srgbClr val="6B7C8F"/>
                </a:solidFill>
                <a:latin typeface="Arial"/>
              </a:rPr>
              <a:t>  ·  đối chiếu tiêu chí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Góp ý</a:t>
            </a:r>
            <a:r>
              <a:rPr sz="1300">
                <a:solidFill>
                  <a:srgbClr val="BCC7D3"/>
                </a:solidFill>
                <a:latin typeface="Arial"/>
              </a:rPr>
              <a:t>  ·  phản hồi cho người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PHỤ LỤC 4/6</a:t>
            </a:r>
          </a:p>
        </p:txBody>
      </p:sp>
    </p:spTree>
    <p:extLst>
      <p:ext uri="{BB962C8B-B14F-4D97-AF65-F5344CB8AC3E}">
        <p14:creationId xmlns:p14="http://schemas.microsoft.com/office/powerpoint/2010/main" val="3765070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04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7972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C0392B"/>
                </a:solidFill>
                <a:latin typeface="Arial"/>
              </a:rPr>
              <a:t>0</a:t>
            </a:r>
            <a:r>
              <a:rPr lang="en-US" sz="1100" b="1" dirty="0">
                <a:solidFill>
                  <a:srgbClr val="C0392B"/>
                </a:solidFill>
                <a:latin typeface="Arial"/>
              </a:rPr>
              <a:t>5</a:t>
            </a:r>
            <a:r>
              <a:rPr sz="1100" b="1" dirty="0">
                <a:solidFill>
                  <a:srgbClr val="C0392B"/>
                </a:solidFill>
                <a:latin typeface="Arial"/>
              </a:rPr>
              <a:t>  LƯU ĐỒ 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Arial"/>
              </a:rPr>
              <a:t>Chu trình học tập trải nghiệm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Tiếp nhận</a:t>
            </a:r>
            <a:r>
              <a:rPr sz="1300">
                <a:solidFill>
                  <a:srgbClr val="6B7C8F"/>
                </a:solidFill>
                <a:latin typeface="Arial"/>
              </a:rPr>
              <a:t>  ·  đọc mục tiêu và kiến thức cốt lõi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Quan sát</a:t>
            </a:r>
            <a:r>
              <a:rPr sz="1300">
                <a:solidFill>
                  <a:srgbClr val="6B7C8F"/>
                </a:solidFill>
                <a:latin typeface="Arial"/>
              </a:rPr>
              <a:t>  ·  xoay, phóng to, chọn chi tiết 3D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Thực hành</a:t>
            </a:r>
            <a:r>
              <a:rPr sz="1300">
                <a:solidFill>
                  <a:srgbClr val="6B7C8F"/>
                </a:solidFill>
                <a:latin typeface="Arial"/>
              </a:rPr>
              <a:t>  ·  theo bước, xem clip, checklist kỹ năng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Đánh giá</a:t>
            </a:r>
            <a:r>
              <a:rPr sz="1300">
                <a:solidFill>
                  <a:srgbClr val="6B7C8F"/>
                </a:solidFill>
                <a:latin typeface="Arial"/>
              </a:rPr>
              <a:t>  ·  quiz, thi thử, phản hồi tức thời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  <a:r>
              <a:rPr sz="1300">
                <a:solidFill>
                  <a:srgbClr val="BCC7D3"/>
                </a:solidFill>
                <a:latin typeface="Arial"/>
              </a:rPr>
              <a:t>  ·  hỏi trợ lý AI, xem tiến độ và 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Arial"/>
              </a:rPr>
              <a:t>PHỤ LỤC 5/6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04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7972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C0392B"/>
                </a:solidFill>
                <a:latin typeface="Arial"/>
              </a:rPr>
              <a:t>0</a:t>
            </a:r>
            <a:r>
              <a:rPr lang="en-US" sz="1100" b="1" dirty="0">
                <a:solidFill>
                  <a:srgbClr val="C0392B"/>
                </a:solidFill>
                <a:latin typeface="Arial"/>
              </a:rPr>
              <a:t>6</a:t>
            </a:r>
            <a:r>
              <a:rPr sz="1100" b="1" dirty="0">
                <a:solidFill>
                  <a:srgbClr val="C0392B"/>
                </a:solidFill>
                <a:latin typeface="Arial"/>
              </a:rPr>
              <a:t>  LƯU ĐỒ 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Arial"/>
              </a:rPr>
              <a:t>Kiến trúc logic của HỌC QPAN 3D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Người dùng</a:t>
            </a:r>
            <a:r>
              <a:rPr sz="1300">
                <a:solidFill>
                  <a:srgbClr val="6B7C8F"/>
                </a:solidFill>
                <a:latin typeface="Arial"/>
              </a:rPr>
              <a:t>  ·  học sinh, giáo viên trình chiếu, máy tính / điện thoại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Giao diện</a:t>
            </a:r>
            <a:r>
              <a:rPr sz="1300">
                <a:solidFill>
                  <a:srgbClr val="6B7C8F"/>
                </a:solidFill>
                <a:latin typeface="Arial"/>
              </a:rPr>
              <a:t>  ·  React + TypeScript, Tailwind CSS, điều hướng bằng state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Học tập &amp; 3D</a:t>
            </a:r>
            <a:r>
              <a:rPr sz="1300">
                <a:solidFill>
                  <a:srgbClr val="6B7C8F"/>
                </a:solidFill>
                <a:latin typeface="Arial"/>
              </a:rPr>
              <a:t>  ·  31 bài lý thuyết, quiz và thi thử, Three.js / R3F / Drei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0F3F6"/>
          </a:solidFill>
          <a:ln w="1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Dịch vụ</a:t>
            </a:r>
            <a:r>
              <a:rPr sz="1300">
                <a:solidFill>
                  <a:srgbClr val="6B7C8F"/>
                </a:solidFill>
                <a:latin typeface="Arial"/>
              </a:rPr>
              <a:t>  ·  Express / Gemini API, MediaPipe, bản đồ và học liệu ngoài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Ins="152400" rtlCol="0" anchor="ctr"/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Arial"/>
              </a:rPr>
              <a:t>Dữ liệu  ·  15 tệp GLB đang dùng, localStorage / D1 khảo sát, dữ liệu TypeScript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lang="en-US"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lang="en-US"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  <a:r>
              <a:rPr sz="1300" dirty="0" err="1">
                <a:solidFill>
                  <a:srgbClr val="BCC7D3"/>
                </a:solidFill>
                <a:latin typeface="Arial"/>
              </a:rPr>
              <a:t/>
            </a:r>
            <a:r>
              <a:rPr sz="1300" dirty="0">
                <a:solidFill>
                  <a:srgbClr val="BCC7D3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C8F"/>
                </a:solidFill>
                <a:latin typeface="Arial"/>
              </a:rPr>
              <a:t>PHỤ LỤC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1770</Words>
  <Application>Microsoft Office PowerPoint</Application>
  <PresentationFormat>On-screen Show (16:9)</PresentationFormat>
  <Paragraphs>339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HỌC QPAN 3D – KHKT TP.HCM 2026</dc:title>
  <dc:subject>Dự án kỹ thuật · Phần mềm hệ thống</dc:subject>
  <dc:creator>Lê Trọng Phúc · Nguyễn Anh Khôi</dc:creator>
  <cp:lastModifiedBy>Le Nghia</cp:lastModifiedBy>
  <cp:revision>10</cp:revision>
  <dcterms:created xsi:type="dcterms:W3CDTF">2026-09-30T03:09:21Z</dcterms:created>
  <dcterms:modified xsi:type="dcterms:W3CDTF">2026-09-30T10:32:33Z</dcterms:modified>
</cp:coreProperties>
</file>