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4ADF9E-B751-4350-9AD8-4504C70229A9}" type="datetimeFigureOut">
              <a:rPr lang="en-US" smtClean="0"/>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1C5E-96DA-435E-9436-4B6A96499953}" type="slidenum">
              <a:rPr lang="en-US" smtClean="0"/>
              <a:t>‹#›</a:t>
            </a:fld>
            <a:endParaRPr lang="en-US"/>
          </a:p>
        </p:txBody>
      </p:sp>
    </p:spTree>
    <p:extLst>
      <p:ext uri="{BB962C8B-B14F-4D97-AF65-F5344CB8AC3E}">
        <p14:creationId xmlns:p14="http://schemas.microsoft.com/office/powerpoint/2010/main" val="3479514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Kính thưa Ban giám khảo, nhóm chúng em trình bày dự án Học QPAN 3D, ứng dụng tái tạo 3D và AI tạo sinh để hỗ trợ học tập lý thuyết và thực hành môn GDQP-AN. Phần trình bày đi theo ba ý: vì sao chọn đề tài, sản phẩm có những chức năng gì, và nhóm thực hiện các chức năng đó bằng công nghệ nào. Tên tác giả trên slide được lấy theo báo cáo DOCX mới nhất do nhóm cung cấp.</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a:t>
            </a:fld>
            <a:endParaRPr lang="en-US"/>
          </a:p>
        </p:txBody>
      </p:sp>
    </p:spTree>
    <p:extLst>
      <p:ext uri="{BB962C8B-B14F-4D97-AF65-F5344CB8AC3E}">
        <p14:creationId xmlns:p14="http://schemas.microsoft.com/office/powerpoint/2010/main" val="2359295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Lý do chọn đề tài xuất phát từ đặc thù môn học có cả lý thuyết và thực hành. Hình ảnh, video hỗ trợ tốt nhưng người học khó tự đổi góc nhìn hoặc chọn một bộ phận để quan sát kỹ. Đồng thời, học liệu và công cụ ôn tập còn rời rạc. Nhóm muốn đưa các hoạt động này vào một website để học sinh tự ôn thuận tiện hơn. Đây là nhu cầu thiết kế của đề tài, không phải kết luận đã khảo sát toàn bộ thị trường.</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2</a:t>
            </a:fld>
            <a:endParaRPr lang="en-US"/>
          </a:p>
        </p:txBody>
      </p:sp>
    </p:spTree>
    <p:extLst>
      <p:ext uri="{BB962C8B-B14F-4D97-AF65-F5344CB8AC3E}">
        <p14:creationId xmlns:p14="http://schemas.microsoft.com/office/powerpoint/2010/main" val="445054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Giải pháp của nhóm là kết nối ba hoạt động: học kiến thức, quan sát mô hình và luyện tập có phản hồi. Giáo viên có thể trình chiếu mô hình, còn học sinh dùng để xem trước hoặc ôn lại. Tính đóng góp được trình bày ở cách tích hợp và điều khiển mô hình theo bước trong bối cảnh GDQP-AN. Nhóm chưa khẳng định đây là sản phẩm đầu tiên hay duy nhất trên thị trường.</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3</a:t>
            </a:fld>
            <a:endParaRPr lang="en-US"/>
          </a:p>
        </p:txBody>
      </p:sp>
    </p:spTree>
    <p:extLst>
      <p:ext uri="{BB962C8B-B14F-4D97-AF65-F5344CB8AC3E}">
        <p14:creationId xmlns:p14="http://schemas.microsoft.com/office/powerpoint/2010/main" val="3135853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Sản phẩm được báo cáo là 12 mô-đun người học. Em gom thành bốn nhóm để dễ theo dõi: học và luyện kiến thức; quan sát mô phỏng; AI hỗ trợ; khám phá và phản hồi. Trong bảng kỹ thuật, phần kỹ năng và thao trường 3D được tách riêng nên có 13 phân hệ. Hai con số là hai cách phân loại, không phải hai quy mô khác nhau. Trang chủ và các màn hình quản trị không được tính thành mô-đun người học ở đây.</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4</a:t>
            </a:fld>
            <a:endParaRPr lang="en-US"/>
          </a:p>
        </p:txBody>
      </p:sp>
    </p:spTree>
    <p:extLst>
      <p:ext uri="{BB962C8B-B14F-4D97-AF65-F5344CB8AC3E}">
        <p14:creationId xmlns:p14="http://schemas.microsoft.com/office/powerpoint/2010/main" val="3277590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Nhóm học tập có 31 bài lý thuyết và 144 câu quiz nhanh, chia đều 48 câu cho mỗi khối. Kho thi gồm 120 câu trắc nghiệm, 30 cụm Đúng/Sai và 18 câu tự luận. Học sinh chọn khối, làm bài và xem phản hồi để ôn lại. Cần phân biệt kho câu hỏi với số câu trong một đề. Điểm tự luận hiện chỉ mang tính gợi ý; API lưu bài thi chưa có trên Worker công khai theo báo cáo.</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5</a:t>
            </a:fld>
            <a:endParaRPr lang="en-US"/>
          </a:p>
        </p:txBody>
      </p:sp>
    </p:spTree>
    <p:extLst>
      <p:ext uri="{BB962C8B-B14F-4D97-AF65-F5344CB8AC3E}">
        <p14:creationId xmlns:p14="http://schemas.microsoft.com/office/powerpoint/2010/main" val="1372866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Phần 3D cho phép người học chủ động đổi góc nhìn và xem thao tác theo bước. Báo cáo ghi nhận 7 nhóm kỹ năng với 14 bước, kết hợp video và checklist. Thao trường thể hiện đội ngũ, vận động và địa vật; phần la bàn còn là nguyên mẫu. Với mô hình AK, hệ thống có chọn nhóm chi tiết và điều khiển trình tự tháo lắp. Đây là minh họa học tập; độ đúng chuyên môn của tư thế và trình tự vẫn cần giáo viên thẩm định.</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6</a:t>
            </a:fld>
            <a:endParaRPr lang="en-US"/>
          </a:p>
        </p:txBody>
      </p:sp>
    </p:spTree>
    <p:extLst>
      <p:ext uri="{BB962C8B-B14F-4D97-AF65-F5344CB8AC3E}">
        <p14:creationId xmlns:p14="http://schemas.microsoft.com/office/powerpoint/2010/main" val="1783763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AI Pose hiện có năm bài riêng và một chuỗi ba động tác. Người học chọn bài, cho phép dùng camera và đứng trong khung hình. Hệ thống kiểm tra dữ liệu quan sát trước khi tạo phản hồi theo tiêu chí. Chúng em công khai rằng chức năng này ở mức beta, chưa có nghiên cứu kiểm định trên mẫu người thật. Vì vậy không thể lấy điểm Pose làm điểm thực hành chính thức hoặc nói rằng AI chấm chính xác tuyệt đối.</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7</a:t>
            </a:fld>
            <a:endParaRPr lang="en-US"/>
          </a:p>
        </p:txBody>
      </p:sp>
    </p:spTree>
    <p:extLst>
      <p:ext uri="{BB962C8B-B14F-4D97-AF65-F5344CB8AC3E}">
        <p14:creationId xmlns:p14="http://schemas.microsoft.com/office/powerpoint/2010/main" val="147892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Studio và WebAR cho phép xem mô hình, tải GLB và ghép cảnh 3D lên video camera. Cần nói đúng đây là ghép hình, chưa có khả năng nhận mặt phẳng và neo không gian như một hệ AR hoàn chỉnh. Trường bắn là mô phỏng phục vụ học tập, có bia, ngắm, trò chơi và đồ thị minh họa. Nhóm chưa có bằng chứng để tuyên bố các kết quả này mô tả chính xác toàn bộ điều kiện bắn thật.</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8</a:t>
            </a:fld>
            <a:endParaRPr lang="en-US"/>
          </a:p>
        </p:txBody>
      </p:sp>
    </p:spTree>
    <p:extLst>
      <p:ext uri="{BB962C8B-B14F-4D97-AF65-F5344CB8AC3E}">
        <p14:creationId xmlns:p14="http://schemas.microsoft.com/office/powerpoint/2010/main" val="2338869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Ba tiện ích bổ sung gồm trợ giảng, bản đồ và gamification. Trợ giảng dùng Gemini qua Express, nhưng trên Worker công khai route chat chưa triển khai; cũng chưa có truy hồi bài học hoặc PDF để trích dẫn. Bản đồ có sáu di tích và tour. Gamification có cấp bậc, huy hiệu và XP cục bộ, nhưng bảng xếp hạng vẫn là dữ liệu mẫu. Các giới hạn này cần nói rõ khi demo.</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9</a:t>
            </a:fld>
            <a:endParaRPr lang="en-US"/>
          </a:p>
        </p:txBody>
      </p:sp>
    </p:spTree>
    <p:extLst>
      <p:ext uri="{BB962C8B-B14F-4D97-AF65-F5344CB8AC3E}">
        <p14:creationId xmlns:p14="http://schemas.microsoft.com/office/powerpoint/2010/main" val="2248537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Khảo sát là một chức năng của hệ thống, tách biểu mẫu học sinh và giáo viên. Quản trị viên có thể ghép hai phản hồi của cùng người trước và sau trải nghiệm, lọc theo khối và xuất báo cáo. Phần này giúp nhóm thu thập góp ý và thống kê mô tả. Các con số kết quả ở phần sau được lấy theo mốc ngày 21 tháng 9 năm 2026 trong báo cáo, không được coi là số người dùng trực tuyến hiện tại.</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10</a:t>
            </a:fld>
            <a:endParaRPr lang="en-US"/>
          </a:p>
        </p:txBody>
      </p:sp>
    </p:spTree>
    <p:extLst>
      <p:ext uri="{BB962C8B-B14F-4D97-AF65-F5344CB8AC3E}">
        <p14:creationId xmlns:p14="http://schemas.microsoft.com/office/powerpoint/2010/main" val="4128756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Nhóm chia hệ thống thành bốn lớp. Lớp giao diện nhận thao tác của học sinh. Lớp học tập xử lý bài học và câu hỏi. Lớp 3D và Pose hiển thị mô hình hoặc phân tích các mốc cơ thể. Lớp dịch vụ lưu dữ liệu và gọi AI. Việc chia như vậy giúp giải thích mỗi công nghệ làm nhiệm vụ gì. Hiện Express và Worker có mức hỗ trợ khác nhau, nên khi demo phải chọn đúng môi trường.</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11</a:t>
            </a:fld>
            <a:endParaRPr lang="en-US"/>
          </a:p>
        </p:txBody>
      </p:sp>
    </p:spTree>
    <p:extLst>
      <p:ext uri="{BB962C8B-B14F-4D97-AF65-F5344CB8AC3E}">
        <p14:creationId xmlns:p14="http://schemas.microsoft.com/office/powerpoint/2010/main" val="37256719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Ngôn ngữ chính của website là TypeScript và JavaScript. React là thư viện giao diện, còn Vite là công cụ đóng gói. Blender và script Python hỗ trợ tài nguyên 3D; GLB là định dạng tệp chứ không phải ngôn ngữ. MediaPipe nhận các mốc cơ thể, còn Gemini phục vụ AI tạo sinh. C++ được biên dịch sang WebAssembly cho một số tính toán, có JavaScript dự phòng. Không nên nói nhóm tự huấn luyện mô hình AI vì báo cáo không chứng minh điều đó.</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12</a:t>
            </a:fld>
            <a:endParaRPr lang="en-US"/>
          </a:p>
        </p:txBody>
      </p:sp>
    </p:spTree>
    <p:extLst>
      <p:ext uri="{BB962C8B-B14F-4D97-AF65-F5344CB8AC3E}">
        <p14:creationId xmlns:p14="http://schemas.microsoft.com/office/powerpoint/2010/main" val="32240406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Quy trình 3D đi từ mô hình trong Blender đến rig và clip hoạt ảnh, sau đó xuất GLB để dùng trên web. Three.js và các thư viện hỗ trợ nạp tệp, phát clip và điều khiển camera. Trình tự tháo lắp được điều khiển bằng timeline, có chạy ngược; việc chọn chi tiết dùng raycasting và tính vùng bao để camera tập trung. Báo cáo ghi nhận 14 tệp GLB nhưng chỉ 12 tệp được runtime tham chiếu, nên không nói tất cả 14 đều đang được sử dụng.</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13</a:t>
            </a:fld>
            <a:endParaRPr lang="en-US"/>
          </a:p>
        </p:txBody>
      </p:sp>
    </p:spTree>
    <p:extLst>
      <p:ext uri="{BB962C8B-B14F-4D97-AF65-F5344CB8AC3E}">
        <p14:creationId xmlns:p14="http://schemas.microsoft.com/office/powerpoint/2010/main" val="829885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AI Pose gồm hai phần cần phân biệt. MediaPipe là mô hình có sẵn giúp nhận 33 mốc cơ thể từ ảnh. Sau đó mã của hệ thống lọc chất lượng, tính đặc trưng hình học và so với rubric để đưa điểm và góp ý. Vì vậy độ tin cậy phụ thuộc cả việc nhìn thấy cơ thể và bộ tiêu chí. Báo cáo chưa có kiểm định người thật; các test tự động không thể thay thế cho việc đối chiếu với giáo viên và nhiều điều kiện camera.</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14</a:t>
            </a:fld>
            <a:endParaRPr lang="en-US"/>
          </a:p>
        </p:txBody>
      </p:sp>
    </p:spTree>
    <p:extLst>
      <p:ext uri="{BB962C8B-B14F-4D97-AF65-F5344CB8AC3E}">
        <p14:creationId xmlns:p14="http://schemas.microsoft.com/office/powerpoint/2010/main" val="180000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Có ba nơi xử lý dữ liệu. Trình duyệt hiển thị 3D, phân tích Pose và lưu tiến độ cục bộ. Worker và D1 phục vụ tài khoản cùng khảo sát trên bản công khai. Express có thêm API chatbot và bài thi. Chatbot gửi câu hỏi tới backend để gọi Gemini khi có khóa cấu hình; chưa có hệ truy hồi bài học hoặc PDF. Xóa dữ liệu trình duyệt có thể làm mất tiến độ cục bộ. Đây là lý do nhóm cần tiếp tục hợp nhất backend và đồng bộ dữ liệu.</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15</a:t>
            </a:fld>
            <a:endParaRPr lang="en-US"/>
          </a:p>
        </p:txBody>
      </p:sp>
    </p:spTree>
    <p:extLst>
      <p:ext uri="{BB962C8B-B14F-4D97-AF65-F5344CB8AC3E}">
        <p14:creationId xmlns:p14="http://schemas.microsoft.com/office/powerpoint/2010/main" val="1923057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Báo cáo ghi nhận type-check đạt và 136 trên 136 ca kiểm thử trong 23 tệp. Các kiểm tra bao phủ một số logic như API thi, vòng đời chức năng, vật lý và pipeline Pose. Ngoài ra nhóm kiểm kê dữ liệu cùng tài nguyên. Cần diễn giải đúng: kết quả này cho biết những tình huống đã viết test hoạt động như kỳ vọng, không có nghĩa phần mềm không còn lỗi hoặc AI đã được chứng minh chính xác trên người thật.</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16</a:t>
            </a:fld>
            <a:endParaRPr lang="en-US"/>
          </a:p>
        </p:txBody>
      </p:sp>
    </p:spTree>
    <p:extLst>
      <p:ext uri="{BB962C8B-B14F-4D97-AF65-F5344CB8AC3E}">
        <p14:creationId xmlns:p14="http://schemas.microsoft.com/office/powerpoint/2010/main" val="11617218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Theo dữ liệu ngày 21 tháng 9, có 47 phản hồi, trong đó 45 của học sinh và 2 của giáo viên. Với 20 cặp học sinh trước và sau, điểm trung bình bốn tiêu chí tự đánh giá tăng từ 2,69 lên 4,08 trên 5, tương ứng khoảng 51,7 phần trăm. Đây là điểm Likert về trải nghiệm, không phải điểm kiểm tra kiến thức. Vì chưa có nhóm đối chứng, chúng em chỉ ghi nhận tín hiệu ban đầu và chưa kết luận website gây ra mức cải thiện đó.</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17</a:t>
            </a:fld>
            <a:endParaRPr lang="en-US"/>
          </a:p>
        </p:txBody>
      </p:sp>
    </p:spTree>
    <p:extLst>
      <p:ext uri="{BB962C8B-B14F-4D97-AF65-F5344CB8AC3E}">
        <p14:creationId xmlns:p14="http://schemas.microsoft.com/office/powerpoint/2010/main" val="3480790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Bước tiếp theo của nhóm có bốn ưu tiên. Trước hết cần giáo viên thẩm định nội dung và tiêu chí. Tiếp theo là kiểm định Pose trên người thật. Về phần mềm, nhóm cần hợp nhất backend, đồng bộ tiến độ và tối ưu thiết bị. Về nghiên cứu, cần mở rộng mẫu và có nhóm đối chứng. WebXR và truy hồi nguồn cho chatbot là hướng phát triển, chưa được trình bày như chức năng đã hoàn thành.</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18</a:t>
            </a:fld>
            <a:endParaRPr lang="en-US"/>
          </a:p>
        </p:txBody>
      </p:sp>
    </p:spTree>
    <p:extLst>
      <p:ext uri="{BB962C8B-B14F-4D97-AF65-F5344CB8AC3E}">
        <p14:creationId xmlns:p14="http://schemas.microsoft.com/office/powerpoint/2010/main" val="1359206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Chúng em chọn đề tài từ nhu cầu quan sát và tự học GDQP-AN, triển khai các chức năng học liệu, luyện tập, 3D và AI trên nền tảng web. Giá trị hiện tại nằm ở nguyên mẫu tích hợp với quy mô dữ liệu và giới hạn được nêu rõ. Nhóm mong tiếp tục được giáo viên hỗ trợ thẩm định và tổ chức thực nghiệm. Chúng em xin cảm ơn Ban giám khảo và sẵn sàng trình bày demo, giải thích kỹ thuật cũng như những phần đang hoàn thiện. QR và địa chỉ được giữ theo báo cáo, chưa xác minh khả dụng trực tuyến trong lần dựng slide này.</a:t>
            </a:r>
            <a:endParaRPr lang="en-US"/>
          </a:p>
        </p:txBody>
      </p:sp>
      <p:sp>
        <p:nvSpPr>
          <p:cNvPr id="4" name="Slide Number Placeholder 3"/>
          <p:cNvSpPr>
            <a:spLocks noGrp="1"/>
          </p:cNvSpPr>
          <p:nvPr>
            <p:ph type="sldNum" sz="quarter" idx="5"/>
          </p:nvPr>
        </p:nvSpPr>
        <p:spPr/>
        <p:txBody>
          <a:bodyPr/>
          <a:lstStyle/>
          <a:p>
            <a:fld id="{FCB71C5E-96DA-435E-9436-4B6A96499953}" type="slidenum">
              <a:rPr lang="en-US" smtClean="0"/>
              <a:t>19</a:t>
            </a:fld>
            <a:endParaRPr lang="en-US"/>
          </a:p>
        </p:txBody>
      </p:sp>
    </p:spTree>
    <p:extLst>
      <p:ext uri="{BB962C8B-B14F-4D97-AF65-F5344CB8AC3E}">
        <p14:creationId xmlns:p14="http://schemas.microsoft.com/office/powerpoint/2010/main" val="3463981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41678-9076-3129-C2C9-D59DD6CC4B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80416A-9C0F-3872-2FA0-0113B9CAEA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7F9255-CB88-CE0D-4B4A-2E9859EB3A16}"/>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3F64B5CC-ABCF-B407-5848-F9F5A44566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127538-9EA1-F47E-1434-1F31F3BFB2E8}"/>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3417560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AD549-59A3-7E89-839C-7C06D562E2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D53363-52B2-9959-D7B2-36A6ACF460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6D471C-CD07-142A-D9AC-91650C114F8F}"/>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8F232248-F5A5-35B0-984D-58369B9B3A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87A6AD-F5ED-3EBB-0C02-B0F79B23EC46}"/>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1032526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D2FC3-2D5D-F7F5-7151-64A9EA7F90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F2D20A-CF4E-543A-EC97-540F32864A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C378F9-B814-0A45-6949-7D145CDB3E67}"/>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75333ABF-7AC9-3085-3643-6BED7F61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5BE4A-CEBD-268F-FD2E-C6E4F603BB06}"/>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358878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BF9E5-439F-83DC-1DD7-69E270EA67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5D0592-5F8A-E87E-3106-96A262FDFF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E477AB5-145B-6856-0C7C-68F0C926FB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CD8C766-D099-1065-0582-A5186F26BE4F}"/>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6" name="Footer Placeholder 5">
            <a:extLst>
              <a:ext uri="{FF2B5EF4-FFF2-40B4-BE49-F238E27FC236}">
                <a16:creationId xmlns:a16="http://schemas.microsoft.com/office/drawing/2014/main" id="{246071D5-9AB9-794B-CBE0-C8EFF92DBD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A59407-AE44-403E-88B3-440F182C4E88}"/>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428356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BAA0F-6EDE-8EC1-A32D-63734476EF0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4C192E6-3E84-EB94-066F-720AAE234D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7BBCB0-217E-2FE5-2067-5AD26BF127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95B54B-0589-AEC4-4069-99690F4CEF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A247CE-2E86-556C-BF09-E13FEB712F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59561E-8F84-BA57-A809-FFE2C244FFB9}"/>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8" name="Footer Placeholder 7">
            <a:extLst>
              <a:ext uri="{FF2B5EF4-FFF2-40B4-BE49-F238E27FC236}">
                <a16:creationId xmlns:a16="http://schemas.microsoft.com/office/drawing/2014/main" id="{FA34477A-43A6-AF8B-00F5-D83821CCA6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9DD730-AC0D-4BFF-3FA0-4204D74EFCB5}"/>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4254628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7DC08-D43C-9709-4EE5-FE9655794D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0EB023-4960-7BCE-042F-B08760077391}"/>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4" name="Footer Placeholder 3">
            <a:extLst>
              <a:ext uri="{FF2B5EF4-FFF2-40B4-BE49-F238E27FC236}">
                <a16:creationId xmlns:a16="http://schemas.microsoft.com/office/drawing/2014/main" id="{9A0EFBDC-C440-C8EF-8DFA-117113092B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24C8CB-39D4-817D-461C-48B29382CB5D}"/>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543501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83590B-342F-099A-EA5D-6346259BEBF0}"/>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3" name="Footer Placeholder 2">
            <a:extLst>
              <a:ext uri="{FF2B5EF4-FFF2-40B4-BE49-F238E27FC236}">
                <a16:creationId xmlns:a16="http://schemas.microsoft.com/office/drawing/2014/main" id="{0F21FEFD-746D-9507-1F86-DBCEF99454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8DA8ED-AF45-7D3E-C6A8-82A64D948EA2}"/>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1644005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B44CD-F5C4-421D-2A58-DE9C32299E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25DF42-F4CC-B34F-EEBC-A7F1F1555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46ED3A-3030-9EA0-7954-4286C8712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1ECD81-F305-7346-6254-461B9EA148AC}"/>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6" name="Footer Placeholder 5">
            <a:extLst>
              <a:ext uri="{FF2B5EF4-FFF2-40B4-BE49-F238E27FC236}">
                <a16:creationId xmlns:a16="http://schemas.microsoft.com/office/drawing/2014/main" id="{D4334519-0E1C-0B8A-63DD-E851C347A2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5E3913-9143-36A9-17D8-18F1F7BD0B5A}"/>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2882759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0FA03-BF5F-802E-D1CA-2FC917E457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88008A9-D2B4-EDE5-4FAD-91BAC901AB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40E149-DADA-BBA2-5112-6FB4ACF719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B1DCC7-773A-2D61-0640-AEAC70C227B3}"/>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6" name="Footer Placeholder 5">
            <a:extLst>
              <a:ext uri="{FF2B5EF4-FFF2-40B4-BE49-F238E27FC236}">
                <a16:creationId xmlns:a16="http://schemas.microsoft.com/office/drawing/2014/main" id="{EA0A5DB6-EDA0-7102-8253-3257CE7375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2F19C7-6117-C86D-5CE5-B0C84F2EDB28}"/>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673248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77ED6-ECC2-A784-C5D5-05B042555B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337FD6-73D8-1973-B124-6031627CC7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675CAC-0875-ED70-0C9D-58A3254AFBF3}"/>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E7D98736-F46F-0D52-511B-8CE02E607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D93A55-3998-C11B-1E61-6DBB8D5CF226}"/>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446835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4A4EA7-B528-8EEA-08D6-5821061F15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F64795-87C3-C71E-14DA-69A323A9FE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8DD073-320C-0A8B-E463-F42193A941EA}"/>
              </a:ext>
            </a:extLst>
          </p:cNvPr>
          <p:cNvSpPr>
            <a:spLocks noGrp="1"/>
          </p:cNvSpPr>
          <p:nvPr>
            <p:ph type="dt" sz="half" idx="10"/>
          </p:nvPr>
        </p:nvSpPr>
        <p:spPr/>
        <p:txBody>
          <a:body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4171ACD4-58E6-C9FF-5753-C64D942B85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553C-778E-543D-C340-50BB8C0B4471}"/>
              </a:ext>
            </a:extLst>
          </p:cNvPr>
          <p:cNvSpPr>
            <a:spLocks noGrp="1"/>
          </p:cNvSpPr>
          <p:nvPr>
            <p:ph type="sldNum" sz="quarter" idx="12"/>
          </p:nvPr>
        </p:nvSpPr>
        <p:spPr/>
        <p:txBody>
          <a:bodyPr/>
          <a:lstStyle/>
          <a:p>
            <a:fld id="{228A6A43-6C90-4094-9C05-030474563C27}" type="slidenum">
              <a:rPr lang="en-US" smtClean="0"/>
              <a:t>‹#›</a:t>
            </a:fld>
            <a:endParaRPr lang="en-US"/>
          </a:p>
        </p:txBody>
      </p:sp>
    </p:spTree>
    <p:extLst>
      <p:ext uri="{BB962C8B-B14F-4D97-AF65-F5344CB8AC3E}">
        <p14:creationId xmlns:p14="http://schemas.microsoft.com/office/powerpoint/2010/main" val="697190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BA87BF-8433-859F-B96D-1F0B377262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CDC5BC-6A5C-12C2-8FD8-67D6C84EE4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692C89-E0A0-73A4-FE05-9B33880B28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D86D3C-7773-4206-AB1B-F45A0F7B3902}" type="datetimeFigureOut">
              <a:rPr lang="en-US" smtClean="0"/>
              <a:t>9/27/2026</a:t>
            </a:fld>
            <a:endParaRPr lang="en-US"/>
          </a:p>
        </p:txBody>
      </p:sp>
      <p:sp>
        <p:nvSpPr>
          <p:cNvPr id="5" name="Footer Placeholder 4">
            <a:extLst>
              <a:ext uri="{FF2B5EF4-FFF2-40B4-BE49-F238E27FC236}">
                <a16:creationId xmlns:a16="http://schemas.microsoft.com/office/drawing/2014/main" id="{8734BB41-953E-AA81-831D-2F66C9E2B9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84BB1C-A6CA-D231-0AFF-92E9D362AB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8A6A43-6C90-4094-9C05-030474563C27}" type="slidenum">
              <a:rPr lang="en-US" smtClean="0"/>
              <a:t>‹#›</a:t>
            </a:fld>
            <a:endParaRPr lang="en-US"/>
          </a:p>
        </p:txBody>
      </p:sp>
    </p:spTree>
    <p:extLst>
      <p:ext uri="{BB962C8B-B14F-4D97-AF65-F5344CB8AC3E}">
        <p14:creationId xmlns:p14="http://schemas.microsoft.com/office/powerpoint/2010/main" val="1567118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C638A0-2F03-9BC0-7255-5D62F00D020B}"/>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F0C7ACA-1149-E93F-72C8-73FE7B37C2A5}"/>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F2B632"/>
                </a:solidFill>
                <a:latin typeface="Arial" panose="020B0604020202020204" pitchFamily="34" charset="0"/>
              </a:rPr>
              <a:t>ĐỀ TÀI NGHIÊN CỨU KHOA HỌC KỸ THUẬT • 2026</a:t>
            </a:r>
          </a:p>
        </p:txBody>
      </p:sp>
      <p:sp>
        <p:nvSpPr>
          <p:cNvPr id="4" name="TextBox 3">
            <a:extLst>
              <a:ext uri="{FF2B5EF4-FFF2-40B4-BE49-F238E27FC236}">
                <a16:creationId xmlns:a16="http://schemas.microsoft.com/office/drawing/2014/main" id="{4CC46322-7AC5-A3AB-7D4D-D271E0648841}"/>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FFFFFF"/>
                </a:solidFill>
                <a:latin typeface="Arial" panose="020B0604020202020204" pitchFamily="34" charset="0"/>
              </a:rPr>
              <a:t>HỌC QPAN 3D</a:t>
            </a:r>
          </a:p>
        </p:txBody>
      </p:sp>
      <p:sp>
        <p:nvSpPr>
          <p:cNvPr id="5" name="TextBox 4">
            <a:extLst>
              <a:ext uri="{FF2B5EF4-FFF2-40B4-BE49-F238E27FC236}">
                <a16:creationId xmlns:a16="http://schemas.microsoft.com/office/drawing/2014/main" id="{CBE3D278-E733-3862-A8B2-A205A76D2888}"/>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B7C5D6"/>
                </a:solidFill>
                <a:latin typeface="Arial" panose="020B0604020202020204" pitchFamily="34" charset="0"/>
              </a:rPr>
              <a:t>Website hỗ trợ học tập lý thuyết và thực hành môn GDQP-AN</a:t>
            </a:r>
          </a:p>
        </p:txBody>
      </p:sp>
      <p:sp>
        <p:nvSpPr>
          <p:cNvPr id="6" name="Rectangle 5">
            <a:extLst>
              <a:ext uri="{FF2B5EF4-FFF2-40B4-BE49-F238E27FC236}">
                <a16:creationId xmlns:a16="http://schemas.microsoft.com/office/drawing/2014/main" id="{C8621DE3-85CE-1CAF-E085-E46A553C911A}"/>
              </a:ext>
            </a:extLst>
          </p:cNvPr>
          <p:cNvSpPr/>
          <p:nvPr/>
        </p:nvSpPr>
        <p:spPr>
          <a:xfrm>
            <a:off x="457200" y="6413500"/>
            <a:ext cx="11277600" cy="12700"/>
          </a:xfrm>
          <a:prstGeom prst="rect">
            <a:avLst/>
          </a:prstGeom>
          <a:solidFill>
            <a:srgbClr val="3142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F2DBD8-DC0C-F1E7-5499-70EE365159D8}"/>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B7C5D6"/>
                </a:solidFill>
                <a:latin typeface="Arial" panose="020B0604020202020204" pitchFamily="34" charset="0"/>
              </a:rPr>
              <a:t>HỌC QPAN 3D  •  Dựa trên báo cáo DOCX do nhóm cung cấp</a:t>
            </a:r>
          </a:p>
        </p:txBody>
      </p:sp>
      <p:sp>
        <p:nvSpPr>
          <p:cNvPr id="8" name="TextBox 7">
            <a:extLst>
              <a:ext uri="{FF2B5EF4-FFF2-40B4-BE49-F238E27FC236}">
                <a16:creationId xmlns:a16="http://schemas.microsoft.com/office/drawing/2014/main" id="{3B6912F3-F211-748D-8491-2CFB9D91CA25}"/>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F2B632"/>
                </a:solidFill>
                <a:latin typeface="Arial" panose="020B0604020202020204" pitchFamily="34" charset="0"/>
              </a:rPr>
              <a:t>01</a:t>
            </a:r>
          </a:p>
        </p:txBody>
      </p:sp>
      <p:sp>
        <p:nvSpPr>
          <p:cNvPr id="9" name="TextBox 8">
            <a:extLst>
              <a:ext uri="{FF2B5EF4-FFF2-40B4-BE49-F238E27FC236}">
                <a16:creationId xmlns:a16="http://schemas.microsoft.com/office/drawing/2014/main" id="{CD98152E-378F-5FBB-0B0A-42ABE6D939B2}"/>
              </a:ext>
            </a:extLst>
          </p:cNvPr>
          <p:cNvSpPr txBox="1"/>
          <p:nvPr/>
        </p:nvSpPr>
        <p:spPr>
          <a:xfrm>
            <a:off x="457200" y="2209800"/>
            <a:ext cx="5969000" cy="415498"/>
          </a:xfrm>
          <a:prstGeom prst="rect">
            <a:avLst/>
          </a:prstGeom>
          <a:noFill/>
        </p:spPr>
        <p:txBody>
          <a:bodyPr vert="horz" wrap="square" lIns="0" tIns="0" rIns="0" bIns="0" rtlCol="0">
            <a:spAutoFit/>
          </a:bodyPr>
          <a:lstStyle/>
          <a:p>
            <a:pPr>
              <a:spcAft>
                <a:spcPts val="800"/>
              </a:spcAft>
            </a:pPr>
            <a:r>
              <a:rPr lang="en-US" sz="2700" b="1">
                <a:solidFill>
                  <a:srgbClr val="FFFFFF"/>
                </a:solidFill>
                <a:latin typeface="Arial" panose="020B0604020202020204" pitchFamily="34" charset="0"/>
              </a:rPr>
              <a:t>Ứng dụng tái tạo 3D và AI tạo sinh</a:t>
            </a:r>
          </a:p>
        </p:txBody>
      </p:sp>
      <p:sp>
        <p:nvSpPr>
          <p:cNvPr id="10" name="TextBox 9">
            <a:extLst>
              <a:ext uri="{FF2B5EF4-FFF2-40B4-BE49-F238E27FC236}">
                <a16:creationId xmlns:a16="http://schemas.microsoft.com/office/drawing/2014/main" id="{F7745C00-CAA8-7694-90BA-586F4E4BD0C9}"/>
              </a:ext>
            </a:extLst>
          </p:cNvPr>
          <p:cNvSpPr txBox="1"/>
          <p:nvPr/>
        </p:nvSpPr>
        <p:spPr>
          <a:xfrm>
            <a:off x="457200" y="3416300"/>
            <a:ext cx="5969000" cy="1082348"/>
          </a:xfrm>
          <a:prstGeom prst="rect">
            <a:avLst/>
          </a:prstGeom>
          <a:noFill/>
        </p:spPr>
        <p:txBody>
          <a:bodyPr vert="horz" wrap="square" lIns="0" tIns="0" rIns="0" bIns="0" rtlCol="0">
            <a:spAutoFit/>
          </a:bodyPr>
          <a:lstStyle/>
          <a:p>
            <a:pPr>
              <a:spcAft>
                <a:spcPts val="800"/>
              </a:spcAft>
            </a:pPr>
            <a:r>
              <a:rPr lang="vi-VN" sz="1900">
                <a:solidFill>
                  <a:srgbClr val="C9D5E2"/>
                </a:solidFill>
                <a:latin typeface="Arial" panose="020B0604020202020204" pitchFamily="34" charset="0"/>
              </a:rPr>
              <a:t>Lê Trọng Phúc • 12C3
Nguyễn Anh Khôi • 12C7
Trường TH–THCS–THPT Tân Phú</a:t>
            </a:r>
            <a:endParaRPr lang="en-US" sz="1900">
              <a:solidFill>
                <a:srgbClr val="C9D5E2"/>
              </a:solidFill>
              <a:latin typeface="Arial" panose="020B0604020202020204" pitchFamily="34" charset="0"/>
            </a:endParaRPr>
          </a:p>
        </p:txBody>
      </p:sp>
      <p:pic>
        <p:nvPicPr>
          <p:cNvPr id="12" name="Picture 11">
            <a:extLst>
              <a:ext uri="{FF2B5EF4-FFF2-40B4-BE49-F238E27FC236}">
                <a16:creationId xmlns:a16="http://schemas.microsoft.com/office/drawing/2014/main" id="{945E1684-7450-EC0D-EA5A-4C148F5898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705600" y="2451339"/>
            <a:ext cx="5029200" cy="2539523"/>
          </a:xfrm>
          <a:prstGeom prst="rect">
            <a:avLst/>
          </a:prstGeom>
        </p:spPr>
      </p:pic>
      <p:sp>
        <p:nvSpPr>
          <p:cNvPr id="13" name="TextBox 12">
            <a:extLst>
              <a:ext uri="{FF2B5EF4-FFF2-40B4-BE49-F238E27FC236}">
                <a16:creationId xmlns:a16="http://schemas.microsoft.com/office/drawing/2014/main" id="{A1C4B7EB-BC4B-732C-CB57-36649F58754D}"/>
              </a:ext>
            </a:extLst>
          </p:cNvPr>
          <p:cNvSpPr txBox="1"/>
          <p:nvPr/>
        </p:nvSpPr>
        <p:spPr>
          <a:xfrm>
            <a:off x="6781800" y="5245100"/>
            <a:ext cx="4953000" cy="169277"/>
          </a:xfrm>
          <a:prstGeom prst="rect">
            <a:avLst/>
          </a:prstGeom>
          <a:noFill/>
        </p:spPr>
        <p:txBody>
          <a:bodyPr vert="horz" wrap="square" lIns="0" tIns="0" rIns="0" bIns="0" rtlCol="0">
            <a:spAutoFit/>
          </a:bodyPr>
          <a:lstStyle/>
          <a:p>
            <a:pPr>
              <a:spcAft>
                <a:spcPts val="800"/>
              </a:spcAft>
            </a:pPr>
            <a:r>
              <a:rPr lang="en-US" sz="1100">
                <a:solidFill>
                  <a:srgbClr val="B7C5D6"/>
                </a:solidFill>
                <a:latin typeface="Arial" panose="020B0604020202020204" pitchFamily="34" charset="0"/>
              </a:rPr>
              <a:t>Ảnh giao diện sản phẩm trong báo cáo</a:t>
            </a:r>
          </a:p>
        </p:txBody>
      </p:sp>
      <p:sp>
        <p:nvSpPr>
          <p:cNvPr id="14" name="Rectangle 13">
            <a:extLst>
              <a:ext uri="{FF2B5EF4-FFF2-40B4-BE49-F238E27FC236}">
                <a16:creationId xmlns:a16="http://schemas.microsoft.com/office/drawing/2014/main" id="{A111A297-EA8C-E413-10F7-EB67636B8DB6}"/>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C14B535-F8BE-A8D0-E481-4998D25CA508}"/>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F2B632"/>
                </a:solidFill>
                <a:latin typeface="Arial" panose="020B0604020202020204" pitchFamily="34" charset="0"/>
              </a:rPr>
              <a:t>01  Lý do chọn đề tài     →     02  Chức năng sản phẩm     →     03  Kỹ thuật thực hiện</a:t>
            </a:r>
          </a:p>
        </p:txBody>
      </p:sp>
    </p:spTree>
    <p:extLst>
      <p:ext uri="{BB962C8B-B14F-4D97-AF65-F5344CB8AC3E}">
        <p14:creationId xmlns:p14="http://schemas.microsoft.com/office/powerpoint/2010/main" val="1222157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8A2B31-037F-9D4B-ABBB-33C709092E52}"/>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9AFEAE-7972-0DD8-E479-942C531D28D1}"/>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01 / LÝ DO CHỌN ĐỀ TÀI</a:t>
            </a:r>
          </a:p>
        </p:txBody>
      </p:sp>
      <p:sp>
        <p:nvSpPr>
          <p:cNvPr id="4" name="TextBox 3">
            <a:extLst>
              <a:ext uri="{FF2B5EF4-FFF2-40B4-BE49-F238E27FC236}">
                <a16:creationId xmlns:a16="http://schemas.microsoft.com/office/drawing/2014/main" id="{8FB9057D-6F34-1C53-40B8-9F570E9B299A}"/>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32238"/>
                </a:solidFill>
                <a:latin typeface="Arial" panose="020B0604020202020204" pitchFamily="34" charset="0"/>
              </a:rPr>
              <a:t>Từ nhu cầu quan sát đến nhu cầu tự học</a:t>
            </a:r>
          </a:p>
        </p:txBody>
      </p:sp>
      <p:sp>
        <p:nvSpPr>
          <p:cNvPr id="5" name="TextBox 4">
            <a:extLst>
              <a:ext uri="{FF2B5EF4-FFF2-40B4-BE49-F238E27FC236}">
                <a16:creationId xmlns:a16="http://schemas.microsoft.com/office/drawing/2014/main" id="{80907AEC-F25A-514B-99D9-DB307730F81C}"/>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GDQP-AN kết hợp kiến thức lý thuyết với nội dung thực hành theo trình tự.</a:t>
            </a:r>
          </a:p>
        </p:txBody>
      </p:sp>
      <p:sp>
        <p:nvSpPr>
          <p:cNvPr id="6" name="Rectangle 5">
            <a:extLst>
              <a:ext uri="{FF2B5EF4-FFF2-40B4-BE49-F238E27FC236}">
                <a16:creationId xmlns:a16="http://schemas.microsoft.com/office/drawing/2014/main" id="{CB077444-9689-0F7A-2F73-A433C6433580}"/>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CEE8EFB-15C3-408F-9F83-3D9E93F6570E}"/>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§1.1–1.2</a:t>
            </a:r>
          </a:p>
        </p:txBody>
      </p:sp>
      <p:sp>
        <p:nvSpPr>
          <p:cNvPr id="8" name="TextBox 7">
            <a:extLst>
              <a:ext uri="{FF2B5EF4-FFF2-40B4-BE49-F238E27FC236}">
                <a16:creationId xmlns:a16="http://schemas.microsoft.com/office/drawing/2014/main" id="{1E6E1DC8-4B85-70D6-9245-9682BE8F2FB1}"/>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02</a:t>
            </a:r>
          </a:p>
        </p:txBody>
      </p:sp>
      <p:sp>
        <p:nvSpPr>
          <p:cNvPr id="9" name="Rectangle 8">
            <a:extLst>
              <a:ext uri="{FF2B5EF4-FFF2-40B4-BE49-F238E27FC236}">
                <a16:creationId xmlns:a16="http://schemas.microsoft.com/office/drawing/2014/main" id="{998C84A6-5566-028A-C3A3-469DEF340A6B}"/>
              </a:ext>
            </a:extLst>
          </p:cNvPr>
          <p:cNvSpPr/>
          <p:nvPr/>
        </p:nvSpPr>
        <p:spPr>
          <a:xfrm>
            <a:off x="457200" y="2324100"/>
            <a:ext cx="3556000" cy="3238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BDC371D-59C4-A16D-B8FA-69C42BF73352}"/>
              </a:ext>
            </a:extLst>
          </p:cNvPr>
          <p:cNvSpPr/>
          <p:nvPr/>
        </p:nvSpPr>
        <p:spPr>
          <a:xfrm>
            <a:off x="457200" y="2324100"/>
            <a:ext cx="50800" cy="32385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29EE167-D59B-A135-C7F8-BD8B04A3160E}"/>
              </a:ext>
            </a:extLst>
          </p:cNvPr>
          <p:cNvSpPr txBox="1"/>
          <p:nvPr/>
        </p:nvSpPr>
        <p:spPr>
          <a:xfrm>
            <a:off x="685800" y="25273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Khó quan sát đa góc</a:t>
            </a:r>
          </a:p>
        </p:txBody>
      </p:sp>
      <p:sp>
        <p:nvSpPr>
          <p:cNvPr id="12" name="TextBox 11">
            <a:extLst>
              <a:ext uri="{FF2B5EF4-FFF2-40B4-BE49-F238E27FC236}">
                <a16:creationId xmlns:a16="http://schemas.microsoft.com/office/drawing/2014/main" id="{81EE6934-0FEA-D8B4-FABD-5D393E5AFFF3}"/>
              </a:ext>
            </a:extLst>
          </p:cNvPr>
          <p:cNvSpPr txBox="1"/>
          <p:nvPr/>
        </p:nvSpPr>
        <p:spPr>
          <a:xfrm>
            <a:off x="685800" y="3187700"/>
            <a:ext cx="3098800" cy="1169551"/>
          </a:xfrm>
          <a:prstGeom prst="rect">
            <a:avLst/>
          </a:prstGeom>
          <a:noFill/>
        </p:spPr>
        <p:txBody>
          <a:bodyPr vert="horz" wrap="square" lIns="0" tIns="0" rIns="0" bIns="0" rtlCol="0">
            <a:spAutoFit/>
          </a:bodyPr>
          <a:lstStyle/>
          <a:p>
            <a:pPr>
              <a:spcAft>
                <a:spcPts val="800"/>
              </a:spcAft>
            </a:pPr>
            <a:r>
              <a:rPr lang="vi-VN" sz="1900">
                <a:solidFill>
                  <a:srgbClr val="132238"/>
                </a:solidFill>
                <a:latin typeface="Arial" panose="020B0604020202020204" pitchFamily="34" charset="0"/>
              </a:rPr>
              <a:t>Hình tĩnh và video khó cho người học tự chọn góc nhìn, phóng to chi tiết và xem riêng từng bước.</a:t>
            </a:r>
            <a:endParaRPr lang="en-US" sz="1900">
              <a:solidFill>
                <a:srgbClr val="132238"/>
              </a:solidFill>
              <a:latin typeface="Arial" panose="020B0604020202020204" pitchFamily="34" charset="0"/>
            </a:endParaRPr>
          </a:p>
        </p:txBody>
      </p:sp>
      <p:sp>
        <p:nvSpPr>
          <p:cNvPr id="13" name="Rectangle 12">
            <a:extLst>
              <a:ext uri="{FF2B5EF4-FFF2-40B4-BE49-F238E27FC236}">
                <a16:creationId xmlns:a16="http://schemas.microsoft.com/office/drawing/2014/main" id="{267D005F-4B78-6DB6-EE32-B00A915334F4}"/>
              </a:ext>
            </a:extLst>
          </p:cNvPr>
          <p:cNvSpPr/>
          <p:nvPr/>
        </p:nvSpPr>
        <p:spPr>
          <a:xfrm>
            <a:off x="4318000" y="2324100"/>
            <a:ext cx="3556000" cy="3238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08DC34C-DC2A-8E3A-27E0-26545EB82140}"/>
              </a:ext>
            </a:extLst>
          </p:cNvPr>
          <p:cNvSpPr/>
          <p:nvPr/>
        </p:nvSpPr>
        <p:spPr>
          <a:xfrm>
            <a:off x="4318000" y="2324100"/>
            <a:ext cx="50800" cy="32385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35D9923-25DA-8960-58D2-62F568C646CB}"/>
              </a:ext>
            </a:extLst>
          </p:cNvPr>
          <p:cNvSpPr txBox="1"/>
          <p:nvPr/>
        </p:nvSpPr>
        <p:spPr>
          <a:xfrm>
            <a:off x="4546600" y="25273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Công cụ còn rời rạc</a:t>
            </a:r>
          </a:p>
        </p:txBody>
      </p:sp>
      <p:sp>
        <p:nvSpPr>
          <p:cNvPr id="16" name="TextBox 15">
            <a:extLst>
              <a:ext uri="{FF2B5EF4-FFF2-40B4-BE49-F238E27FC236}">
                <a16:creationId xmlns:a16="http://schemas.microsoft.com/office/drawing/2014/main" id="{D9CE784A-D0B2-D8B4-90CD-CBAE234E2E64}"/>
              </a:ext>
            </a:extLst>
          </p:cNvPr>
          <p:cNvSpPr txBox="1"/>
          <p:nvPr/>
        </p:nvSpPr>
        <p:spPr>
          <a:xfrm>
            <a:off x="4546600" y="3187700"/>
            <a:ext cx="3098800" cy="877163"/>
          </a:xfrm>
          <a:prstGeom prst="rect">
            <a:avLst/>
          </a:prstGeom>
          <a:noFill/>
        </p:spPr>
        <p:txBody>
          <a:bodyPr vert="horz" wrap="square" lIns="0" tIns="0" rIns="0" bIns="0" rtlCol="0">
            <a:spAutoFit/>
          </a:bodyPr>
          <a:lstStyle/>
          <a:p>
            <a:pPr>
              <a:spcAft>
                <a:spcPts val="800"/>
              </a:spcAft>
            </a:pPr>
            <a:r>
              <a:rPr lang="vi-VN" sz="1900">
                <a:solidFill>
                  <a:srgbClr val="132238"/>
                </a:solidFill>
                <a:latin typeface="Arial" panose="020B0604020202020204" pitchFamily="34" charset="0"/>
              </a:rPr>
              <a:t>Bài học, câu hỏi, video, mô hình 3D và công cụ hỏi đáp thường nằm ở nhiều nơi.</a:t>
            </a:r>
            <a:endParaRPr lang="en-US" sz="1900">
              <a:solidFill>
                <a:srgbClr val="132238"/>
              </a:solidFill>
              <a:latin typeface="Arial" panose="020B0604020202020204" pitchFamily="34" charset="0"/>
            </a:endParaRPr>
          </a:p>
        </p:txBody>
      </p:sp>
      <p:sp>
        <p:nvSpPr>
          <p:cNvPr id="17" name="Rectangle 16">
            <a:extLst>
              <a:ext uri="{FF2B5EF4-FFF2-40B4-BE49-F238E27FC236}">
                <a16:creationId xmlns:a16="http://schemas.microsoft.com/office/drawing/2014/main" id="{D49D6573-ED82-E93F-7F73-9433F6B2EA72}"/>
              </a:ext>
            </a:extLst>
          </p:cNvPr>
          <p:cNvSpPr/>
          <p:nvPr/>
        </p:nvSpPr>
        <p:spPr>
          <a:xfrm>
            <a:off x="8178800" y="2324100"/>
            <a:ext cx="3556000" cy="3238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65A9B23-6066-40AF-693D-3817622A6BEF}"/>
              </a:ext>
            </a:extLst>
          </p:cNvPr>
          <p:cNvSpPr/>
          <p:nvPr/>
        </p:nvSpPr>
        <p:spPr>
          <a:xfrm>
            <a:off x="8178800" y="2324100"/>
            <a:ext cx="50800" cy="32385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875F483-5DE8-9829-4504-9770919C5865}"/>
              </a:ext>
            </a:extLst>
          </p:cNvPr>
          <p:cNvSpPr txBox="1"/>
          <p:nvPr/>
        </p:nvSpPr>
        <p:spPr>
          <a:xfrm>
            <a:off x="8407400" y="2527300"/>
            <a:ext cx="3098800" cy="323165"/>
          </a:xfrm>
          <a:prstGeom prst="rect">
            <a:avLst/>
          </a:prstGeom>
          <a:noFill/>
        </p:spPr>
        <p:txBody>
          <a:bodyPr vert="horz" wrap="square" lIns="0" tIns="0" rIns="0" bIns="0" rtlCol="0">
            <a:spAutoFit/>
          </a:bodyPr>
          <a:lstStyle/>
          <a:p>
            <a:pPr>
              <a:spcAft>
                <a:spcPts val="800"/>
              </a:spcAft>
            </a:pPr>
            <a:r>
              <a:rPr lang="vi-VN" sz="2100" b="1">
                <a:solidFill>
                  <a:srgbClr val="132238"/>
                </a:solidFill>
                <a:latin typeface="Arial" panose="020B0604020202020204" pitchFamily="34" charset="0"/>
              </a:rPr>
              <a:t>Cần nơi tự ôn tập</a:t>
            </a:r>
            <a:endParaRPr lang="en-US" sz="2100" b="1">
              <a:solidFill>
                <a:srgbClr val="132238"/>
              </a:solidFill>
              <a:latin typeface="Arial" panose="020B0604020202020204" pitchFamily="34" charset="0"/>
            </a:endParaRPr>
          </a:p>
        </p:txBody>
      </p:sp>
      <p:sp>
        <p:nvSpPr>
          <p:cNvPr id="20" name="TextBox 19">
            <a:extLst>
              <a:ext uri="{FF2B5EF4-FFF2-40B4-BE49-F238E27FC236}">
                <a16:creationId xmlns:a16="http://schemas.microsoft.com/office/drawing/2014/main" id="{89BD558D-A4EC-C7BA-A6FB-E44B02B0A823}"/>
              </a:ext>
            </a:extLst>
          </p:cNvPr>
          <p:cNvSpPr txBox="1"/>
          <p:nvPr/>
        </p:nvSpPr>
        <p:spPr>
          <a:xfrm>
            <a:off x="8407400" y="3187700"/>
            <a:ext cx="3098800" cy="1169551"/>
          </a:xfrm>
          <a:prstGeom prst="rect">
            <a:avLst/>
          </a:prstGeom>
          <a:noFill/>
        </p:spPr>
        <p:txBody>
          <a:bodyPr vert="horz" wrap="square" lIns="0" tIns="0" rIns="0" bIns="0" rtlCol="0">
            <a:spAutoFit/>
          </a:bodyPr>
          <a:lstStyle/>
          <a:p>
            <a:pPr>
              <a:spcAft>
                <a:spcPts val="800"/>
              </a:spcAft>
            </a:pPr>
            <a:r>
              <a:rPr lang="vi-VN" sz="1900">
                <a:solidFill>
                  <a:srgbClr val="132238"/>
                </a:solidFill>
                <a:latin typeface="Arial" panose="020B0604020202020204" pitchFamily="34" charset="0"/>
              </a:rPr>
              <a:t>Học sinh cần xem lại kiến thức và thao tác trước hoặc sau giờ học, trên thiết bị quen thuộc.</a:t>
            </a:r>
            <a:endParaRPr lang="en-US" sz="1900">
              <a:solidFill>
                <a:srgbClr val="132238"/>
              </a:solidFill>
              <a:latin typeface="Arial" panose="020B0604020202020204" pitchFamily="34" charset="0"/>
            </a:endParaRPr>
          </a:p>
        </p:txBody>
      </p:sp>
      <p:sp>
        <p:nvSpPr>
          <p:cNvPr id="21" name="Rectangle 20">
            <a:extLst>
              <a:ext uri="{FF2B5EF4-FFF2-40B4-BE49-F238E27FC236}">
                <a16:creationId xmlns:a16="http://schemas.microsoft.com/office/drawing/2014/main" id="{2C1CA9A5-1C58-EFE3-BA99-A9EFA55965A2}"/>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0F6094C-3E09-B4D5-C787-B2BDCA0AB2D3}"/>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FFFFFF"/>
                </a:solidFill>
                <a:latin typeface="Arial" panose="020B0604020202020204" pitchFamily="34" charset="0"/>
              </a:rPr>
              <a:t>Mục tiêu: tạo một luồng học thống nhất, truy cập trực tiếp trên trình duyệt.</a:t>
            </a:r>
          </a:p>
        </p:txBody>
      </p:sp>
    </p:spTree>
    <p:extLst>
      <p:ext uri="{BB962C8B-B14F-4D97-AF65-F5344CB8AC3E}">
        <p14:creationId xmlns:p14="http://schemas.microsoft.com/office/powerpoint/2010/main" val="2057683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ADC408-0E03-DA9C-D962-EF75FFF61C97}"/>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47B2A17-C1D3-9746-A92F-06E6CDDB2B7A}"/>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F2B632"/>
                </a:solidFill>
                <a:latin typeface="Arial" panose="020B0604020202020204" pitchFamily="34" charset="0"/>
              </a:rPr>
              <a:t>01 / LÝ DO CHỌN ĐỀ TÀI</a:t>
            </a:r>
          </a:p>
        </p:txBody>
      </p:sp>
      <p:sp>
        <p:nvSpPr>
          <p:cNvPr id="4" name="TextBox 3">
            <a:extLst>
              <a:ext uri="{FF2B5EF4-FFF2-40B4-BE49-F238E27FC236}">
                <a16:creationId xmlns:a16="http://schemas.microsoft.com/office/drawing/2014/main" id="{3281C2EB-4672-F076-05A4-E6173FFF79B1}"/>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FFFFFF"/>
                </a:solidFill>
                <a:latin typeface="Arial" panose="020B0604020202020204" pitchFamily="34" charset="0"/>
              </a:rPr>
              <a:t>Giải pháp: học – quan sát – luyện tập</a:t>
            </a:r>
          </a:p>
        </p:txBody>
      </p:sp>
      <p:sp>
        <p:nvSpPr>
          <p:cNvPr id="5" name="TextBox 4">
            <a:extLst>
              <a:ext uri="{FF2B5EF4-FFF2-40B4-BE49-F238E27FC236}">
                <a16:creationId xmlns:a16="http://schemas.microsoft.com/office/drawing/2014/main" id="{DB2B5119-4BCD-5ABE-D27B-F35568DF1B58}"/>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B7C5D6"/>
                </a:solidFill>
                <a:latin typeface="Arial" panose="020B0604020202020204" pitchFamily="34" charset="0"/>
              </a:rPr>
              <a:t>Đối tượng chính: học sinh THPT lớp 10–12; giáo viên dùng để minh họa và hướng dẫn.</a:t>
            </a:r>
            <a:endParaRPr lang="en-US" sz="1600">
              <a:solidFill>
                <a:srgbClr val="B7C5D6"/>
              </a:solidFill>
              <a:latin typeface="Arial" panose="020B0604020202020204" pitchFamily="34" charset="0"/>
            </a:endParaRPr>
          </a:p>
        </p:txBody>
      </p:sp>
      <p:sp>
        <p:nvSpPr>
          <p:cNvPr id="6" name="Rectangle 5">
            <a:extLst>
              <a:ext uri="{FF2B5EF4-FFF2-40B4-BE49-F238E27FC236}">
                <a16:creationId xmlns:a16="http://schemas.microsoft.com/office/drawing/2014/main" id="{2E347A46-40D9-E58D-92EB-5A1B29232AA0}"/>
              </a:ext>
            </a:extLst>
          </p:cNvPr>
          <p:cNvSpPr/>
          <p:nvPr/>
        </p:nvSpPr>
        <p:spPr>
          <a:xfrm>
            <a:off x="457200" y="6413500"/>
            <a:ext cx="11277600" cy="12700"/>
          </a:xfrm>
          <a:prstGeom prst="rect">
            <a:avLst/>
          </a:prstGeom>
          <a:solidFill>
            <a:srgbClr val="3142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513EBCB-4A4A-6ED1-7514-E5C9CCF8E069}"/>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B7C5D6"/>
                </a:solidFill>
                <a:latin typeface="Arial" panose="020B0604020202020204" pitchFamily="34" charset="0"/>
              </a:rPr>
              <a:t>HỌC QPAN 3D  •  Báo cáo §2.1–2.2; §4.4</a:t>
            </a:r>
          </a:p>
        </p:txBody>
      </p:sp>
      <p:sp>
        <p:nvSpPr>
          <p:cNvPr id="8" name="TextBox 7">
            <a:extLst>
              <a:ext uri="{FF2B5EF4-FFF2-40B4-BE49-F238E27FC236}">
                <a16:creationId xmlns:a16="http://schemas.microsoft.com/office/drawing/2014/main" id="{511558F0-4D24-CE96-335B-A579AB33E38A}"/>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F2B632"/>
                </a:solidFill>
                <a:latin typeface="Arial" panose="020B0604020202020204" pitchFamily="34" charset="0"/>
              </a:rPr>
              <a:t>03</a:t>
            </a:r>
          </a:p>
        </p:txBody>
      </p:sp>
      <p:sp>
        <p:nvSpPr>
          <p:cNvPr id="9" name="Rectangle 8">
            <a:extLst>
              <a:ext uri="{FF2B5EF4-FFF2-40B4-BE49-F238E27FC236}">
                <a16:creationId xmlns:a16="http://schemas.microsoft.com/office/drawing/2014/main" id="{B41C4713-2B6E-017D-2147-C6A4F7E798D7}"/>
              </a:ext>
            </a:extLst>
          </p:cNvPr>
          <p:cNvSpPr/>
          <p:nvPr/>
        </p:nvSpPr>
        <p:spPr>
          <a:xfrm>
            <a:off x="457200" y="2362200"/>
            <a:ext cx="3429000" cy="26035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9CF9EDD-F35F-3EBE-BA9C-331F6A8FAF4E}"/>
              </a:ext>
            </a:extLst>
          </p:cNvPr>
          <p:cNvSpPr txBox="1"/>
          <p:nvPr/>
        </p:nvSpPr>
        <p:spPr>
          <a:xfrm>
            <a:off x="635000" y="2514600"/>
            <a:ext cx="30734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01</a:t>
            </a:r>
          </a:p>
        </p:txBody>
      </p:sp>
      <p:sp>
        <p:nvSpPr>
          <p:cNvPr id="11" name="TextBox 10">
            <a:extLst>
              <a:ext uri="{FF2B5EF4-FFF2-40B4-BE49-F238E27FC236}">
                <a16:creationId xmlns:a16="http://schemas.microsoft.com/office/drawing/2014/main" id="{488DD8C9-CF96-765D-250C-6C1DD1036B34}"/>
              </a:ext>
            </a:extLst>
          </p:cNvPr>
          <p:cNvSpPr txBox="1"/>
          <p:nvPr/>
        </p:nvSpPr>
        <p:spPr>
          <a:xfrm>
            <a:off x="635000" y="3200400"/>
            <a:ext cx="30734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Học kiến thức</a:t>
            </a:r>
          </a:p>
        </p:txBody>
      </p:sp>
      <p:sp>
        <p:nvSpPr>
          <p:cNvPr id="12" name="TextBox 11">
            <a:extLst>
              <a:ext uri="{FF2B5EF4-FFF2-40B4-BE49-F238E27FC236}">
                <a16:creationId xmlns:a16="http://schemas.microsoft.com/office/drawing/2014/main" id="{8A4F6898-60B9-E5DF-54F4-7C136B463684}"/>
              </a:ext>
            </a:extLst>
          </p:cNvPr>
          <p:cNvSpPr txBox="1"/>
          <p:nvPr/>
        </p:nvSpPr>
        <p:spPr>
          <a:xfrm>
            <a:off x="635000" y="4000500"/>
            <a:ext cx="3073400" cy="492443"/>
          </a:xfrm>
          <a:prstGeom prst="rect">
            <a:avLst/>
          </a:prstGeom>
          <a:noFill/>
        </p:spPr>
        <p:txBody>
          <a:bodyPr vert="horz" wrap="square" lIns="0" tIns="0" rIns="0" bIns="0" rtlCol="0">
            <a:spAutoFit/>
          </a:bodyPr>
          <a:lstStyle/>
          <a:p>
            <a:pPr>
              <a:spcAft>
                <a:spcPts val="800"/>
              </a:spcAft>
            </a:pPr>
            <a:r>
              <a:rPr lang="en-US" sz="1600">
                <a:solidFill>
                  <a:srgbClr val="B7C5D6"/>
                </a:solidFill>
                <a:latin typeface="Arial" panose="020B0604020202020204" pitchFamily="34" charset="0"/>
              </a:rPr>
              <a:t>Chọn khối lớp, đọc bài và củng cố bằng câu hỏi.</a:t>
            </a:r>
          </a:p>
        </p:txBody>
      </p:sp>
      <p:sp>
        <p:nvSpPr>
          <p:cNvPr id="13" name="Rectangle 12">
            <a:extLst>
              <a:ext uri="{FF2B5EF4-FFF2-40B4-BE49-F238E27FC236}">
                <a16:creationId xmlns:a16="http://schemas.microsoft.com/office/drawing/2014/main" id="{68CC2458-320F-1D96-2F60-76CE77B79E00}"/>
              </a:ext>
            </a:extLst>
          </p:cNvPr>
          <p:cNvSpPr/>
          <p:nvPr/>
        </p:nvSpPr>
        <p:spPr>
          <a:xfrm>
            <a:off x="4381500" y="2362200"/>
            <a:ext cx="3429000" cy="26035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679146-375E-D25E-10FC-660335A54782}"/>
              </a:ext>
            </a:extLst>
          </p:cNvPr>
          <p:cNvSpPr txBox="1"/>
          <p:nvPr/>
        </p:nvSpPr>
        <p:spPr>
          <a:xfrm>
            <a:off x="4559300" y="2514600"/>
            <a:ext cx="30734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02</a:t>
            </a:r>
          </a:p>
        </p:txBody>
      </p:sp>
      <p:sp>
        <p:nvSpPr>
          <p:cNvPr id="15" name="TextBox 14">
            <a:extLst>
              <a:ext uri="{FF2B5EF4-FFF2-40B4-BE49-F238E27FC236}">
                <a16:creationId xmlns:a16="http://schemas.microsoft.com/office/drawing/2014/main" id="{C4C43205-0168-C327-1EEA-325AA7D1568B}"/>
              </a:ext>
            </a:extLst>
          </p:cNvPr>
          <p:cNvSpPr txBox="1"/>
          <p:nvPr/>
        </p:nvSpPr>
        <p:spPr>
          <a:xfrm>
            <a:off x="4559300" y="3200400"/>
            <a:ext cx="30734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Quan sát 3D</a:t>
            </a:r>
          </a:p>
        </p:txBody>
      </p:sp>
      <p:sp>
        <p:nvSpPr>
          <p:cNvPr id="16" name="TextBox 15">
            <a:extLst>
              <a:ext uri="{FF2B5EF4-FFF2-40B4-BE49-F238E27FC236}">
                <a16:creationId xmlns:a16="http://schemas.microsoft.com/office/drawing/2014/main" id="{B76AB282-3B54-6FDD-4AA2-A1AF7D3C7EDC}"/>
              </a:ext>
            </a:extLst>
          </p:cNvPr>
          <p:cNvSpPr txBox="1"/>
          <p:nvPr/>
        </p:nvSpPr>
        <p:spPr>
          <a:xfrm>
            <a:off x="4559300" y="4000500"/>
            <a:ext cx="3073400" cy="492443"/>
          </a:xfrm>
          <a:prstGeom prst="rect">
            <a:avLst/>
          </a:prstGeom>
          <a:noFill/>
        </p:spPr>
        <p:txBody>
          <a:bodyPr vert="horz" wrap="square" lIns="0" tIns="0" rIns="0" bIns="0" rtlCol="0">
            <a:spAutoFit/>
          </a:bodyPr>
          <a:lstStyle/>
          <a:p>
            <a:pPr>
              <a:spcAft>
                <a:spcPts val="800"/>
              </a:spcAft>
            </a:pPr>
            <a:r>
              <a:rPr lang="vi-VN" sz="1600">
                <a:solidFill>
                  <a:srgbClr val="B7C5D6"/>
                </a:solidFill>
                <a:latin typeface="Arial" panose="020B0604020202020204" pitchFamily="34" charset="0"/>
              </a:rPr>
              <a:t>Xoay mô hình, chọn chi tiết và xem thao tác theo bước.</a:t>
            </a:r>
            <a:endParaRPr lang="en-US" sz="1600">
              <a:solidFill>
                <a:srgbClr val="B7C5D6"/>
              </a:solidFill>
              <a:latin typeface="Arial" panose="020B0604020202020204" pitchFamily="34" charset="0"/>
            </a:endParaRPr>
          </a:p>
        </p:txBody>
      </p:sp>
      <p:sp>
        <p:nvSpPr>
          <p:cNvPr id="17" name="Rectangle 16">
            <a:extLst>
              <a:ext uri="{FF2B5EF4-FFF2-40B4-BE49-F238E27FC236}">
                <a16:creationId xmlns:a16="http://schemas.microsoft.com/office/drawing/2014/main" id="{EDD059C5-6CA8-4FF7-824B-6990BF7F67AB}"/>
              </a:ext>
            </a:extLst>
          </p:cNvPr>
          <p:cNvSpPr/>
          <p:nvPr/>
        </p:nvSpPr>
        <p:spPr>
          <a:xfrm>
            <a:off x="8305800" y="2362200"/>
            <a:ext cx="3429000" cy="26035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78227FA-C990-E3D8-B7E5-0F1C86BEC163}"/>
              </a:ext>
            </a:extLst>
          </p:cNvPr>
          <p:cNvSpPr txBox="1"/>
          <p:nvPr/>
        </p:nvSpPr>
        <p:spPr>
          <a:xfrm>
            <a:off x="8483600" y="2514600"/>
            <a:ext cx="30734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03</a:t>
            </a:r>
          </a:p>
        </p:txBody>
      </p:sp>
      <p:sp>
        <p:nvSpPr>
          <p:cNvPr id="19" name="TextBox 18">
            <a:extLst>
              <a:ext uri="{FF2B5EF4-FFF2-40B4-BE49-F238E27FC236}">
                <a16:creationId xmlns:a16="http://schemas.microsoft.com/office/drawing/2014/main" id="{22C4F2D6-F15F-8036-59BA-B32E61256F66}"/>
              </a:ext>
            </a:extLst>
          </p:cNvPr>
          <p:cNvSpPr txBox="1"/>
          <p:nvPr/>
        </p:nvSpPr>
        <p:spPr>
          <a:xfrm>
            <a:off x="8483600" y="3200400"/>
            <a:ext cx="30734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Luyện và phản hồi</a:t>
            </a:r>
          </a:p>
        </p:txBody>
      </p:sp>
      <p:sp>
        <p:nvSpPr>
          <p:cNvPr id="20" name="TextBox 19">
            <a:extLst>
              <a:ext uri="{FF2B5EF4-FFF2-40B4-BE49-F238E27FC236}">
                <a16:creationId xmlns:a16="http://schemas.microsoft.com/office/drawing/2014/main" id="{78A19ACF-7BF4-6B90-0F6C-C4BC4B8D3E42}"/>
              </a:ext>
            </a:extLst>
          </p:cNvPr>
          <p:cNvSpPr txBox="1"/>
          <p:nvPr/>
        </p:nvSpPr>
        <p:spPr>
          <a:xfrm>
            <a:off x="8483600" y="4000500"/>
            <a:ext cx="3073400" cy="492443"/>
          </a:xfrm>
          <a:prstGeom prst="rect">
            <a:avLst/>
          </a:prstGeom>
          <a:noFill/>
        </p:spPr>
        <p:txBody>
          <a:bodyPr vert="horz" wrap="square" lIns="0" tIns="0" rIns="0" bIns="0" rtlCol="0">
            <a:spAutoFit/>
          </a:bodyPr>
          <a:lstStyle/>
          <a:p>
            <a:pPr>
              <a:spcAft>
                <a:spcPts val="800"/>
              </a:spcAft>
            </a:pPr>
            <a:r>
              <a:rPr lang="en-US" sz="1600">
                <a:solidFill>
                  <a:srgbClr val="B7C5D6"/>
                </a:solidFill>
                <a:latin typeface="Arial" panose="020B0604020202020204" pitchFamily="34" charset="0"/>
              </a:rPr>
              <a:t>Làm quiz, thi thử, thử Pose và gửi khảo sát.</a:t>
            </a:r>
          </a:p>
        </p:txBody>
      </p:sp>
      <p:sp>
        <p:nvSpPr>
          <p:cNvPr id="21" name="TextBox 20">
            <a:extLst>
              <a:ext uri="{FF2B5EF4-FFF2-40B4-BE49-F238E27FC236}">
                <a16:creationId xmlns:a16="http://schemas.microsoft.com/office/drawing/2014/main" id="{9964A6B6-CB50-6FD6-347D-D63CAF36A4AA}"/>
              </a:ext>
            </a:extLst>
          </p:cNvPr>
          <p:cNvSpPr txBox="1"/>
          <p:nvPr/>
        </p:nvSpPr>
        <p:spPr>
          <a:xfrm>
            <a:off x="3962400" y="3251200"/>
            <a:ext cx="4445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a:t>
            </a:r>
          </a:p>
        </p:txBody>
      </p:sp>
      <p:sp>
        <p:nvSpPr>
          <p:cNvPr id="22" name="TextBox 21">
            <a:extLst>
              <a:ext uri="{FF2B5EF4-FFF2-40B4-BE49-F238E27FC236}">
                <a16:creationId xmlns:a16="http://schemas.microsoft.com/office/drawing/2014/main" id="{DB6C3F7D-C8A5-5211-4B6F-A49CBE39C33A}"/>
              </a:ext>
            </a:extLst>
          </p:cNvPr>
          <p:cNvSpPr txBox="1"/>
          <p:nvPr/>
        </p:nvSpPr>
        <p:spPr>
          <a:xfrm>
            <a:off x="7899400" y="3251200"/>
            <a:ext cx="4445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a:t>
            </a:r>
          </a:p>
        </p:txBody>
      </p:sp>
      <p:sp>
        <p:nvSpPr>
          <p:cNvPr id="23" name="Rectangle 22">
            <a:extLst>
              <a:ext uri="{FF2B5EF4-FFF2-40B4-BE49-F238E27FC236}">
                <a16:creationId xmlns:a16="http://schemas.microsoft.com/office/drawing/2014/main" id="{5F68A849-482C-A253-BC3C-B1C24F0C2DB6}"/>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C7ABBF7-24B9-1109-6533-74CDDF991634}"/>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2B632"/>
                </a:solidFill>
                <a:latin typeface="Arial" panose="020B0604020202020204" pitchFamily="34" charset="0"/>
              </a:rPr>
              <a:t>Vai trò: hỗ trợ tự học và chuẩn bị thực hành; thực hành thật vẫn cần giáo viên hướng dẫn.</a:t>
            </a:r>
            <a:endParaRPr lang="en-US" sz="1300" b="1">
              <a:solidFill>
                <a:srgbClr val="F2B632"/>
              </a:solidFill>
              <a:latin typeface="Arial" panose="020B0604020202020204" pitchFamily="34" charset="0"/>
            </a:endParaRPr>
          </a:p>
        </p:txBody>
      </p:sp>
    </p:spTree>
    <p:extLst>
      <p:ext uri="{BB962C8B-B14F-4D97-AF65-F5344CB8AC3E}">
        <p14:creationId xmlns:p14="http://schemas.microsoft.com/office/powerpoint/2010/main" val="878086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A35C2F-77D2-42C2-A4E5-A1A68A6041FC}"/>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35BB605-0ECA-7CFF-4104-D1BEB2DBDD78}"/>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717C6763-99CF-5AB2-3C88-3F9289938D33}"/>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32238"/>
                </a:solidFill>
                <a:latin typeface="Arial" panose="020B0604020202020204" pitchFamily="34" charset="0"/>
              </a:rPr>
              <a:t>12 mô-đun dành cho người học</a:t>
            </a:r>
            <a:endParaRPr lang="en-US" sz="3000" b="1">
              <a:solidFill>
                <a:srgbClr val="132238"/>
              </a:solidFill>
              <a:latin typeface="Arial" panose="020B0604020202020204" pitchFamily="34" charset="0"/>
            </a:endParaRPr>
          </a:p>
        </p:txBody>
      </p:sp>
      <p:sp>
        <p:nvSpPr>
          <p:cNvPr id="5" name="TextBox 4">
            <a:extLst>
              <a:ext uri="{FF2B5EF4-FFF2-40B4-BE49-F238E27FC236}">
                <a16:creationId xmlns:a16="http://schemas.microsoft.com/office/drawing/2014/main" id="{AEC2E590-613A-2585-10AC-C541BA0EC613}"/>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Gom theo trải nghiệm để dễ giới thiệu; mức hoàn thiện của từng mô-đun khác nhau.</a:t>
            </a:r>
          </a:p>
        </p:txBody>
      </p:sp>
      <p:sp>
        <p:nvSpPr>
          <p:cNvPr id="6" name="Rectangle 5">
            <a:extLst>
              <a:ext uri="{FF2B5EF4-FFF2-40B4-BE49-F238E27FC236}">
                <a16:creationId xmlns:a16="http://schemas.microsoft.com/office/drawing/2014/main" id="{8FCDD3D1-40B0-F7B4-ADE4-7A11104B95D8}"/>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354CB79-18B6-6AE8-388F-825582599F23}"/>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tóm tắt; §4.2–4.3</a:t>
            </a:r>
          </a:p>
        </p:txBody>
      </p:sp>
      <p:sp>
        <p:nvSpPr>
          <p:cNvPr id="8" name="TextBox 7">
            <a:extLst>
              <a:ext uri="{FF2B5EF4-FFF2-40B4-BE49-F238E27FC236}">
                <a16:creationId xmlns:a16="http://schemas.microsoft.com/office/drawing/2014/main" id="{A2004168-2202-DE14-8EF7-A42C302393C9}"/>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04</a:t>
            </a:r>
          </a:p>
        </p:txBody>
      </p:sp>
      <p:sp>
        <p:nvSpPr>
          <p:cNvPr id="9" name="Rectangle 8">
            <a:extLst>
              <a:ext uri="{FF2B5EF4-FFF2-40B4-BE49-F238E27FC236}">
                <a16:creationId xmlns:a16="http://schemas.microsoft.com/office/drawing/2014/main" id="{DDA205CB-4DC8-8836-32F1-241ECBA84718}"/>
              </a:ext>
            </a:extLst>
          </p:cNvPr>
          <p:cNvSpPr/>
          <p:nvPr/>
        </p:nvSpPr>
        <p:spPr>
          <a:xfrm>
            <a:off x="457200" y="2286000"/>
            <a:ext cx="5410200" cy="16637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9840A89-249F-2914-B9F2-7EB216609CD6}"/>
              </a:ext>
            </a:extLst>
          </p:cNvPr>
          <p:cNvSpPr/>
          <p:nvPr/>
        </p:nvSpPr>
        <p:spPr>
          <a:xfrm>
            <a:off x="457200" y="2286000"/>
            <a:ext cx="50800" cy="16637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1AA0B00-38A0-4ECC-9925-7EF65CA66E39}"/>
              </a:ext>
            </a:extLst>
          </p:cNvPr>
          <p:cNvSpPr txBox="1"/>
          <p:nvPr/>
        </p:nvSpPr>
        <p:spPr>
          <a:xfrm>
            <a:off x="685800" y="2489200"/>
            <a:ext cx="49530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Học và luyện kiến thức</a:t>
            </a:r>
          </a:p>
        </p:txBody>
      </p:sp>
      <p:sp>
        <p:nvSpPr>
          <p:cNvPr id="12" name="TextBox 11">
            <a:extLst>
              <a:ext uri="{FF2B5EF4-FFF2-40B4-BE49-F238E27FC236}">
                <a16:creationId xmlns:a16="http://schemas.microsoft.com/office/drawing/2014/main" id="{0CE6CBD3-5B07-333B-C464-353A44A3B61B}"/>
              </a:ext>
            </a:extLst>
          </p:cNvPr>
          <p:cNvSpPr txBox="1"/>
          <p:nvPr/>
        </p:nvSpPr>
        <p:spPr>
          <a:xfrm>
            <a:off x="685800" y="3149600"/>
            <a:ext cx="4953000" cy="625812"/>
          </a:xfrm>
          <a:prstGeom prst="rect">
            <a:avLst/>
          </a:prstGeom>
          <a:noFill/>
        </p:spPr>
        <p:txBody>
          <a:bodyPr vert="horz" wrap="square" lIns="0" tIns="0" rIns="0" bIns="0" rtlCol="0">
            <a:spAutoFit/>
          </a:bodyPr>
          <a:lstStyle/>
          <a:p>
            <a:pPr>
              <a:spcAft>
                <a:spcPts val="800"/>
              </a:spcAft>
            </a:pPr>
            <a:r>
              <a:rPr lang="vi-VN" sz="1700">
                <a:solidFill>
                  <a:srgbClr val="132238"/>
                </a:solidFill>
                <a:latin typeface="Arial" panose="020B0604020202020204" pitchFamily="34" charset="0"/>
              </a:rPr>
              <a:t>01 Lý thuyết   •   02 Quiz nhanh
03 Thi thử   •   04 Kỹ năng / thao trường 3D</a:t>
            </a:r>
            <a:endParaRPr lang="en-US" sz="1700">
              <a:solidFill>
                <a:srgbClr val="132238"/>
              </a:solidFill>
              <a:latin typeface="Arial" panose="020B0604020202020204" pitchFamily="34" charset="0"/>
            </a:endParaRPr>
          </a:p>
        </p:txBody>
      </p:sp>
      <p:sp>
        <p:nvSpPr>
          <p:cNvPr id="13" name="Rectangle 12">
            <a:extLst>
              <a:ext uri="{FF2B5EF4-FFF2-40B4-BE49-F238E27FC236}">
                <a16:creationId xmlns:a16="http://schemas.microsoft.com/office/drawing/2014/main" id="{1647E0CB-A3DF-B60D-AF2C-93070E29B489}"/>
              </a:ext>
            </a:extLst>
          </p:cNvPr>
          <p:cNvSpPr/>
          <p:nvPr/>
        </p:nvSpPr>
        <p:spPr>
          <a:xfrm>
            <a:off x="6172200" y="2286000"/>
            <a:ext cx="5562600" cy="16637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E8B3946-24BC-648C-5985-28173356B8A6}"/>
              </a:ext>
            </a:extLst>
          </p:cNvPr>
          <p:cNvSpPr/>
          <p:nvPr/>
        </p:nvSpPr>
        <p:spPr>
          <a:xfrm>
            <a:off x="6172200" y="2286000"/>
            <a:ext cx="50800" cy="16637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E697B22-8B19-F1F3-B71C-B5A1A841759B}"/>
              </a:ext>
            </a:extLst>
          </p:cNvPr>
          <p:cNvSpPr txBox="1"/>
          <p:nvPr/>
        </p:nvSpPr>
        <p:spPr>
          <a:xfrm>
            <a:off x="6400800" y="2489200"/>
            <a:ext cx="51054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Quan sát và mô phỏng</a:t>
            </a:r>
          </a:p>
        </p:txBody>
      </p:sp>
      <p:sp>
        <p:nvSpPr>
          <p:cNvPr id="16" name="TextBox 15">
            <a:extLst>
              <a:ext uri="{FF2B5EF4-FFF2-40B4-BE49-F238E27FC236}">
                <a16:creationId xmlns:a16="http://schemas.microsoft.com/office/drawing/2014/main" id="{D86586C2-1447-D77B-8D10-DE878C50815D}"/>
              </a:ext>
            </a:extLst>
          </p:cNvPr>
          <p:cNvSpPr txBox="1"/>
          <p:nvPr/>
        </p:nvSpPr>
        <p:spPr>
          <a:xfrm>
            <a:off x="6400800" y="3149600"/>
            <a:ext cx="5105400" cy="625812"/>
          </a:xfrm>
          <a:prstGeom prst="rect">
            <a:avLst/>
          </a:prstGeom>
          <a:noFill/>
        </p:spPr>
        <p:txBody>
          <a:bodyPr vert="horz" wrap="square" lIns="0" tIns="0" rIns="0" bIns="0" rtlCol="0">
            <a:spAutoFit/>
          </a:bodyPr>
          <a:lstStyle/>
          <a:p>
            <a:pPr>
              <a:spcAft>
                <a:spcPts val="800"/>
              </a:spcAft>
            </a:pPr>
            <a:r>
              <a:rPr lang="vi-VN" sz="1700">
                <a:solidFill>
                  <a:srgbClr val="132238"/>
                </a:solidFill>
                <a:latin typeface="Arial" panose="020B0604020202020204" pitchFamily="34" charset="0"/>
              </a:rPr>
              <a:t>05 Tháo/lắp AK   •   06 Studio / WebAR
07 Trường bắn mô phỏng</a:t>
            </a:r>
            <a:endParaRPr lang="en-US" sz="1700">
              <a:solidFill>
                <a:srgbClr val="132238"/>
              </a:solidFill>
              <a:latin typeface="Arial" panose="020B0604020202020204" pitchFamily="34" charset="0"/>
            </a:endParaRPr>
          </a:p>
        </p:txBody>
      </p:sp>
      <p:sp>
        <p:nvSpPr>
          <p:cNvPr id="17" name="Rectangle 16">
            <a:extLst>
              <a:ext uri="{FF2B5EF4-FFF2-40B4-BE49-F238E27FC236}">
                <a16:creationId xmlns:a16="http://schemas.microsoft.com/office/drawing/2014/main" id="{B0267377-7240-A9BD-715C-79D6F1C74DBB}"/>
              </a:ext>
            </a:extLst>
          </p:cNvPr>
          <p:cNvSpPr/>
          <p:nvPr/>
        </p:nvSpPr>
        <p:spPr>
          <a:xfrm>
            <a:off x="457200" y="4165600"/>
            <a:ext cx="5410200" cy="1511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85A0BFA-BF1A-402C-694B-C042F3803FB5}"/>
              </a:ext>
            </a:extLst>
          </p:cNvPr>
          <p:cNvSpPr/>
          <p:nvPr/>
        </p:nvSpPr>
        <p:spPr>
          <a:xfrm>
            <a:off x="457200" y="4165600"/>
            <a:ext cx="50800" cy="15113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0195BB2-8147-9B5B-5A5C-84D9A1AECC98}"/>
              </a:ext>
            </a:extLst>
          </p:cNvPr>
          <p:cNvSpPr txBox="1"/>
          <p:nvPr/>
        </p:nvSpPr>
        <p:spPr>
          <a:xfrm>
            <a:off x="685800" y="4368800"/>
            <a:ext cx="49530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AI hỗ trợ</a:t>
            </a:r>
          </a:p>
        </p:txBody>
      </p:sp>
      <p:sp>
        <p:nvSpPr>
          <p:cNvPr id="20" name="TextBox 19">
            <a:extLst>
              <a:ext uri="{FF2B5EF4-FFF2-40B4-BE49-F238E27FC236}">
                <a16:creationId xmlns:a16="http://schemas.microsoft.com/office/drawing/2014/main" id="{0F291D0F-294D-8EA4-0E49-F56FB452F2F3}"/>
              </a:ext>
            </a:extLst>
          </p:cNvPr>
          <p:cNvSpPr txBox="1"/>
          <p:nvPr/>
        </p:nvSpPr>
        <p:spPr>
          <a:xfrm>
            <a:off x="685800" y="5029200"/>
            <a:ext cx="4953000" cy="276999"/>
          </a:xfrm>
          <a:prstGeom prst="rect">
            <a:avLst/>
          </a:prstGeom>
          <a:noFill/>
        </p:spPr>
        <p:txBody>
          <a:bodyPr vert="horz" wrap="square" lIns="0" tIns="0" rIns="0" bIns="0" rtlCol="0">
            <a:spAutoFit/>
          </a:bodyPr>
          <a:lstStyle/>
          <a:p>
            <a:pPr>
              <a:spcAft>
                <a:spcPts val="800"/>
              </a:spcAft>
            </a:pPr>
            <a:r>
              <a:rPr lang="it-IT">
                <a:solidFill>
                  <a:srgbClr val="132238"/>
                </a:solidFill>
                <a:latin typeface="Arial" panose="020B0604020202020204" pitchFamily="34" charset="0"/>
              </a:rPr>
              <a:t>08 AI Pose   •   09 Trợ giảng AI</a:t>
            </a:r>
            <a:endParaRPr lang="en-US">
              <a:solidFill>
                <a:srgbClr val="132238"/>
              </a:solidFill>
              <a:latin typeface="Arial" panose="020B0604020202020204" pitchFamily="34" charset="0"/>
            </a:endParaRPr>
          </a:p>
        </p:txBody>
      </p:sp>
      <p:sp>
        <p:nvSpPr>
          <p:cNvPr id="21" name="Rectangle 20">
            <a:extLst>
              <a:ext uri="{FF2B5EF4-FFF2-40B4-BE49-F238E27FC236}">
                <a16:creationId xmlns:a16="http://schemas.microsoft.com/office/drawing/2014/main" id="{6BDCC3BF-2472-0277-B201-3CA1CC478119}"/>
              </a:ext>
            </a:extLst>
          </p:cNvPr>
          <p:cNvSpPr/>
          <p:nvPr/>
        </p:nvSpPr>
        <p:spPr>
          <a:xfrm>
            <a:off x="6172200" y="4165600"/>
            <a:ext cx="5562600" cy="15113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654CAD9-8E9F-8657-2A07-99D67C5656C4}"/>
              </a:ext>
            </a:extLst>
          </p:cNvPr>
          <p:cNvSpPr/>
          <p:nvPr/>
        </p:nvSpPr>
        <p:spPr>
          <a:xfrm>
            <a:off x="6172200" y="4165600"/>
            <a:ext cx="50800" cy="15113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3FE78AE-6639-DE47-EE82-7739900823FA}"/>
              </a:ext>
            </a:extLst>
          </p:cNvPr>
          <p:cNvSpPr txBox="1"/>
          <p:nvPr/>
        </p:nvSpPr>
        <p:spPr>
          <a:xfrm>
            <a:off x="6400800" y="4368800"/>
            <a:ext cx="51054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Khám phá và phản hồi</a:t>
            </a:r>
          </a:p>
        </p:txBody>
      </p:sp>
      <p:sp>
        <p:nvSpPr>
          <p:cNvPr id="24" name="TextBox 23">
            <a:extLst>
              <a:ext uri="{FF2B5EF4-FFF2-40B4-BE49-F238E27FC236}">
                <a16:creationId xmlns:a16="http://schemas.microsoft.com/office/drawing/2014/main" id="{496C0F0A-9AC0-4D70-B451-1D445EF4B10D}"/>
              </a:ext>
            </a:extLst>
          </p:cNvPr>
          <p:cNvSpPr txBox="1"/>
          <p:nvPr/>
        </p:nvSpPr>
        <p:spPr>
          <a:xfrm>
            <a:off x="6400800" y="5029200"/>
            <a:ext cx="5105400" cy="625812"/>
          </a:xfrm>
          <a:prstGeom prst="rect">
            <a:avLst/>
          </a:prstGeom>
          <a:noFill/>
        </p:spPr>
        <p:txBody>
          <a:bodyPr vert="horz" wrap="square" lIns="0" tIns="0" rIns="0" bIns="0" rtlCol="0">
            <a:spAutoFit/>
          </a:bodyPr>
          <a:lstStyle/>
          <a:p>
            <a:pPr>
              <a:spcAft>
                <a:spcPts val="800"/>
              </a:spcAft>
            </a:pPr>
            <a:r>
              <a:rPr lang="en-US" sz="1700">
                <a:solidFill>
                  <a:srgbClr val="132238"/>
                </a:solidFill>
                <a:latin typeface="Arial" panose="020B0604020202020204" pitchFamily="34" charset="0"/>
              </a:rPr>
              <a:t>10 Bản đồ   •   11 XP / huy hiệu
12 Khảo sát</a:t>
            </a:r>
          </a:p>
        </p:txBody>
      </p:sp>
      <p:sp>
        <p:nvSpPr>
          <p:cNvPr id="25" name="Rectangle 24">
            <a:extLst>
              <a:ext uri="{FF2B5EF4-FFF2-40B4-BE49-F238E27FC236}">
                <a16:creationId xmlns:a16="http://schemas.microsoft.com/office/drawing/2014/main" id="{2E8B6B1E-01EB-ACCE-2E04-B39898488E13}"/>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658C1E6-C61F-003A-6D96-28205A3D452D}"/>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FFFFF"/>
                </a:solidFill>
                <a:latin typeface="Arial" panose="020B0604020202020204" pitchFamily="34" charset="0"/>
              </a:rPr>
              <a:t>Bảng kỹ thuật có 13 phân hệ do tách “Kỹ năng” và “Thao trường 3D”; không tính trang chủ/quản trị.</a:t>
            </a:r>
            <a:endParaRPr lang="en-US" sz="1300" b="1">
              <a:solidFill>
                <a:srgbClr val="FFFFFF"/>
              </a:solidFill>
              <a:latin typeface="Arial" panose="020B0604020202020204" pitchFamily="34" charset="0"/>
            </a:endParaRPr>
          </a:p>
        </p:txBody>
      </p:sp>
    </p:spTree>
    <p:extLst>
      <p:ext uri="{BB962C8B-B14F-4D97-AF65-F5344CB8AC3E}">
        <p14:creationId xmlns:p14="http://schemas.microsoft.com/office/powerpoint/2010/main" val="987627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16333F-95F9-ABEA-B403-C2AAC68AE8DC}"/>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32E3747-BEE7-F37E-9603-CE87FB8BB31D}"/>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F3B3A647-25AA-5307-6CED-CC54DAD72087}"/>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32238"/>
                </a:solidFill>
                <a:latin typeface="Arial" panose="020B0604020202020204" pitchFamily="34" charset="0"/>
              </a:rPr>
              <a:t>Học liệu, quiz nhanh và thi thử</a:t>
            </a:r>
          </a:p>
        </p:txBody>
      </p:sp>
      <p:sp>
        <p:nvSpPr>
          <p:cNvPr id="5" name="TextBox 4">
            <a:extLst>
              <a:ext uri="{FF2B5EF4-FFF2-40B4-BE49-F238E27FC236}">
                <a16:creationId xmlns:a16="http://schemas.microsoft.com/office/drawing/2014/main" id="{585A0115-D672-54BD-E35B-2F92BA59F21B}"/>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Luồng sử dụng: chọn khối → đọc bài / chọn đề → trả lời → xem kết quả và ôn lại.</a:t>
            </a:r>
          </a:p>
        </p:txBody>
      </p:sp>
      <p:sp>
        <p:nvSpPr>
          <p:cNvPr id="6" name="Rectangle 5">
            <a:extLst>
              <a:ext uri="{FF2B5EF4-FFF2-40B4-BE49-F238E27FC236}">
                <a16:creationId xmlns:a16="http://schemas.microsoft.com/office/drawing/2014/main" id="{5EE6F7CA-A5C6-2E11-C129-E13EBE64817B}"/>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84426F5-F298-E917-B276-306B208C0740}"/>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§4.2.1; §4.3</a:t>
            </a:r>
          </a:p>
        </p:txBody>
      </p:sp>
      <p:sp>
        <p:nvSpPr>
          <p:cNvPr id="8" name="TextBox 7">
            <a:extLst>
              <a:ext uri="{FF2B5EF4-FFF2-40B4-BE49-F238E27FC236}">
                <a16:creationId xmlns:a16="http://schemas.microsoft.com/office/drawing/2014/main" id="{8E63D128-80FC-F724-DC78-61DBA38568A7}"/>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05</a:t>
            </a:r>
          </a:p>
        </p:txBody>
      </p:sp>
      <p:pic>
        <p:nvPicPr>
          <p:cNvPr id="10" name="Picture 9">
            <a:extLst>
              <a:ext uri="{FF2B5EF4-FFF2-40B4-BE49-F238E27FC236}">
                <a16:creationId xmlns:a16="http://schemas.microsoft.com/office/drawing/2014/main" id="{2CF5DC8C-A2B5-23BB-D798-9FD4BB94BB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57200" y="2499724"/>
            <a:ext cx="5715000" cy="2912653"/>
          </a:xfrm>
          <a:prstGeom prst="rect">
            <a:avLst/>
          </a:prstGeom>
        </p:spPr>
      </p:pic>
      <p:sp>
        <p:nvSpPr>
          <p:cNvPr id="11" name="Rectangle 10">
            <a:extLst>
              <a:ext uri="{FF2B5EF4-FFF2-40B4-BE49-F238E27FC236}">
                <a16:creationId xmlns:a16="http://schemas.microsoft.com/office/drawing/2014/main" id="{19935B2A-9259-7CF7-8B4E-B2E2A29BE6AF}"/>
              </a:ext>
            </a:extLst>
          </p:cNvPr>
          <p:cNvSpPr/>
          <p:nvPr/>
        </p:nvSpPr>
        <p:spPr>
          <a:xfrm>
            <a:off x="6477000" y="2247900"/>
            <a:ext cx="5257800" cy="3378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E9FD2D7-67C5-50B4-101A-9B053122FD11}"/>
              </a:ext>
            </a:extLst>
          </p:cNvPr>
          <p:cNvSpPr/>
          <p:nvPr/>
        </p:nvSpPr>
        <p:spPr>
          <a:xfrm>
            <a:off x="6477000" y="2247900"/>
            <a:ext cx="50800" cy="33782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E556886-BAD2-22F7-9A30-78FB09D04D9B}"/>
              </a:ext>
            </a:extLst>
          </p:cNvPr>
          <p:cNvSpPr txBox="1"/>
          <p:nvPr/>
        </p:nvSpPr>
        <p:spPr>
          <a:xfrm>
            <a:off x="6705600" y="2451100"/>
            <a:ext cx="48006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Dữ liệu đã có</a:t>
            </a:r>
          </a:p>
        </p:txBody>
      </p:sp>
      <p:sp>
        <p:nvSpPr>
          <p:cNvPr id="14" name="TextBox 13">
            <a:extLst>
              <a:ext uri="{FF2B5EF4-FFF2-40B4-BE49-F238E27FC236}">
                <a16:creationId xmlns:a16="http://schemas.microsoft.com/office/drawing/2014/main" id="{5E67A669-3F7C-2E2C-94DE-3DCB62CDC208}"/>
              </a:ext>
            </a:extLst>
          </p:cNvPr>
          <p:cNvSpPr txBox="1"/>
          <p:nvPr/>
        </p:nvSpPr>
        <p:spPr>
          <a:xfrm>
            <a:off x="6705600" y="3111500"/>
            <a:ext cx="4800600" cy="1615827"/>
          </a:xfrm>
          <a:prstGeom prst="rect">
            <a:avLst/>
          </a:prstGeom>
          <a:noFill/>
        </p:spPr>
        <p:txBody>
          <a:bodyPr vert="horz" wrap="square" lIns="0" tIns="0" rIns="0" bIns="0" rtlCol="0">
            <a:spAutoFit/>
          </a:bodyPr>
          <a:lstStyle/>
          <a:p>
            <a:pPr>
              <a:spcAft>
                <a:spcPts val="800"/>
              </a:spcAft>
            </a:pPr>
            <a:r>
              <a:rPr lang="en-US" sz="1700">
                <a:solidFill>
                  <a:srgbClr val="132238"/>
                </a:solidFill>
                <a:latin typeface="Arial" panose="020B0604020202020204" pitchFamily="34" charset="0"/>
              </a:rPr>
              <a:t>31 bài lý thuyết lớp 10–12.
144 câu quiz nhanh: 48 câu/khối.
Kho thi: 120 trắc nghiệm + 30 cụm Đúng/Sai + 18 tự luận.
Có xáo đề, đếm giờ và khôi phục cục bộ.</a:t>
            </a:r>
          </a:p>
        </p:txBody>
      </p:sp>
      <p:sp>
        <p:nvSpPr>
          <p:cNvPr id="15" name="Rectangle 14">
            <a:extLst>
              <a:ext uri="{FF2B5EF4-FFF2-40B4-BE49-F238E27FC236}">
                <a16:creationId xmlns:a16="http://schemas.microsoft.com/office/drawing/2014/main" id="{9093C3E0-91ED-F40D-11CD-C9D42D143817}"/>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65257D1-4E16-2FA8-3468-ABBD2EC1305F}"/>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FFFFF"/>
                </a:solidFill>
                <a:latin typeface="Arial" panose="020B0604020202020204" pitchFamily="34" charset="0"/>
              </a:rPr>
              <a:t>Tự luận chỉ chấm ước lượng; lưu bài thi qua API còn phụ thuộc môi trường backend.</a:t>
            </a:r>
            <a:endParaRPr lang="en-US" sz="1300" b="1">
              <a:solidFill>
                <a:srgbClr val="FFFFFF"/>
              </a:solidFill>
              <a:latin typeface="Arial" panose="020B0604020202020204" pitchFamily="34" charset="0"/>
            </a:endParaRPr>
          </a:p>
        </p:txBody>
      </p:sp>
    </p:spTree>
    <p:extLst>
      <p:ext uri="{BB962C8B-B14F-4D97-AF65-F5344CB8AC3E}">
        <p14:creationId xmlns:p14="http://schemas.microsoft.com/office/powerpoint/2010/main" val="448507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8E04CD-F744-2785-48FA-EEB440C16C4E}"/>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67EF87D-FF57-76D2-1549-35A648838B5B}"/>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55805828-C45F-3F81-EDCC-12FBFCC2C295}"/>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32238"/>
                </a:solidFill>
                <a:latin typeface="Arial" panose="020B0604020202020204" pitchFamily="34" charset="0"/>
              </a:rPr>
              <a:t>Kỹ năng và mô phỏng 3D tương tác</a:t>
            </a:r>
            <a:endParaRPr lang="en-US" sz="3000" b="1">
              <a:solidFill>
                <a:srgbClr val="132238"/>
              </a:solidFill>
              <a:latin typeface="Arial" panose="020B0604020202020204" pitchFamily="34" charset="0"/>
            </a:endParaRPr>
          </a:p>
        </p:txBody>
      </p:sp>
      <p:sp>
        <p:nvSpPr>
          <p:cNvPr id="5" name="TextBox 4">
            <a:extLst>
              <a:ext uri="{FF2B5EF4-FFF2-40B4-BE49-F238E27FC236}">
                <a16:creationId xmlns:a16="http://schemas.microsoft.com/office/drawing/2014/main" id="{09B0E788-EFA5-DD44-5A33-4D2AA40C7D3F}"/>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C6B7C"/>
                </a:solidFill>
                <a:latin typeface="Arial" panose="020B0604020202020204" pitchFamily="34" charset="0"/>
              </a:rPr>
              <a:t>Quan sát theo bước, thay đổi góc nhìn và tập trung vào chi tiết cần học.</a:t>
            </a:r>
            <a:endParaRPr lang="en-US" sz="1600">
              <a:solidFill>
                <a:srgbClr val="5C6B7C"/>
              </a:solidFill>
              <a:latin typeface="Arial" panose="020B0604020202020204" pitchFamily="34" charset="0"/>
            </a:endParaRPr>
          </a:p>
        </p:txBody>
      </p:sp>
      <p:sp>
        <p:nvSpPr>
          <p:cNvPr id="6" name="Rectangle 5">
            <a:extLst>
              <a:ext uri="{FF2B5EF4-FFF2-40B4-BE49-F238E27FC236}">
                <a16:creationId xmlns:a16="http://schemas.microsoft.com/office/drawing/2014/main" id="{235757F9-3987-35AE-2961-10E8358D2583}"/>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120536-3AA7-FFEA-9EC1-A3D64E2C7644}"/>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§4.2; §4.2.2</a:t>
            </a:r>
          </a:p>
        </p:txBody>
      </p:sp>
      <p:sp>
        <p:nvSpPr>
          <p:cNvPr id="8" name="TextBox 7">
            <a:extLst>
              <a:ext uri="{FF2B5EF4-FFF2-40B4-BE49-F238E27FC236}">
                <a16:creationId xmlns:a16="http://schemas.microsoft.com/office/drawing/2014/main" id="{2847CD55-ACB7-9809-B0AC-265E08D57271}"/>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06</a:t>
            </a:r>
          </a:p>
        </p:txBody>
      </p:sp>
      <p:pic>
        <p:nvPicPr>
          <p:cNvPr id="10" name="Picture 9">
            <a:extLst>
              <a:ext uri="{FF2B5EF4-FFF2-40B4-BE49-F238E27FC236}">
                <a16:creationId xmlns:a16="http://schemas.microsoft.com/office/drawing/2014/main" id="{6C78FE2A-9DD5-D3D7-7662-9E6F9C4AB58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10363" y="2247900"/>
            <a:ext cx="2722675" cy="2489200"/>
          </a:xfrm>
          <a:prstGeom prst="rect">
            <a:avLst/>
          </a:prstGeom>
        </p:spPr>
      </p:pic>
      <p:pic>
        <p:nvPicPr>
          <p:cNvPr id="12" name="Picture 11">
            <a:extLst>
              <a:ext uri="{FF2B5EF4-FFF2-40B4-BE49-F238E27FC236}">
                <a16:creationId xmlns:a16="http://schemas.microsoft.com/office/drawing/2014/main" id="{2C60907F-F059-E6BF-BBBD-31A145549A0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734663" y="2247900"/>
            <a:ext cx="2722675" cy="2489200"/>
          </a:xfrm>
          <a:prstGeom prst="rect">
            <a:avLst/>
          </a:prstGeom>
        </p:spPr>
      </p:pic>
      <p:pic>
        <p:nvPicPr>
          <p:cNvPr id="14" name="Picture 13">
            <a:extLst>
              <a:ext uri="{FF2B5EF4-FFF2-40B4-BE49-F238E27FC236}">
                <a16:creationId xmlns:a16="http://schemas.microsoft.com/office/drawing/2014/main" id="{B81183AD-077F-60BD-1B00-7D8EAFF44261}"/>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8657678" y="2247900"/>
            <a:ext cx="2725245" cy="2489200"/>
          </a:xfrm>
          <a:prstGeom prst="rect">
            <a:avLst/>
          </a:prstGeom>
        </p:spPr>
      </p:pic>
      <p:sp>
        <p:nvSpPr>
          <p:cNvPr id="15" name="TextBox 14">
            <a:extLst>
              <a:ext uri="{FF2B5EF4-FFF2-40B4-BE49-F238E27FC236}">
                <a16:creationId xmlns:a16="http://schemas.microsoft.com/office/drawing/2014/main" id="{8F8933B7-85DE-FACD-36BE-2DF27258725B}"/>
              </a:ext>
            </a:extLst>
          </p:cNvPr>
          <p:cNvSpPr txBox="1"/>
          <p:nvPr/>
        </p:nvSpPr>
        <p:spPr>
          <a:xfrm>
            <a:off x="457200" y="4864100"/>
            <a:ext cx="3556000" cy="292388"/>
          </a:xfrm>
          <a:prstGeom prst="rect">
            <a:avLst/>
          </a:prstGeom>
          <a:noFill/>
        </p:spPr>
        <p:txBody>
          <a:bodyPr vert="horz" wrap="square" lIns="0" tIns="0" rIns="0" bIns="0" rtlCol="0">
            <a:spAutoFit/>
          </a:bodyPr>
          <a:lstStyle/>
          <a:p>
            <a:pPr>
              <a:spcAft>
                <a:spcPts val="800"/>
              </a:spcAft>
            </a:pPr>
            <a:r>
              <a:rPr lang="vi-VN" sz="1900" b="1">
                <a:solidFill>
                  <a:srgbClr val="132238"/>
                </a:solidFill>
                <a:latin typeface="Arial" panose="020B0604020202020204" pitchFamily="34" charset="0"/>
              </a:rPr>
              <a:t>Thao trường / điều lệnh</a:t>
            </a:r>
            <a:endParaRPr lang="en-US" sz="1900" b="1">
              <a:solidFill>
                <a:srgbClr val="132238"/>
              </a:solidFill>
              <a:latin typeface="Arial" panose="020B0604020202020204" pitchFamily="34" charset="0"/>
            </a:endParaRPr>
          </a:p>
        </p:txBody>
      </p:sp>
      <p:sp>
        <p:nvSpPr>
          <p:cNvPr id="16" name="TextBox 15">
            <a:extLst>
              <a:ext uri="{FF2B5EF4-FFF2-40B4-BE49-F238E27FC236}">
                <a16:creationId xmlns:a16="http://schemas.microsoft.com/office/drawing/2014/main" id="{4A475AFB-C6D6-3AF0-A6DB-AB01196471C8}"/>
              </a:ext>
            </a:extLst>
          </p:cNvPr>
          <p:cNvSpPr txBox="1"/>
          <p:nvPr/>
        </p:nvSpPr>
        <p:spPr>
          <a:xfrm>
            <a:off x="4381500" y="4864100"/>
            <a:ext cx="3556000" cy="292388"/>
          </a:xfrm>
          <a:prstGeom prst="rect">
            <a:avLst/>
          </a:prstGeom>
          <a:noFill/>
        </p:spPr>
        <p:txBody>
          <a:bodyPr vert="horz" wrap="square" lIns="0" tIns="0" rIns="0" bIns="0" rtlCol="0">
            <a:spAutoFit/>
          </a:bodyPr>
          <a:lstStyle/>
          <a:p>
            <a:pPr>
              <a:spcAft>
                <a:spcPts val="800"/>
              </a:spcAft>
            </a:pPr>
            <a:r>
              <a:rPr lang="vi-VN" sz="1900" b="1">
                <a:solidFill>
                  <a:srgbClr val="132238"/>
                </a:solidFill>
                <a:latin typeface="Arial" panose="020B0604020202020204" pitchFamily="34" charset="0"/>
              </a:rPr>
              <a:t>Vận động theo bước</a:t>
            </a:r>
            <a:endParaRPr lang="en-US" sz="1900" b="1">
              <a:solidFill>
                <a:srgbClr val="132238"/>
              </a:solidFill>
              <a:latin typeface="Arial" panose="020B0604020202020204" pitchFamily="34" charset="0"/>
            </a:endParaRPr>
          </a:p>
        </p:txBody>
      </p:sp>
      <p:sp>
        <p:nvSpPr>
          <p:cNvPr id="17" name="TextBox 16">
            <a:extLst>
              <a:ext uri="{FF2B5EF4-FFF2-40B4-BE49-F238E27FC236}">
                <a16:creationId xmlns:a16="http://schemas.microsoft.com/office/drawing/2014/main" id="{B1BFD9B3-5A3A-9748-6F84-8669E6559C44}"/>
              </a:ext>
            </a:extLst>
          </p:cNvPr>
          <p:cNvSpPr txBox="1"/>
          <p:nvPr/>
        </p:nvSpPr>
        <p:spPr>
          <a:xfrm>
            <a:off x="8305800" y="4864100"/>
            <a:ext cx="3556000" cy="292388"/>
          </a:xfrm>
          <a:prstGeom prst="rect">
            <a:avLst/>
          </a:prstGeom>
          <a:noFill/>
        </p:spPr>
        <p:txBody>
          <a:bodyPr vert="horz" wrap="square" lIns="0" tIns="0" rIns="0" bIns="0" rtlCol="0">
            <a:spAutoFit/>
          </a:bodyPr>
          <a:lstStyle/>
          <a:p>
            <a:pPr>
              <a:spcAft>
                <a:spcPts val="800"/>
              </a:spcAft>
            </a:pPr>
            <a:r>
              <a:rPr lang="en-US" sz="1900" b="1">
                <a:solidFill>
                  <a:srgbClr val="132238"/>
                </a:solidFill>
                <a:latin typeface="Arial" panose="020B0604020202020204" pitchFamily="34" charset="0"/>
              </a:rPr>
              <a:t>Cấu tạo và tháo/lắp AK</a:t>
            </a:r>
          </a:p>
        </p:txBody>
      </p:sp>
      <p:sp>
        <p:nvSpPr>
          <p:cNvPr id="18" name="TextBox 17">
            <a:extLst>
              <a:ext uri="{FF2B5EF4-FFF2-40B4-BE49-F238E27FC236}">
                <a16:creationId xmlns:a16="http://schemas.microsoft.com/office/drawing/2014/main" id="{0E4A7D15-AF63-A951-48FD-5CB9D3A4AA42}"/>
              </a:ext>
            </a:extLst>
          </p:cNvPr>
          <p:cNvSpPr txBox="1"/>
          <p:nvPr/>
        </p:nvSpPr>
        <p:spPr>
          <a:xfrm>
            <a:off x="457200" y="5283200"/>
            <a:ext cx="3556000" cy="461665"/>
          </a:xfrm>
          <a:prstGeom prst="rect">
            <a:avLst/>
          </a:prstGeom>
          <a:noFill/>
        </p:spPr>
        <p:txBody>
          <a:bodyPr vert="horz" wrap="square" lIns="0" tIns="0" rIns="0" bIns="0" rtlCol="0">
            <a:spAutoFit/>
          </a:bodyPr>
          <a:lstStyle/>
          <a:p>
            <a:pPr>
              <a:spcAft>
                <a:spcPts val="800"/>
              </a:spcAft>
            </a:pPr>
            <a:r>
              <a:rPr lang="en-US" sz="1500">
                <a:solidFill>
                  <a:srgbClr val="5C6B7C"/>
                </a:solidFill>
                <a:latin typeface="Arial" panose="020B0604020202020204" pitchFamily="34" charset="0"/>
              </a:rPr>
              <a:t>Đội ngũ, vận động, địa vật; la bàn ở mức nguyên mẫu.</a:t>
            </a:r>
          </a:p>
        </p:txBody>
      </p:sp>
      <p:sp>
        <p:nvSpPr>
          <p:cNvPr id="19" name="TextBox 18">
            <a:extLst>
              <a:ext uri="{FF2B5EF4-FFF2-40B4-BE49-F238E27FC236}">
                <a16:creationId xmlns:a16="http://schemas.microsoft.com/office/drawing/2014/main" id="{7EEB1849-E311-0B64-E066-199C39ADBF06}"/>
              </a:ext>
            </a:extLst>
          </p:cNvPr>
          <p:cNvSpPr txBox="1"/>
          <p:nvPr/>
        </p:nvSpPr>
        <p:spPr>
          <a:xfrm>
            <a:off x="4381500" y="5283200"/>
            <a:ext cx="3556000" cy="461665"/>
          </a:xfrm>
          <a:prstGeom prst="rect">
            <a:avLst/>
          </a:prstGeom>
          <a:noFill/>
        </p:spPr>
        <p:txBody>
          <a:bodyPr vert="horz" wrap="square" lIns="0" tIns="0" rIns="0" bIns="0" rtlCol="0">
            <a:spAutoFit/>
          </a:bodyPr>
          <a:lstStyle/>
          <a:p>
            <a:pPr>
              <a:spcAft>
                <a:spcPts val="800"/>
              </a:spcAft>
            </a:pPr>
            <a:r>
              <a:rPr lang="vi-VN" sz="1500">
                <a:solidFill>
                  <a:srgbClr val="5C6B7C"/>
                </a:solidFill>
                <a:latin typeface="Arial" panose="020B0604020202020204" pitchFamily="34" charset="0"/>
              </a:rPr>
              <a:t>7 nhóm kỹ năng / 14 bước; video, checklist và câu hỏi.</a:t>
            </a:r>
            <a:endParaRPr lang="en-US" sz="1500">
              <a:solidFill>
                <a:srgbClr val="5C6B7C"/>
              </a:solidFill>
              <a:latin typeface="Arial" panose="020B0604020202020204" pitchFamily="34" charset="0"/>
            </a:endParaRPr>
          </a:p>
        </p:txBody>
      </p:sp>
      <p:sp>
        <p:nvSpPr>
          <p:cNvPr id="20" name="TextBox 19">
            <a:extLst>
              <a:ext uri="{FF2B5EF4-FFF2-40B4-BE49-F238E27FC236}">
                <a16:creationId xmlns:a16="http://schemas.microsoft.com/office/drawing/2014/main" id="{EEC8CFC0-6F56-8D60-AA22-697E4BAD2A7C}"/>
              </a:ext>
            </a:extLst>
          </p:cNvPr>
          <p:cNvSpPr txBox="1"/>
          <p:nvPr/>
        </p:nvSpPr>
        <p:spPr>
          <a:xfrm>
            <a:off x="8305800" y="5283200"/>
            <a:ext cx="3429000" cy="461665"/>
          </a:xfrm>
          <a:prstGeom prst="rect">
            <a:avLst/>
          </a:prstGeom>
          <a:noFill/>
        </p:spPr>
        <p:txBody>
          <a:bodyPr vert="horz" wrap="square" lIns="0" tIns="0" rIns="0" bIns="0" rtlCol="0">
            <a:spAutoFit/>
          </a:bodyPr>
          <a:lstStyle/>
          <a:p>
            <a:pPr>
              <a:spcAft>
                <a:spcPts val="800"/>
              </a:spcAft>
            </a:pPr>
            <a:r>
              <a:rPr lang="vi-VN" sz="1500">
                <a:solidFill>
                  <a:srgbClr val="5C6B7C"/>
                </a:solidFill>
                <a:latin typeface="Arial" panose="020B0604020202020204" pitchFamily="34" charset="0"/>
              </a:rPr>
              <a:t>11 nhóm chi tiết; 6 bước tháo và 6 bước lắp.</a:t>
            </a:r>
            <a:endParaRPr lang="en-US" sz="1500">
              <a:solidFill>
                <a:srgbClr val="5C6B7C"/>
              </a:solidFill>
              <a:latin typeface="Arial" panose="020B0604020202020204" pitchFamily="34" charset="0"/>
            </a:endParaRPr>
          </a:p>
        </p:txBody>
      </p:sp>
    </p:spTree>
    <p:extLst>
      <p:ext uri="{BB962C8B-B14F-4D97-AF65-F5344CB8AC3E}">
        <p14:creationId xmlns:p14="http://schemas.microsoft.com/office/powerpoint/2010/main" val="402471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D44252-0B48-62A5-D264-CCC3CEF8EAEC}"/>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2ADE151-2F63-A567-0924-722E36522F2C}"/>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F2B632"/>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3377B97E-90B1-CDBF-A961-D41D4EE919BC}"/>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it-IT" sz="3000" b="1">
                <a:solidFill>
                  <a:srgbClr val="FFFFFF"/>
                </a:solidFill>
                <a:latin typeface="Arial" panose="020B0604020202020204" pitchFamily="34" charset="0"/>
              </a:rPr>
              <a:t>AI Pose: phản hồi tư thế qua camera</a:t>
            </a:r>
            <a:endParaRPr lang="en-US" sz="3000" b="1">
              <a:solidFill>
                <a:srgbClr val="FFFFFF"/>
              </a:solidFill>
              <a:latin typeface="Arial" panose="020B0604020202020204" pitchFamily="34" charset="0"/>
            </a:endParaRPr>
          </a:p>
        </p:txBody>
      </p:sp>
      <p:sp>
        <p:nvSpPr>
          <p:cNvPr id="5" name="TextBox 4">
            <a:extLst>
              <a:ext uri="{FF2B5EF4-FFF2-40B4-BE49-F238E27FC236}">
                <a16:creationId xmlns:a16="http://schemas.microsoft.com/office/drawing/2014/main" id="{E7E72D34-9004-EDE1-54E3-D2EC915799C2}"/>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B7C5D6"/>
                </a:solidFill>
                <a:latin typeface="Arial" panose="020B0604020202020204" pitchFamily="34" charset="0"/>
              </a:rPr>
              <a:t>Mức hiện tại: beta; chưa có kiểm định độ chính xác trên mẫu người thật.</a:t>
            </a:r>
            <a:endParaRPr lang="en-US" sz="1600">
              <a:solidFill>
                <a:srgbClr val="B7C5D6"/>
              </a:solidFill>
              <a:latin typeface="Arial" panose="020B0604020202020204" pitchFamily="34" charset="0"/>
            </a:endParaRPr>
          </a:p>
        </p:txBody>
      </p:sp>
      <p:sp>
        <p:nvSpPr>
          <p:cNvPr id="6" name="Rectangle 5">
            <a:extLst>
              <a:ext uri="{FF2B5EF4-FFF2-40B4-BE49-F238E27FC236}">
                <a16:creationId xmlns:a16="http://schemas.microsoft.com/office/drawing/2014/main" id="{D3768740-755C-7759-62D8-422D78825D5A}"/>
              </a:ext>
            </a:extLst>
          </p:cNvPr>
          <p:cNvSpPr/>
          <p:nvPr/>
        </p:nvSpPr>
        <p:spPr>
          <a:xfrm>
            <a:off x="457200" y="6413500"/>
            <a:ext cx="11277600" cy="12700"/>
          </a:xfrm>
          <a:prstGeom prst="rect">
            <a:avLst/>
          </a:prstGeom>
          <a:solidFill>
            <a:srgbClr val="3142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DE94050-CFA5-98BF-83B4-4FE89B7464CD}"/>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B7C5D6"/>
                </a:solidFill>
                <a:latin typeface="Arial" panose="020B0604020202020204" pitchFamily="34" charset="0"/>
              </a:rPr>
              <a:t>HỌC QPAN 3D  •  Báo cáo §4.2.2–4.2.3</a:t>
            </a:r>
          </a:p>
        </p:txBody>
      </p:sp>
      <p:sp>
        <p:nvSpPr>
          <p:cNvPr id="8" name="TextBox 7">
            <a:extLst>
              <a:ext uri="{FF2B5EF4-FFF2-40B4-BE49-F238E27FC236}">
                <a16:creationId xmlns:a16="http://schemas.microsoft.com/office/drawing/2014/main" id="{F587F9C7-F96C-8594-310D-D2C7B02C1F75}"/>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F2B632"/>
                </a:solidFill>
                <a:latin typeface="Arial" panose="020B0604020202020204" pitchFamily="34" charset="0"/>
              </a:rPr>
              <a:t>07</a:t>
            </a:r>
          </a:p>
        </p:txBody>
      </p:sp>
      <p:sp>
        <p:nvSpPr>
          <p:cNvPr id="9" name="Rectangle 8">
            <a:extLst>
              <a:ext uri="{FF2B5EF4-FFF2-40B4-BE49-F238E27FC236}">
                <a16:creationId xmlns:a16="http://schemas.microsoft.com/office/drawing/2014/main" id="{5F3B5543-983B-6CCB-E7AE-C20B991FB509}"/>
              </a:ext>
            </a:extLst>
          </p:cNvPr>
          <p:cNvSpPr/>
          <p:nvPr/>
        </p:nvSpPr>
        <p:spPr>
          <a:xfrm>
            <a:off x="457200" y="2324100"/>
            <a:ext cx="5410200" cy="32004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545CAAB-C95D-4812-8F25-9DC106972EEE}"/>
              </a:ext>
            </a:extLst>
          </p:cNvPr>
          <p:cNvSpPr/>
          <p:nvPr/>
        </p:nvSpPr>
        <p:spPr>
          <a:xfrm>
            <a:off x="457200" y="2324100"/>
            <a:ext cx="50800" cy="3200400"/>
          </a:xfrm>
          <a:prstGeom prst="rect">
            <a:avLst/>
          </a:prstGeom>
          <a:solidFill>
            <a:srgbClr val="F044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51D0254-E81B-3F8C-D4DF-CDE8115379AF}"/>
              </a:ext>
            </a:extLst>
          </p:cNvPr>
          <p:cNvSpPr txBox="1"/>
          <p:nvPr/>
        </p:nvSpPr>
        <p:spPr>
          <a:xfrm>
            <a:off x="685800" y="2527300"/>
            <a:ext cx="49530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Nội dung luyện tập</a:t>
            </a:r>
          </a:p>
        </p:txBody>
      </p:sp>
      <p:sp>
        <p:nvSpPr>
          <p:cNvPr id="12" name="TextBox 11">
            <a:extLst>
              <a:ext uri="{FF2B5EF4-FFF2-40B4-BE49-F238E27FC236}">
                <a16:creationId xmlns:a16="http://schemas.microsoft.com/office/drawing/2014/main" id="{AC91B66D-87A8-A57B-6BA2-77D8287083AA}"/>
              </a:ext>
            </a:extLst>
          </p:cNvPr>
          <p:cNvSpPr txBox="1"/>
          <p:nvPr/>
        </p:nvSpPr>
        <p:spPr>
          <a:xfrm>
            <a:off x="685800" y="3187700"/>
            <a:ext cx="4953000" cy="1436291"/>
          </a:xfrm>
          <a:prstGeom prst="rect">
            <a:avLst/>
          </a:prstGeom>
          <a:noFill/>
        </p:spPr>
        <p:txBody>
          <a:bodyPr vert="horz" wrap="square" lIns="0" tIns="0" rIns="0" bIns="0" rtlCol="0">
            <a:spAutoFit/>
          </a:bodyPr>
          <a:lstStyle/>
          <a:p>
            <a:pPr>
              <a:spcAft>
                <a:spcPts val="800"/>
              </a:spcAft>
            </a:pPr>
            <a:r>
              <a:rPr lang="vi-VN" sz="2000">
                <a:solidFill>
                  <a:srgbClr val="C9D5E2"/>
                </a:solidFill>
                <a:latin typeface="Arial" panose="020B0604020202020204" pitchFamily="34" charset="0"/>
              </a:rPr>
              <a:t>5 bài riêng: nghiêm, nghỉ, quay trái, quay phải và chào.
Một chuỗi: Nghiêm → Nghỉ → Chào.
Quay đằng sau chưa khả dụng.</a:t>
            </a:r>
            <a:endParaRPr lang="en-US" sz="2000">
              <a:solidFill>
                <a:srgbClr val="C9D5E2"/>
              </a:solidFill>
              <a:latin typeface="Arial" panose="020B0604020202020204" pitchFamily="34" charset="0"/>
            </a:endParaRPr>
          </a:p>
        </p:txBody>
      </p:sp>
      <p:sp>
        <p:nvSpPr>
          <p:cNvPr id="13" name="Rectangle 12">
            <a:extLst>
              <a:ext uri="{FF2B5EF4-FFF2-40B4-BE49-F238E27FC236}">
                <a16:creationId xmlns:a16="http://schemas.microsoft.com/office/drawing/2014/main" id="{925C166D-2813-047D-CE8C-F5B9A8A0BBD0}"/>
              </a:ext>
            </a:extLst>
          </p:cNvPr>
          <p:cNvSpPr/>
          <p:nvPr/>
        </p:nvSpPr>
        <p:spPr>
          <a:xfrm>
            <a:off x="6172200" y="2324100"/>
            <a:ext cx="5562600" cy="32004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7CA6A1F-325D-9C32-C5C9-8E4753B90B93}"/>
              </a:ext>
            </a:extLst>
          </p:cNvPr>
          <p:cNvSpPr/>
          <p:nvPr/>
        </p:nvSpPr>
        <p:spPr>
          <a:xfrm>
            <a:off x="6172200" y="2324100"/>
            <a:ext cx="50800" cy="32004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5066402-FEBC-AE66-3134-3326FB9A67A6}"/>
              </a:ext>
            </a:extLst>
          </p:cNvPr>
          <p:cNvSpPr txBox="1"/>
          <p:nvPr/>
        </p:nvSpPr>
        <p:spPr>
          <a:xfrm>
            <a:off x="6400800" y="2527300"/>
            <a:ext cx="51054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Học sinh sử dụng thế nào?</a:t>
            </a:r>
          </a:p>
        </p:txBody>
      </p:sp>
      <p:sp>
        <p:nvSpPr>
          <p:cNvPr id="16" name="TextBox 15">
            <a:extLst>
              <a:ext uri="{FF2B5EF4-FFF2-40B4-BE49-F238E27FC236}">
                <a16:creationId xmlns:a16="http://schemas.microsoft.com/office/drawing/2014/main" id="{A6AE23D8-08C1-6170-1365-F14BA1A1355C}"/>
              </a:ext>
            </a:extLst>
          </p:cNvPr>
          <p:cNvSpPr txBox="1"/>
          <p:nvPr/>
        </p:nvSpPr>
        <p:spPr>
          <a:xfrm>
            <a:off x="6400800" y="3187700"/>
            <a:ext cx="5105400" cy="1744067"/>
          </a:xfrm>
          <a:prstGeom prst="rect">
            <a:avLst/>
          </a:prstGeom>
          <a:noFill/>
        </p:spPr>
        <p:txBody>
          <a:bodyPr vert="horz" wrap="square" lIns="0" tIns="0" rIns="0" bIns="0" rtlCol="0">
            <a:spAutoFit/>
          </a:bodyPr>
          <a:lstStyle/>
          <a:p>
            <a:pPr>
              <a:spcAft>
                <a:spcPts val="800"/>
              </a:spcAft>
            </a:pPr>
            <a:r>
              <a:rPr lang="vi-VN" sz="2000">
                <a:solidFill>
                  <a:srgbClr val="C9D5E2"/>
                </a:solidFill>
                <a:latin typeface="Arial" panose="020B0604020202020204" pitchFamily="34" charset="0"/>
              </a:rPr>
              <a:t>Chọn bài → bật camera → đứng vào khung hình.
Hệ thống kiểm tra chất lượng rồi mới đánh giá.
Nhận điểm và góp ý theo tiêu chí.</a:t>
            </a:r>
            <a:endParaRPr lang="en-US" sz="2000">
              <a:solidFill>
                <a:srgbClr val="C9D5E2"/>
              </a:solidFill>
              <a:latin typeface="Arial" panose="020B0604020202020204" pitchFamily="34" charset="0"/>
            </a:endParaRPr>
          </a:p>
        </p:txBody>
      </p:sp>
      <p:sp>
        <p:nvSpPr>
          <p:cNvPr id="17" name="Rectangle 16">
            <a:extLst>
              <a:ext uri="{FF2B5EF4-FFF2-40B4-BE49-F238E27FC236}">
                <a16:creationId xmlns:a16="http://schemas.microsoft.com/office/drawing/2014/main" id="{23F0EA3A-100F-5865-69D7-E2808CDEEFD2}"/>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31B2938-BB91-79EC-85CD-6C87C3497A68}"/>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2B632"/>
                </a:solidFill>
                <a:latin typeface="Arial" panose="020B0604020202020204" pitchFamily="34" charset="0"/>
              </a:rPr>
              <a:t>Điểm Pose là phản hồi hỗ trợ; chưa dùng thay cho đánh giá chuyên môn của giáo viên.</a:t>
            </a:r>
            <a:endParaRPr lang="en-US" sz="1300" b="1">
              <a:solidFill>
                <a:srgbClr val="F2B632"/>
              </a:solidFill>
              <a:latin typeface="Arial" panose="020B0604020202020204" pitchFamily="34" charset="0"/>
            </a:endParaRPr>
          </a:p>
        </p:txBody>
      </p:sp>
    </p:spTree>
    <p:extLst>
      <p:ext uri="{BB962C8B-B14F-4D97-AF65-F5344CB8AC3E}">
        <p14:creationId xmlns:p14="http://schemas.microsoft.com/office/powerpoint/2010/main" val="1484454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645618-FCF5-5429-19CB-313169289BCA}"/>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F1DBACA-F155-83D6-3FF8-EC2F5D035ACB}"/>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A6D74044-FAFF-F39F-8992-D1278B4A9554}"/>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32238"/>
                </a:solidFill>
                <a:latin typeface="Arial" panose="020B0604020202020204" pitchFamily="34" charset="0"/>
              </a:rPr>
              <a:t>Studio / WebAR và trường bắn</a:t>
            </a:r>
            <a:endParaRPr lang="en-US" sz="3000" b="1">
              <a:solidFill>
                <a:srgbClr val="132238"/>
              </a:solidFill>
              <a:latin typeface="Arial" panose="020B0604020202020204" pitchFamily="34" charset="0"/>
            </a:endParaRPr>
          </a:p>
        </p:txBody>
      </p:sp>
      <p:sp>
        <p:nvSpPr>
          <p:cNvPr id="5" name="TextBox 4">
            <a:extLst>
              <a:ext uri="{FF2B5EF4-FFF2-40B4-BE49-F238E27FC236}">
                <a16:creationId xmlns:a16="http://schemas.microsoft.com/office/drawing/2014/main" id="{536EB7DE-18B5-3398-D106-44A6C7157EDE}"/>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Hai hình thức trải nghiệm trực quan, có giới hạn mô phỏng rõ ràng.</a:t>
            </a:r>
          </a:p>
        </p:txBody>
      </p:sp>
      <p:sp>
        <p:nvSpPr>
          <p:cNvPr id="6" name="Rectangle 5">
            <a:extLst>
              <a:ext uri="{FF2B5EF4-FFF2-40B4-BE49-F238E27FC236}">
                <a16:creationId xmlns:a16="http://schemas.microsoft.com/office/drawing/2014/main" id="{245BAEDD-E52B-B820-3E4C-901410582661}"/>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93A97A3-302A-DD9E-330C-3A6D1D3B2A9C}"/>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§3.2.1; §4.2</a:t>
            </a:r>
          </a:p>
        </p:txBody>
      </p:sp>
      <p:sp>
        <p:nvSpPr>
          <p:cNvPr id="8" name="TextBox 7">
            <a:extLst>
              <a:ext uri="{FF2B5EF4-FFF2-40B4-BE49-F238E27FC236}">
                <a16:creationId xmlns:a16="http://schemas.microsoft.com/office/drawing/2014/main" id="{2AAF0582-F1B4-27A7-9A81-6D88972CF14D}"/>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08</a:t>
            </a:r>
          </a:p>
        </p:txBody>
      </p:sp>
      <p:sp>
        <p:nvSpPr>
          <p:cNvPr id="9" name="Rectangle 8">
            <a:extLst>
              <a:ext uri="{FF2B5EF4-FFF2-40B4-BE49-F238E27FC236}">
                <a16:creationId xmlns:a16="http://schemas.microsoft.com/office/drawing/2014/main" id="{0500228F-AEF1-2EF2-017C-CE16A9F96349}"/>
              </a:ext>
            </a:extLst>
          </p:cNvPr>
          <p:cNvSpPr/>
          <p:nvPr/>
        </p:nvSpPr>
        <p:spPr>
          <a:xfrm>
            <a:off x="457200" y="2324100"/>
            <a:ext cx="5410200" cy="32258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A8F6A9B-8657-4F3F-1738-172B8C584BC1}"/>
              </a:ext>
            </a:extLst>
          </p:cNvPr>
          <p:cNvSpPr/>
          <p:nvPr/>
        </p:nvSpPr>
        <p:spPr>
          <a:xfrm>
            <a:off x="457200" y="2324100"/>
            <a:ext cx="50800" cy="32258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3BD4C1E-7214-6865-DD3B-65E863DF3188}"/>
              </a:ext>
            </a:extLst>
          </p:cNvPr>
          <p:cNvSpPr txBox="1"/>
          <p:nvPr/>
        </p:nvSpPr>
        <p:spPr>
          <a:xfrm>
            <a:off x="685800" y="2527300"/>
            <a:ext cx="49530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Studio / WebAR — nguyên mẫu</a:t>
            </a:r>
          </a:p>
        </p:txBody>
      </p:sp>
      <p:sp>
        <p:nvSpPr>
          <p:cNvPr id="12" name="TextBox 11">
            <a:extLst>
              <a:ext uri="{FF2B5EF4-FFF2-40B4-BE49-F238E27FC236}">
                <a16:creationId xmlns:a16="http://schemas.microsoft.com/office/drawing/2014/main" id="{6278CAF3-F9DD-7433-40D9-C12AFA4D23D0}"/>
              </a:ext>
            </a:extLst>
          </p:cNvPr>
          <p:cNvSpPr txBox="1"/>
          <p:nvPr/>
        </p:nvSpPr>
        <p:spPr>
          <a:xfrm>
            <a:off x="685800" y="3187700"/>
            <a:ext cx="4953000" cy="2062103"/>
          </a:xfrm>
          <a:prstGeom prst="rect">
            <a:avLst/>
          </a:prstGeom>
          <a:noFill/>
        </p:spPr>
        <p:txBody>
          <a:bodyPr vert="horz" wrap="square" lIns="0" tIns="0" rIns="0" bIns="0" rtlCol="0">
            <a:spAutoFit/>
          </a:bodyPr>
          <a:lstStyle/>
          <a:p>
            <a:pPr>
              <a:spcAft>
                <a:spcPts val="800"/>
              </a:spcAft>
            </a:pPr>
            <a:r>
              <a:rPr lang="vi-VN" sz="1900">
                <a:solidFill>
                  <a:srgbClr val="132238"/>
                </a:solidFill>
                <a:latin typeface="Arial" panose="020B0604020202020204" pitchFamily="34" charset="0"/>
              </a:rPr>
              <a:t>Chọn hoặc tải mô hình GLB.
Cấp quyền camera để ghép mô hình lên hình ảnh thật.
Có chụp PNG và QR.
Chưa có neo mô hình vào mặt phẳng bằng WebXR.</a:t>
            </a:r>
            <a:endParaRPr lang="en-US" sz="1900">
              <a:solidFill>
                <a:srgbClr val="132238"/>
              </a:solidFill>
              <a:latin typeface="Arial" panose="020B0604020202020204" pitchFamily="34" charset="0"/>
            </a:endParaRPr>
          </a:p>
        </p:txBody>
      </p:sp>
      <p:sp>
        <p:nvSpPr>
          <p:cNvPr id="13" name="Rectangle 12">
            <a:extLst>
              <a:ext uri="{FF2B5EF4-FFF2-40B4-BE49-F238E27FC236}">
                <a16:creationId xmlns:a16="http://schemas.microsoft.com/office/drawing/2014/main" id="{6D4A4716-200F-62E4-F1FA-325F66ABEDA5}"/>
              </a:ext>
            </a:extLst>
          </p:cNvPr>
          <p:cNvSpPr/>
          <p:nvPr/>
        </p:nvSpPr>
        <p:spPr>
          <a:xfrm>
            <a:off x="6172200" y="2324100"/>
            <a:ext cx="5562600" cy="32258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F589FA2-AFEF-4153-ED84-B9C2AD994FBD}"/>
              </a:ext>
            </a:extLst>
          </p:cNvPr>
          <p:cNvSpPr/>
          <p:nvPr/>
        </p:nvSpPr>
        <p:spPr>
          <a:xfrm>
            <a:off x="6172200" y="2324100"/>
            <a:ext cx="50800" cy="32258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8061993A-E585-B3F4-B2AD-4A293A0DE1EE}"/>
              </a:ext>
            </a:extLst>
          </p:cNvPr>
          <p:cNvSpPr txBox="1"/>
          <p:nvPr/>
        </p:nvSpPr>
        <p:spPr>
          <a:xfrm>
            <a:off x="6400800" y="2527300"/>
            <a:ext cx="5105400" cy="323165"/>
          </a:xfrm>
          <a:prstGeom prst="rect">
            <a:avLst/>
          </a:prstGeom>
          <a:noFill/>
        </p:spPr>
        <p:txBody>
          <a:bodyPr vert="horz" wrap="square" lIns="0" tIns="0" rIns="0" bIns="0" rtlCol="0">
            <a:spAutoFit/>
          </a:bodyPr>
          <a:lstStyle/>
          <a:p>
            <a:pPr>
              <a:spcAft>
                <a:spcPts val="800"/>
              </a:spcAft>
            </a:pPr>
            <a:r>
              <a:rPr lang="vi-VN" sz="2100" b="1">
                <a:solidFill>
                  <a:srgbClr val="132238"/>
                </a:solidFill>
                <a:latin typeface="Arial" panose="020B0604020202020204" pitchFamily="34" charset="0"/>
              </a:rPr>
              <a:t>Trường bắn — mô phỏng học tập</a:t>
            </a:r>
            <a:endParaRPr lang="en-US" sz="2100" b="1">
              <a:solidFill>
                <a:srgbClr val="132238"/>
              </a:solidFill>
              <a:latin typeface="Arial" panose="020B0604020202020204" pitchFamily="34" charset="0"/>
            </a:endParaRPr>
          </a:p>
        </p:txBody>
      </p:sp>
      <p:sp>
        <p:nvSpPr>
          <p:cNvPr id="16" name="TextBox 15">
            <a:extLst>
              <a:ext uri="{FF2B5EF4-FFF2-40B4-BE49-F238E27FC236}">
                <a16:creationId xmlns:a16="http://schemas.microsoft.com/office/drawing/2014/main" id="{5932D234-0180-36F1-985F-AC625921E6A7}"/>
              </a:ext>
            </a:extLst>
          </p:cNvPr>
          <p:cNvSpPr txBox="1"/>
          <p:nvPr/>
        </p:nvSpPr>
        <p:spPr>
          <a:xfrm>
            <a:off x="6400800" y="3187700"/>
            <a:ext cx="5105400" cy="1374735"/>
          </a:xfrm>
          <a:prstGeom prst="rect">
            <a:avLst/>
          </a:prstGeom>
          <a:noFill/>
        </p:spPr>
        <p:txBody>
          <a:bodyPr vert="horz" wrap="square" lIns="0" tIns="0" rIns="0" bIns="0" rtlCol="0">
            <a:spAutoFit/>
          </a:bodyPr>
          <a:lstStyle/>
          <a:p>
            <a:pPr>
              <a:spcAft>
                <a:spcPts val="800"/>
              </a:spcAft>
            </a:pPr>
            <a:r>
              <a:rPr lang="vi-VN" sz="1900">
                <a:solidFill>
                  <a:srgbClr val="132238"/>
                </a:solidFill>
                <a:latin typeface="Arial" panose="020B0604020202020204" pitchFamily="34" charset="0"/>
              </a:rPr>
              <a:t>Có bia 4/6/8, ngắm và trò chơi.
Có đồ thị đạn đạo minh họa.
Dùng để quan sát và luyện tương tác; số liệu và mô hình vẫn cần thẩm định chuyên môn.</a:t>
            </a:r>
            <a:endParaRPr lang="en-US" sz="1900">
              <a:solidFill>
                <a:srgbClr val="132238"/>
              </a:solidFill>
              <a:latin typeface="Arial" panose="020B0604020202020204" pitchFamily="34" charset="0"/>
            </a:endParaRPr>
          </a:p>
        </p:txBody>
      </p:sp>
      <p:sp>
        <p:nvSpPr>
          <p:cNvPr id="17" name="Rectangle 16">
            <a:extLst>
              <a:ext uri="{FF2B5EF4-FFF2-40B4-BE49-F238E27FC236}">
                <a16:creationId xmlns:a16="http://schemas.microsoft.com/office/drawing/2014/main" id="{2BCCAAAD-AD3E-A04A-066C-D0899ED99D25}"/>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1632D53-21F5-1A6A-DBEF-147F31053EEA}"/>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FFFFFF"/>
                </a:solidFill>
                <a:latin typeface="Arial" panose="020B0604020202020204" pitchFamily="34" charset="0"/>
              </a:rPr>
              <a:t>WebAR cần HTTPS và quyền camera; kết quả mô phỏng không đại diện cho thực hành bắn thật.</a:t>
            </a:r>
          </a:p>
        </p:txBody>
      </p:sp>
    </p:spTree>
    <p:extLst>
      <p:ext uri="{BB962C8B-B14F-4D97-AF65-F5344CB8AC3E}">
        <p14:creationId xmlns:p14="http://schemas.microsoft.com/office/powerpoint/2010/main" val="112736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B69FCA-8EEF-A736-2F46-1BD2DB566916}"/>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FB85D76-DAC9-4CD4-96FA-4DE49EB9A580}"/>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5DF013D2-DBB1-50D8-09F2-7B48885FE8B6}"/>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32238"/>
                </a:solidFill>
                <a:latin typeface="Arial" panose="020B0604020202020204" pitchFamily="34" charset="0"/>
              </a:rPr>
              <a:t>Trợ giảng AI, bản đồ và động lực học</a:t>
            </a:r>
          </a:p>
        </p:txBody>
      </p:sp>
      <p:sp>
        <p:nvSpPr>
          <p:cNvPr id="5" name="TextBox 4">
            <a:extLst>
              <a:ext uri="{FF2B5EF4-FFF2-40B4-BE49-F238E27FC236}">
                <a16:creationId xmlns:a16="http://schemas.microsoft.com/office/drawing/2014/main" id="{375B91B4-AF86-C129-AD99-0DE317853011}"/>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Các tiện ích bổ sung cho hành trình tự học.</a:t>
            </a:r>
          </a:p>
        </p:txBody>
      </p:sp>
      <p:sp>
        <p:nvSpPr>
          <p:cNvPr id="6" name="Rectangle 5">
            <a:extLst>
              <a:ext uri="{FF2B5EF4-FFF2-40B4-BE49-F238E27FC236}">
                <a16:creationId xmlns:a16="http://schemas.microsoft.com/office/drawing/2014/main" id="{4ED96E9D-A35F-F441-C0D0-28EA8EA1F006}"/>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B178889-1742-C338-A704-15B4C6B61714}"/>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§4.2.3</a:t>
            </a:r>
          </a:p>
        </p:txBody>
      </p:sp>
      <p:sp>
        <p:nvSpPr>
          <p:cNvPr id="8" name="TextBox 7">
            <a:extLst>
              <a:ext uri="{FF2B5EF4-FFF2-40B4-BE49-F238E27FC236}">
                <a16:creationId xmlns:a16="http://schemas.microsoft.com/office/drawing/2014/main" id="{45F56A51-CF94-A7CC-0D0E-22734AA80BCC}"/>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09</a:t>
            </a:r>
          </a:p>
        </p:txBody>
      </p:sp>
      <p:sp>
        <p:nvSpPr>
          <p:cNvPr id="9" name="Rectangle 8">
            <a:extLst>
              <a:ext uri="{FF2B5EF4-FFF2-40B4-BE49-F238E27FC236}">
                <a16:creationId xmlns:a16="http://schemas.microsoft.com/office/drawing/2014/main" id="{E0B742FD-801C-0BBE-BBDE-97FA2C40BE7D}"/>
              </a:ext>
            </a:extLst>
          </p:cNvPr>
          <p:cNvSpPr/>
          <p:nvPr/>
        </p:nvSpPr>
        <p:spPr>
          <a:xfrm>
            <a:off x="457200" y="2298700"/>
            <a:ext cx="3556000" cy="3263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A903743-15A9-03BB-30E9-854DDD7FE513}"/>
              </a:ext>
            </a:extLst>
          </p:cNvPr>
          <p:cNvSpPr/>
          <p:nvPr/>
        </p:nvSpPr>
        <p:spPr>
          <a:xfrm>
            <a:off x="457200" y="2298700"/>
            <a:ext cx="50800" cy="32639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5BC1C9C-276D-F957-33C5-DFC2B90CE280}"/>
              </a:ext>
            </a:extLst>
          </p:cNvPr>
          <p:cNvSpPr txBox="1"/>
          <p:nvPr/>
        </p:nvSpPr>
        <p:spPr>
          <a:xfrm>
            <a:off x="6858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Trợ giảng AI</a:t>
            </a:r>
          </a:p>
        </p:txBody>
      </p:sp>
      <p:sp>
        <p:nvSpPr>
          <p:cNvPr id="12" name="TextBox 11">
            <a:extLst>
              <a:ext uri="{FF2B5EF4-FFF2-40B4-BE49-F238E27FC236}">
                <a16:creationId xmlns:a16="http://schemas.microsoft.com/office/drawing/2014/main" id="{6D22B394-82DC-7661-42A0-F4AC71CEC7D4}"/>
              </a:ext>
            </a:extLst>
          </p:cNvPr>
          <p:cNvSpPr txBox="1"/>
          <p:nvPr/>
        </p:nvSpPr>
        <p:spPr>
          <a:xfrm>
            <a:off x="685800" y="3162300"/>
            <a:ext cx="3098800" cy="1590179"/>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Chat, gợi ý và lịch sử.
Gemini qua backend Express.
Worker công khai chưa có API chat; chưa truy xuất bài học/PDF hoặc trích dẫn.</a:t>
            </a:r>
            <a:endParaRPr lang="en-US">
              <a:solidFill>
                <a:srgbClr val="132238"/>
              </a:solidFill>
              <a:latin typeface="Arial" panose="020B0604020202020204" pitchFamily="34" charset="0"/>
            </a:endParaRPr>
          </a:p>
        </p:txBody>
      </p:sp>
      <p:sp>
        <p:nvSpPr>
          <p:cNvPr id="13" name="Rectangle 12">
            <a:extLst>
              <a:ext uri="{FF2B5EF4-FFF2-40B4-BE49-F238E27FC236}">
                <a16:creationId xmlns:a16="http://schemas.microsoft.com/office/drawing/2014/main" id="{C9DD952C-9454-0F6F-302F-B4A61AF752EA}"/>
              </a:ext>
            </a:extLst>
          </p:cNvPr>
          <p:cNvSpPr/>
          <p:nvPr/>
        </p:nvSpPr>
        <p:spPr>
          <a:xfrm>
            <a:off x="4318000" y="2298700"/>
            <a:ext cx="3556000" cy="3263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2CF2602-1852-FAC9-5D77-1CDCBE1C4E2A}"/>
              </a:ext>
            </a:extLst>
          </p:cNvPr>
          <p:cNvSpPr/>
          <p:nvPr/>
        </p:nvSpPr>
        <p:spPr>
          <a:xfrm>
            <a:off x="4318000" y="2298700"/>
            <a:ext cx="50800" cy="32639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5C9F5011-C4A2-6D14-A1AB-9990343133E4}"/>
              </a:ext>
            </a:extLst>
          </p:cNvPr>
          <p:cNvSpPr txBox="1"/>
          <p:nvPr/>
        </p:nvSpPr>
        <p:spPr>
          <a:xfrm>
            <a:off x="45466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Bản đồ di tích</a:t>
            </a:r>
          </a:p>
        </p:txBody>
      </p:sp>
      <p:sp>
        <p:nvSpPr>
          <p:cNvPr id="16" name="TextBox 15">
            <a:extLst>
              <a:ext uri="{FF2B5EF4-FFF2-40B4-BE49-F238E27FC236}">
                <a16:creationId xmlns:a16="http://schemas.microsoft.com/office/drawing/2014/main" id="{9AEDE62D-22B3-83A7-D67F-05AD95045ADD}"/>
              </a:ext>
            </a:extLst>
          </p:cNvPr>
          <p:cNvSpPr txBox="1"/>
          <p:nvPr/>
        </p:nvSpPr>
        <p:spPr>
          <a:xfrm>
            <a:off x="4546600" y="3162300"/>
            <a:ext cx="3098800" cy="1590179"/>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6 di tích lịch sử.
Có marker, lớp bản đồ, nội dung và tour.
Chức năng ghi lượt ghé chưa hoàn thiện.</a:t>
            </a:r>
            <a:endParaRPr lang="en-US">
              <a:solidFill>
                <a:srgbClr val="132238"/>
              </a:solidFill>
              <a:latin typeface="Arial" panose="020B0604020202020204" pitchFamily="34" charset="0"/>
            </a:endParaRPr>
          </a:p>
        </p:txBody>
      </p:sp>
      <p:sp>
        <p:nvSpPr>
          <p:cNvPr id="17" name="Rectangle 16">
            <a:extLst>
              <a:ext uri="{FF2B5EF4-FFF2-40B4-BE49-F238E27FC236}">
                <a16:creationId xmlns:a16="http://schemas.microsoft.com/office/drawing/2014/main" id="{6A3AA422-BB33-D147-5E26-3B2DE4115580}"/>
              </a:ext>
            </a:extLst>
          </p:cNvPr>
          <p:cNvSpPr/>
          <p:nvPr/>
        </p:nvSpPr>
        <p:spPr>
          <a:xfrm>
            <a:off x="8178800" y="2298700"/>
            <a:ext cx="3556000" cy="3263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2933D28-CB49-94E1-97C6-0B31368806AE}"/>
              </a:ext>
            </a:extLst>
          </p:cNvPr>
          <p:cNvSpPr/>
          <p:nvPr/>
        </p:nvSpPr>
        <p:spPr>
          <a:xfrm>
            <a:off x="8178800" y="2298700"/>
            <a:ext cx="50800" cy="32639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EF969C6-78DB-9810-8545-A2333992472A}"/>
              </a:ext>
            </a:extLst>
          </p:cNvPr>
          <p:cNvSpPr txBox="1"/>
          <p:nvPr/>
        </p:nvSpPr>
        <p:spPr>
          <a:xfrm>
            <a:off x="84074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XP và huy hiệu</a:t>
            </a:r>
          </a:p>
        </p:txBody>
      </p:sp>
      <p:sp>
        <p:nvSpPr>
          <p:cNvPr id="20" name="TextBox 19">
            <a:extLst>
              <a:ext uri="{FF2B5EF4-FFF2-40B4-BE49-F238E27FC236}">
                <a16:creationId xmlns:a16="http://schemas.microsoft.com/office/drawing/2014/main" id="{5E3E7541-CB6C-373A-CD4C-A387125AF093}"/>
              </a:ext>
            </a:extLst>
          </p:cNvPr>
          <p:cNvSpPr txBox="1"/>
          <p:nvPr/>
        </p:nvSpPr>
        <p:spPr>
          <a:xfrm>
            <a:off x="8407400" y="3162300"/>
            <a:ext cx="3098800" cy="1590179"/>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8 cấp bậc, 11 huy hiệu.
Tiến độ và XP lưu tại trình duyệt.
Bảng xếp hạng là mẫu; một số luồng XP chưa nhất quán.</a:t>
            </a:r>
            <a:endParaRPr lang="en-US">
              <a:solidFill>
                <a:srgbClr val="132238"/>
              </a:solidFill>
              <a:latin typeface="Arial" panose="020B0604020202020204" pitchFamily="34" charset="0"/>
            </a:endParaRPr>
          </a:p>
        </p:txBody>
      </p:sp>
      <p:sp>
        <p:nvSpPr>
          <p:cNvPr id="21" name="Rectangle 20">
            <a:extLst>
              <a:ext uri="{FF2B5EF4-FFF2-40B4-BE49-F238E27FC236}">
                <a16:creationId xmlns:a16="http://schemas.microsoft.com/office/drawing/2014/main" id="{3436599D-0955-B327-FDC2-4DC3130144B8}"/>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1D5ECD3-1E6A-5B98-B518-AF86457B3C94}"/>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FFFFFF"/>
                </a:solidFill>
                <a:latin typeface="Arial" panose="020B0604020202020204" pitchFamily="34" charset="0"/>
              </a:rPr>
              <a:t>Trợ giảng tạo sinh có thể trả lời sai; cần đối chiếu tài liệu và giáo viên.</a:t>
            </a:r>
          </a:p>
        </p:txBody>
      </p:sp>
    </p:spTree>
    <p:extLst>
      <p:ext uri="{BB962C8B-B14F-4D97-AF65-F5344CB8AC3E}">
        <p14:creationId xmlns:p14="http://schemas.microsoft.com/office/powerpoint/2010/main" val="2870262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D7446A-ED5D-D332-B703-DA4655E0EE88}"/>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1371A0F-6F93-FFAA-60AA-939254E5C249}"/>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02 / CHỨC NĂNG SẢN PHẨM</a:t>
            </a:r>
          </a:p>
        </p:txBody>
      </p:sp>
      <p:sp>
        <p:nvSpPr>
          <p:cNvPr id="4" name="TextBox 3">
            <a:extLst>
              <a:ext uri="{FF2B5EF4-FFF2-40B4-BE49-F238E27FC236}">
                <a16:creationId xmlns:a16="http://schemas.microsoft.com/office/drawing/2014/main" id="{07174A0C-7FF6-C423-6C8F-7BE9156B1DBB}"/>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32238"/>
                </a:solidFill>
                <a:latin typeface="Arial" panose="020B0604020202020204" pitchFamily="34" charset="0"/>
              </a:rPr>
              <a:t>Khảo sát và thống kê trải nghiệm</a:t>
            </a:r>
          </a:p>
        </p:txBody>
      </p:sp>
      <p:sp>
        <p:nvSpPr>
          <p:cNvPr id="5" name="TextBox 4">
            <a:extLst>
              <a:ext uri="{FF2B5EF4-FFF2-40B4-BE49-F238E27FC236}">
                <a16:creationId xmlns:a16="http://schemas.microsoft.com/office/drawing/2014/main" id="{5CEB1F19-99E6-7988-CA85-D5F2BC708468}"/>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C6B7C"/>
                </a:solidFill>
                <a:latin typeface="Arial" panose="020B0604020202020204" pitchFamily="34" charset="0"/>
              </a:rPr>
              <a:t>Luồng: học sinh / giáo viên trả lời → lưu phản hồi → ghép cặp → xem và xuất thống kê.</a:t>
            </a:r>
            <a:endParaRPr lang="en-US" sz="1600">
              <a:solidFill>
                <a:srgbClr val="5C6B7C"/>
              </a:solidFill>
              <a:latin typeface="Arial" panose="020B0604020202020204" pitchFamily="34" charset="0"/>
            </a:endParaRPr>
          </a:p>
        </p:txBody>
      </p:sp>
      <p:sp>
        <p:nvSpPr>
          <p:cNvPr id="6" name="Rectangle 5">
            <a:extLst>
              <a:ext uri="{FF2B5EF4-FFF2-40B4-BE49-F238E27FC236}">
                <a16:creationId xmlns:a16="http://schemas.microsoft.com/office/drawing/2014/main" id="{F876DDC1-E66F-8052-0DC5-182F27EDD63B}"/>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8A5A02C-E9DF-0B27-10B7-2ED4314A310D}"/>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§4.2.4; ảnh ngày 21/09/2026</a:t>
            </a:r>
          </a:p>
        </p:txBody>
      </p:sp>
      <p:sp>
        <p:nvSpPr>
          <p:cNvPr id="8" name="TextBox 7">
            <a:extLst>
              <a:ext uri="{FF2B5EF4-FFF2-40B4-BE49-F238E27FC236}">
                <a16:creationId xmlns:a16="http://schemas.microsoft.com/office/drawing/2014/main" id="{1CA89F0C-10D1-3778-B775-F2EEAB279CE5}"/>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10</a:t>
            </a:r>
          </a:p>
        </p:txBody>
      </p:sp>
      <p:pic>
        <p:nvPicPr>
          <p:cNvPr id="10" name="Picture 9">
            <a:extLst>
              <a:ext uri="{FF2B5EF4-FFF2-40B4-BE49-F238E27FC236}">
                <a16:creationId xmlns:a16="http://schemas.microsoft.com/office/drawing/2014/main" id="{ABE51733-7D72-ECAF-9402-5478BCB0A0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97576" y="2247900"/>
            <a:ext cx="5027948" cy="3454400"/>
          </a:xfrm>
          <a:prstGeom prst="rect">
            <a:avLst/>
          </a:prstGeom>
        </p:spPr>
      </p:pic>
      <p:sp>
        <p:nvSpPr>
          <p:cNvPr id="11" name="Rectangle 10">
            <a:extLst>
              <a:ext uri="{FF2B5EF4-FFF2-40B4-BE49-F238E27FC236}">
                <a16:creationId xmlns:a16="http://schemas.microsoft.com/office/drawing/2014/main" id="{8872BC1E-7960-6041-37E6-EF539E9DA64B}"/>
              </a:ext>
            </a:extLst>
          </p:cNvPr>
          <p:cNvSpPr/>
          <p:nvPr/>
        </p:nvSpPr>
        <p:spPr>
          <a:xfrm>
            <a:off x="6858000" y="2247900"/>
            <a:ext cx="4876800" cy="3454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666B50-7251-C801-93ED-98077A88069F}"/>
              </a:ext>
            </a:extLst>
          </p:cNvPr>
          <p:cNvSpPr/>
          <p:nvPr/>
        </p:nvSpPr>
        <p:spPr>
          <a:xfrm>
            <a:off x="6858000" y="2247900"/>
            <a:ext cx="50800" cy="34544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542503D-15C7-1C81-D144-EE4D827DFE06}"/>
              </a:ext>
            </a:extLst>
          </p:cNvPr>
          <p:cNvSpPr txBox="1"/>
          <p:nvPr/>
        </p:nvSpPr>
        <p:spPr>
          <a:xfrm>
            <a:off x="7086600" y="2451100"/>
            <a:ext cx="44196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Chức năng đã có</a:t>
            </a:r>
          </a:p>
        </p:txBody>
      </p:sp>
      <p:sp>
        <p:nvSpPr>
          <p:cNvPr id="14" name="TextBox 13">
            <a:extLst>
              <a:ext uri="{FF2B5EF4-FFF2-40B4-BE49-F238E27FC236}">
                <a16:creationId xmlns:a16="http://schemas.microsoft.com/office/drawing/2014/main" id="{F6307617-7887-33DA-B747-8E3B9C461655}"/>
              </a:ext>
            </a:extLst>
          </p:cNvPr>
          <p:cNvSpPr txBox="1"/>
          <p:nvPr/>
        </p:nvSpPr>
        <p:spPr>
          <a:xfrm>
            <a:off x="7086600" y="3111500"/>
            <a:ext cx="4419600" cy="1769715"/>
          </a:xfrm>
          <a:prstGeom prst="rect">
            <a:avLst/>
          </a:prstGeom>
          <a:noFill/>
        </p:spPr>
        <p:txBody>
          <a:bodyPr vert="horz" wrap="square" lIns="0" tIns="0" rIns="0" bIns="0" rtlCol="0">
            <a:spAutoFit/>
          </a:bodyPr>
          <a:lstStyle/>
          <a:p>
            <a:pPr>
              <a:spcAft>
                <a:spcPts val="800"/>
              </a:spcAft>
            </a:pPr>
            <a:r>
              <a:rPr lang="vi-VN" sz="1900">
                <a:solidFill>
                  <a:srgbClr val="132238"/>
                </a:solidFill>
                <a:latin typeface="Arial" panose="020B0604020202020204" pitchFamily="34" charset="0"/>
              </a:rPr>
              <a:t>Biểu mẫu học sinh và giáo viên.
Tài khoản phân vai.
Ghép cặp trước–sau, lọc theo khối và biểu đồ Likert.
Xuất Excel / CSV và in báo cáo.</a:t>
            </a:r>
            <a:endParaRPr lang="en-US" sz="1900">
              <a:solidFill>
                <a:srgbClr val="132238"/>
              </a:solidFill>
              <a:latin typeface="Arial" panose="020B0604020202020204" pitchFamily="34" charset="0"/>
            </a:endParaRPr>
          </a:p>
        </p:txBody>
      </p:sp>
      <p:sp>
        <p:nvSpPr>
          <p:cNvPr id="15" name="Rectangle 14">
            <a:extLst>
              <a:ext uri="{FF2B5EF4-FFF2-40B4-BE49-F238E27FC236}">
                <a16:creationId xmlns:a16="http://schemas.microsoft.com/office/drawing/2014/main" id="{03BFDB8A-7065-EA37-2E70-E04450749BE1}"/>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86415B6E-12EC-B91F-A529-D529BA34D856}"/>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FFFFF"/>
                </a:solidFill>
                <a:latin typeface="Arial" panose="020B0604020202020204" pitchFamily="34" charset="0"/>
              </a:rPr>
              <a:t>Số liệu khảo sát được dùng để mô tả trải nghiệm và xác định hướng cải tiến.</a:t>
            </a:r>
            <a:endParaRPr lang="en-US" sz="1300" b="1">
              <a:solidFill>
                <a:srgbClr val="FFFFFF"/>
              </a:solidFill>
              <a:latin typeface="Arial" panose="020B0604020202020204" pitchFamily="34" charset="0"/>
            </a:endParaRPr>
          </a:p>
        </p:txBody>
      </p:sp>
    </p:spTree>
    <p:extLst>
      <p:ext uri="{BB962C8B-B14F-4D97-AF65-F5344CB8AC3E}">
        <p14:creationId xmlns:p14="http://schemas.microsoft.com/office/powerpoint/2010/main" val="3810564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63E280-AC6B-92B9-CA00-9D765888B3C8}"/>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6534563-D52A-DB94-FB20-2E5C4C029F30}"/>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F2B632"/>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E0B8D308-1490-F71A-5272-CA27BCC645C1}"/>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FFFFFF"/>
                </a:solidFill>
                <a:latin typeface="Arial" panose="020B0604020202020204" pitchFamily="34" charset="0"/>
              </a:rPr>
              <a:t>Kiến trúc: bốn lớp phối hợp</a:t>
            </a:r>
          </a:p>
        </p:txBody>
      </p:sp>
      <p:sp>
        <p:nvSpPr>
          <p:cNvPr id="5" name="TextBox 4">
            <a:extLst>
              <a:ext uri="{FF2B5EF4-FFF2-40B4-BE49-F238E27FC236}">
                <a16:creationId xmlns:a16="http://schemas.microsoft.com/office/drawing/2014/main" id="{D94DAF61-CCC2-7575-F9D4-2839ED47AA98}"/>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B7C5D6"/>
                </a:solidFill>
                <a:latin typeface="Arial" panose="020B0604020202020204" pitchFamily="34" charset="0"/>
              </a:rPr>
              <a:t>Giao diện điều phối trải nghiệm; chức năng gọi dữ liệu, mô hình hoặc dịch vụ phù hợp.</a:t>
            </a:r>
          </a:p>
        </p:txBody>
      </p:sp>
      <p:sp>
        <p:nvSpPr>
          <p:cNvPr id="6" name="Rectangle 5">
            <a:extLst>
              <a:ext uri="{FF2B5EF4-FFF2-40B4-BE49-F238E27FC236}">
                <a16:creationId xmlns:a16="http://schemas.microsoft.com/office/drawing/2014/main" id="{AC02C9F1-915D-222E-A075-838D7BABBC0A}"/>
              </a:ext>
            </a:extLst>
          </p:cNvPr>
          <p:cNvSpPr/>
          <p:nvPr/>
        </p:nvSpPr>
        <p:spPr>
          <a:xfrm>
            <a:off x="457200" y="6413500"/>
            <a:ext cx="11277600" cy="12700"/>
          </a:xfrm>
          <a:prstGeom prst="rect">
            <a:avLst/>
          </a:prstGeom>
          <a:solidFill>
            <a:srgbClr val="3142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B929FEB-6E72-C6BA-D9C1-FB7845F73F8D}"/>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B7C5D6"/>
                </a:solidFill>
                <a:latin typeface="Arial" panose="020B0604020202020204" pitchFamily="34" charset="0"/>
              </a:rPr>
              <a:t>HỌC QPAN 3D  •  Báo cáo §3.1–3.2</a:t>
            </a:r>
          </a:p>
        </p:txBody>
      </p:sp>
      <p:sp>
        <p:nvSpPr>
          <p:cNvPr id="8" name="TextBox 7">
            <a:extLst>
              <a:ext uri="{FF2B5EF4-FFF2-40B4-BE49-F238E27FC236}">
                <a16:creationId xmlns:a16="http://schemas.microsoft.com/office/drawing/2014/main" id="{68E509F8-448D-786E-1939-1C0E438D2861}"/>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F2B632"/>
                </a:solidFill>
                <a:latin typeface="Arial" panose="020B0604020202020204" pitchFamily="34" charset="0"/>
              </a:rPr>
              <a:t>11</a:t>
            </a:r>
          </a:p>
        </p:txBody>
      </p:sp>
      <p:sp>
        <p:nvSpPr>
          <p:cNvPr id="9" name="Rectangle 8">
            <a:extLst>
              <a:ext uri="{FF2B5EF4-FFF2-40B4-BE49-F238E27FC236}">
                <a16:creationId xmlns:a16="http://schemas.microsoft.com/office/drawing/2014/main" id="{5EE0B68A-4AF0-B0D0-9E95-F57AA56A7EB3}"/>
              </a:ext>
            </a:extLst>
          </p:cNvPr>
          <p:cNvSpPr/>
          <p:nvPr/>
        </p:nvSpPr>
        <p:spPr>
          <a:xfrm>
            <a:off x="457200" y="2298700"/>
            <a:ext cx="5410200" cy="15621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A8A59F6-D787-9F72-B99E-25652DC43F65}"/>
              </a:ext>
            </a:extLst>
          </p:cNvPr>
          <p:cNvSpPr/>
          <p:nvPr/>
        </p:nvSpPr>
        <p:spPr>
          <a:xfrm>
            <a:off x="457200" y="2298700"/>
            <a:ext cx="50800" cy="1562100"/>
          </a:xfrm>
          <a:prstGeom prst="rect">
            <a:avLst/>
          </a:prstGeom>
          <a:solidFill>
            <a:srgbClr val="F044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A5ECD64-B790-814D-9F87-676669D5489C}"/>
              </a:ext>
            </a:extLst>
          </p:cNvPr>
          <p:cNvSpPr txBox="1"/>
          <p:nvPr/>
        </p:nvSpPr>
        <p:spPr>
          <a:xfrm>
            <a:off x="685800" y="2501900"/>
            <a:ext cx="49530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1. Giao diện</a:t>
            </a:r>
          </a:p>
        </p:txBody>
      </p:sp>
      <p:sp>
        <p:nvSpPr>
          <p:cNvPr id="12" name="TextBox 11">
            <a:extLst>
              <a:ext uri="{FF2B5EF4-FFF2-40B4-BE49-F238E27FC236}">
                <a16:creationId xmlns:a16="http://schemas.microsoft.com/office/drawing/2014/main" id="{86D27678-150E-79A7-5E60-B638A2259325}"/>
              </a:ext>
            </a:extLst>
          </p:cNvPr>
          <p:cNvSpPr txBox="1"/>
          <p:nvPr/>
        </p:nvSpPr>
        <p:spPr>
          <a:xfrm>
            <a:off x="685800" y="3162300"/>
            <a:ext cx="4953000" cy="276999"/>
          </a:xfrm>
          <a:prstGeom prst="rect">
            <a:avLst/>
          </a:prstGeom>
          <a:noFill/>
        </p:spPr>
        <p:txBody>
          <a:bodyPr vert="horz" wrap="square" lIns="0" tIns="0" rIns="0" bIns="0" rtlCol="0">
            <a:spAutoFit/>
          </a:bodyPr>
          <a:lstStyle/>
          <a:p>
            <a:pPr>
              <a:spcAft>
                <a:spcPts val="800"/>
              </a:spcAft>
            </a:pPr>
            <a:r>
              <a:rPr lang="en-US">
                <a:solidFill>
                  <a:srgbClr val="C9D5E2"/>
                </a:solidFill>
                <a:latin typeface="Arial" panose="020B0604020202020204" pitchFamily="34" charset="0"/>
              </a:rPr>
              <a:t>React + TypeScript; Tailwind và Motion.</a:t>
            </a:r>
          </a:p>
        </p:txBody>
      </p:sp>
      <p:sp>
        <p:nvSpPr>
          <p:cNvPr id="13" name="Rectangle 12">
            <a:extLst>
              <a:ext uri="{FF2B5EF4-FFF2-40B4-BE49-F238E27FC236}">
                <a16:creationId xmlns:a16="http://schemas.microsoft.com/office/drawing/2014/main" id="{88E95DE8-D545-86FC-AA43-A14DBE06F666}"/>
              </a:ext>
            </a:extLst>
          </p:cNvPr>
          <p:cNvSpPr/>
          <p:nvPr/>
        </p:nvSpPr>
        <p:spPr>
          <a:xfrm>
            <a:off x="6172200" y="2298700"/>
            <a:ext cx="5562600" cy="15621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B7B8678-6F53-5C49-9749-9802D28FECD8}"/>
              </a:ext>
            </a:extLst>
          </p:cNvPr>
          <p:cNvSpPr/>
          <p:nvPr/>
        </p:nvSpPr>
        <p:spPr>
          <a:xfrm>
            <a:off x="6172200" y="2298700"/>
            <a:ext cx="50800" cy="15621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7AF5A37-4E18-318F-6061-FC02AFD75B47}"/>
              </a:ext>
            </a:extLst>
          </p:cNvPr>
          <p:cNvSpPr txBox="1"/>
          <p:nvPr/>
        </p:nvSpPr>
        <p:spPr>
          <a:xfrm>
            <a:off x="6400800" y="2501900"/>
            <a:ext cx="51054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2. Học tập – đánh giá</a:t>
            </a:r>
          </a:p>
        </p:txBody>
      </p:sp>
      <p:sp>
        <p:nvSpPr>
          <p:cNvPr id="16" name="TextBox 15">
            <a:extLst>
              <a:ext uri="{FF2B5EF4-FFF2-40B4-BE49-F238E27FC236}">
                <a16:creationId xmlns:a16="http://schemas.microsoft.com/office/drawing/2014/main" id="{8256018B-AB8C-AF01-42F9-CCC0D0B08125}"/>
              </a:ext>
            </a:extLst>
          </p:cNvPr>
          <p:cNvSpPr txBox="1"/>
          <p:nvPr/>
        </p:nvSpPr>
        <p:spPr>
          <a:xfrm>
            <a:off x="6400800" y="3162300"/>
            <a:ext cx="5105400" cy="276999"/>
          </a:xfrm>
          <a:prstGeom prst="rect">
            <a:avLst/>
          </a:prstGeom>
          <a:noFill/>
        </p:spPr>
        <p:txBody>
          <a:bodyPr vert="horz" wrap="square" lIns="0" tIns="0" rIns="0" bIns="0" rtlCol="0">
            <a:spAutoFit/>
          </a:bodyPr>
          <a:lstStyle/>
          <a:p>
            <a:pPr>
              <a:spcAft>
                <a:spcPts val="800"/>
              </a:spcAft>
            </a:pPr>
            <a:r>
              <a:rPr lang="en-US">
                <a:solidFill>
                  <a:srgbClr val="C9D5E2"/>
                </a:solidFill>
                <a:latin typeface="Arial" panose="020B0604020202020204" pitchFamily="34" charset="0"/>
              </a:rPr>
              <a:t>Bài học, quiz, đề thi, kỹ năng và XP.</a:t>
            </a:r>
          </a:p>
        </p:txBody>
      </p:sp>
      <p:sp>
        <p:nvSpPr>
          <p:cNvPr id="17" name="Rectangle 16">
            <a:extLst>
              <a:ext uri="{FF2B5EF4-FFF2-40B4-BE49-F238E27FC236}">
                <a16:creationId xmlns:a16="http://schemas.microsoft.com/office/drawing/2014/main" id="{FB4FFDF9-2BF8-F8B0-C6E9-F1FEF07D6D48}"/>
              </a:ext>
            </a:extLst>
          </p:cNvPr>
          <p:cNvSpPr/>
          <p:nvPr/>
        </p:nvSpPr>
        <p:spPr>
          <a:xfrm>
            <a:off x="457200" y="4127500"/>
            <a:ext cx="5410200" cy="15621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7F7F90B-4D52-B163-F49F-585BAA5271C3}"/>
              </a:ext>
            </a:extLst>
          </p:cNvPr>
          <p:cNvSpPr/>
          <p:nvPr/>
        </p:nvSpPr>
        <p:spPr>
          <a:xfrm>
            <a:off x="457200" y="4127500"/>
            <a:ext cx="50800" cy="1562100"/>
          </a:xfrm>
          <a:prstGeom prst="rect">
            <a:avLst/>
          </a:prstGeom>
          <a:solidFill>
            <a:srgbClr val="F0444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AB87A7C-3903-E6A2-CDD5-ADD3BE5FDE22}"/>
              </a:ext>
            </a:extLst>
          </p:cNvPr>
          <p:cNvSpPr txBox="1"/>
          <p:nvPr/>
        </p:nvSpPr>
        <p:spPr>
          <a:xfrm>
            <a:off x="685800" y="4330700"/>
            <a:ext cx="49530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3. 3D và Pose</a:t>
            </a:r>
          </a:p>
        </p:txBody>
      </p:sp>
      <p:sp>
        <p:nvSpPr>
          <p:cNvPr id="20" name="TextBox 19">
            <a:extLst>
              <a:ext uri="{FF2B5EF4-FFF2-40B4-BE49-F238E27FC236}">
                <a16:creationId xmlns:a16="http://schemas.microsoft.com/office/drawing/2014/main" id="{26A8FD97-6221-91A1-582E-E996FED17B83}"/>
              </a:ext>
            </a:extLst>
          </p:cNvPr>
          <p:cNvSpPr txBox="1"/>
          <p:nvPr/>
        </p:nvSpPr>
        <p:spPr>
          <a:xfrm>
            <a:off x="685800" y="4991100"/>
            <a:ext cx="4953000" cy="276999"/>
          </a:xfrm>
          <a:prstGeom prst="rect">
            <a:avLst/>
          </a:prstGeom>
          <a:noFill/>
        </p:spPr>
        <p:txBody>
          <a:bodyPr vert="horz" wrap="square" lIns="0" tIns="0" rIns="0" bIns="0" rtlCol="0">
            <a:spAutoFit/>
          </a:bodyPr>
          <a:lstStyle/>
          <a:p>
            <a:pPr>
              <a:spcAft>
                <a:spcPts val="800"/>
              </a:spcAft>
            </a:pPr>
            <a:r>
              <a:rPr lang="en-US">
                <a:solidFill>
                  <a:srgbClr val="C9D5E2"/>
                </a:solidFill>
                <a:latin typeface="Arial" panose="020B0604020202020204" pitchFamily="34" charset="0"/>
              </a:rPr>
              <a:t>Three.js / R3F / Drei; MediaPipe + rubric.</a:t>
            </a:r>
          </a:p>
        </p:txBody>
      </p:sp>
      <p:sp>
        <p:nvSpPr>
          <p:cNvPr id="21" name="Rectangle 20">
            <a:extLst>
              <a:ext uri="{FF2B5EF4-FFF2-40B4-BE49-F238E27FC236}">
                <a16:creationId xmlns:a16="http://schemas.microsoft.com/office/drawing/2014/main" id="{B1C3A37F-0F18-825B-741F-6C80F752DB1F}"/>
              </a:ext>
            </a:extLst>
          </p:cNvPr>
          <p:cNvSpPr/>
          <p:nvPr/>
        </p:nvSpPr>
        <p:spPr>
          <a:xfrm>
            <a:off x="6172200" y="4127500"/>
            <a:ext cx="5562600" cy="15621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7737989-726D-A17F-F4EF-F45B45A59EAD}"/>
              </a:ext>
            </a:extLst>
          </p:cNvPr>
          <p:cNvSpPr/>
          <p:nvPr/>
        </p:nvSpPr>
        <p:spPr>
          <a:xfrm>
            <a:off x="6172200" y="4127500"/>
            <a:ext cx="50800" cy="15621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90F9818-A3FC-F6B7-7E5A-3B5937855025}"/>
              </a:ext>
            </a:extLst>
          </p:cNvPr>
          <p:cNvSpPr txBox="1"/>
          <p:nvPr/>
        </p:nvSpPr>
        <p:spPr>
          <a:xfrm>
            <a:off x="6400800" y="4330700"/>
            <a:ext cx="51054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4. Dịch vụ – dữ liệu</a:t>
            </a:r>
          </a:p>
        </p:txBody>
      </p:sp>
      <p:sp>
        <p:nvSpPr>
          <p:cNvPr id="24" name="TextBox 23">
            <a:extLst>
              <a:ext uri="{FF2B5EF4-FFF2-40B4-BE49-F238E27FC236}">
                <a16:creationId xmlns:a16="http://schemas.microsoft.com/office/drawing/2014/main" id="{2580F203-9A9D-D345-2038-12AC3EACADF5}"/>
              </a:ext>
            </a:extLst>
          </p:cNvPr>
          <p:cNvSpPr txBox="1"/>
          <p:nvPr/>
        </p:nvSpPr>
        <p:spPr>
          <a:xfrm>
            <a:off x="6400800" y="4991100"/>
            <a:ext cx="5105400" cy="276999"/>
          </a:xfrm>
          <a:prstGeom prst="rect">
            <a:avLst/>
          </a:prstGeom>
          <a:noFill/>
        </p:spPr>
        <p:txBody>
          <a:bodyPr vert="horz" wrap="square" lIns="0" tIns="0" rIns="0" bIns="0" rtlCol="0">
            <a:spAutoFit/>
          </a:bodyPr>
          <a:lstStyle/>
          <a:p>
            <a:pPr>
              <a:spcAft>
                <a:spcPts val="800"/>
              </a:spcAft>
            </a:pPr>
            <a:r>
              <a:rPr lang="en-US">
                <a:solidFill>
                  <a:srgbClr val="C9D5E2"/>
                </a:solidFill>
                <a:latin typeface="Arial" panose="020B0604020202020204" pitchFamily="34" charset="0"/>
              </a:rPr>
              <a:t>Express, Worker / D1, Gemini và localStorage.</a:t>
            </a:r>
          </a:p>
        </p:txBody>
      </p:sp>
      <p:sp>
        <p:nvSpPr>
          <p:cNvPr id="25" name="Rectangle 24">
            <a:extLst>
              <a:ext uri="{FF2B5EF4-FFF2-40B4-BE49-F238E27FC236}">
                <a16:creationId xmlns:a16="http://schemas.microsoft.com/office/drawing/2014/main" id="{C3F0593A-A2D3-716D-6BB1-20C8E2EAFE98}"/>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7625986-EFAE-3C2C-12AB-0A8080B705E8}"/>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2B632"/>
                </a:solidFill>
                <a:latin typeface="Arial" panose="020B0604020202020204" pitchFamily="34" charset="0"/>
              </a:rPr>
              <a:t>Hai môi trường backend hiện chưa hỗ trợ hoàn toàn giống nhau.</a:t>
            </a:r>
            <a:endParaRPr lang="en-US" sz="1300" b="1">
              <a:solidFill>
                <a:srgbClr val="F2B632"/>
              </a:solidFill>
              <a:latin typeface="Arial" panose="020B0604020202020204" pitchFamily="34" charset="0"/>
            </a:endParaRPr>
          </a:p>
        </p:txBody>
      </p:sp>
    </p:spTree>
    <p:extLst>
      <p:ext uri="{BB962C8B-B14F-4D97-AF65-F5344CB8AC3E}">
        <p14:creationId xmlns:p14="http://schemas.microsoft.com/office/powerpoint/2010/main" val="1453046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AE8732B-C91C-C672-96F0-B66CD27E1325}"/>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6B0FEB6-DE85-0244-357A-F49820C4A6ED}"/>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22B913B5-A136-2B33-4322-B905C7C5DF83}"/>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pt-BR" sz="3000" b="1">
                <a:solidFill>
                  <a:srgbClr val="132238"/>
                </a:solidFill>
                <a:latin typeface="Arial" panose="020B0604020202020204" pitchFamily="34" charset="0"/>
              </a:rPr>
              <a:t>Ngôn ngữ, công cụ và vai trò</a:t>
            </a:r>
            <a:endParaRPr lang="en-US" sz="3000" b="1">
              <a:solidFill>
                <a:srgbClr val="132238"/>
              </a:solidFill>
              <a:latin typeface="Arial" panose="020B0604020202020204" pitchFamily="34" charset="0"/>
            </a:endParaRPr>
          </a:p>
        </p:txBody>
      </p:sp>
      <p:sp>
        <p:nvSpPr>
          <p:cNvPr id="5" name="TextBox 4">
            <a:extLst>
              <a:ext uri="{FF2B5EF4-FFF2-40B4-BE49-F238E27FC236}">
                <a16:creationId xmlns:a16="http://schemas.microsoft.com/office/drawing/2014/main" id="{D1D5A4B7-77B2-AD0B-A747-D60DF56A97E9}"/>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C6B7C"/>
                </a:solidFill>
                <a:latin typeface="Arial" panose="020B0604020202020204" pitchFamily="34" charset="0"/>
              </a:rPr>
              <a:t>Phân biệt ngôn ngữ lập trình với thư viện, công cụ và định dạng tài nguyên.</a:t>
            </a:r>
            <a:endParaRPr lang="en-US" sz="1600">
              <a:solidFill>
                <a:srgbClr val="5C6B7C"/>
              </a:solidFill>
              <a:latin typeface="Arial" panose="020B0604020202020204" pitchFamily="34" charset="0"/>
            </a:endParaRPr>
          </a:p>
        </p:txBody>
      </p:sp>
      <p:sp>
        <p:nvSpPr>
          <p:cNvPr id="6" name="Rectangle 5">
            <a:extLst>
              <a:ext uri="{FF2B5EF4-FFF2-40B4-BE49-F238E27FC236}">
                <a16:creationId xmlns:a16="http://schemas.microsoft.com/office/drawing/2014/main" id="{437242A4-1890-15B0-9F29-9C6866480350}"/>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B5B3EDB-9E3D-86E5-470A-CF9019C8A010}"/>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§3.3</a:t>
            </a:r>
          </a:p>
        </p:txBody>
      </p:sp>
      <p:sp>
        <p:nvSpPr>
          <p:cNvPr id="8" name="TextBox 7">
            <a:extLst>
              <a:ext uri="{FF2B5EF4-FFF2-40B4-BE49-F238E27FC236}">
                <a16:creationId xmlns:a16="http://schemas.microsoft.com/office/drawing/2014/main" id="{A1C364CD-909F-A30B-7695-4D8C62586498}"/>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12</a:t>
            </a:r>
          </a:p>
        </p:txBody>
      </p:sp>
      <p:sp>
        <p:nvSpPr>
          <p:cNvPr id="9" name="Rectangle 8">
            <a:extLst>
              <a:ext uri="{FF2B5EF4-FFF2-40B4-BE49-F238E27FC236}">
                <a16:creationId xmlns:a16="http://schemas.microsoft.com/office/drawing/2014/main" id="{DE5F662D-3F80-FFE3-1D9E-CAE500E4A206}"/>
              </a:ext>
            </a:extLst>
          </p:cNvPr>
          <p:cNvSpPr/>
          <p:nvPr/>
        </p:nvSpPr>
        <p:spPr>
          <a:xfrm>
            <a:off x="457200" y="22606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9F6DDA0-52FE-96C7-0E46-85B341C12560}"/>
              </a:ext>
            </a:extLst>
          </p:cNvPr>
          <p:cNvSpPr txBox="1"/>
          <p:nvPr/>
        </p:nvSpPr>
        <p:spPr>
          <a:xfrm>
            <a:off x="609600" y="2400300"/>
            <a:ext cx="3810000" cy="261610"/>
          </a:xfrm>
          <a:prstGeom prst="rect">
            <a:avLst/>
          </a:prstGeom>
          <a:noFill/>
        </p:spPr>
        <p:txBody>
          <a:bodyPr vert="horz" wrap="square" lIns="0" tIns="0" rIns="0" bIns="0" rtlCol="0">
            <a:spAutoFit/>
          </a:bodyPr>
          <a:lstStyle/>
          <a:p>
            <a:pPr>
              <a:spcAft>
                <a:spcPts val="800"/>
              </a:spcAft>
            </a:pPr>
            <a:r>
              <a:rPr lang="en-US" sz="1700" b="1">
                <a:solidFill>
                  <a:srgbClr val="D71920"/>
                </a:solidFill>
                <a:latin typeface="Arial" panose="020B0604020202020204" pitchFamily="34" charset="0"/>
              </a:rPr>
              <a:t>TypeScript / JavaScript</a:t>
            </a:r>
          </a:p>
        </p:txBody>
      </p:sp>
      <p:sp>
        <p:nvSpPr>
          <p:cNvPr id="11" name="TextBox 10">
            <a:extLst>
              <a:ext uri="{FF2B5EF4-FFF2-40B4-BE49-F238E27FC236}">
                <a16:creationId xmlns:a16="http://schemas.microsoft.com/office/drawing/2014/main" id="{FCB505BD-87B2-0604-506F-CC0D046859C3}"/>
              </a:ext>
            </a:extLst>
          </p:cNvPr>
          <p:cNvSpPr txBox="1"/>
          <p:nvPr/>
        </p:nvSpPr>
        <p:spPr>
          <a:xfrm>
            <a:off x="4584700" y="2400300"/>
            <a:ext cx="6934200" cy="261610"/>
          </a:xfrm>
          <a:prstGeom prst="rect">
            <a:avLst/>
          </a:prstGeom>
          <a:noFill/>
        </p:spPr>
        <p:txBody>
          <a:bodyPr vert="horz" wrap="square" lIns="0" tIns="0" rIns="0" bIns="0" rtlCol="0">
            <a:spAutoFit/>
          </a:bodyPr>
          <a:lstStyle/>
          <a:p>
            <a:pPr>
              <a:spcAft>
                <a:spcPts val="800"/>
              </a:spcAft>
            </a:pPr>
            <a:r>
              <a:rPr lang="en-US" sz="1700">
                <a:solidFill>
                  <a:srgbClr val="132238"/>
                </a:solidFill>
                <a:latin typeface="Arial" panose="020B0604020202020204" pitchFamily="34" charset="0"/>
              </a:rPr>
              <a:t>Logic web; React xây giao diện; Vite đóng gói.</a:t>
            </a:r>
          </a:p>
        </p:txBody>
      </p:sp>
      <p:sp>
        <p:nvSpPr>
          <p:cNvPr id="12" name="Rectangle 11">
            <a:extLst>
              <a:ext uri="{FF2B5EF4-FFF2-40B4-BE49-F238E27FC236}">
                <a16:creationId xmlns:a16="http://schemas.microsoft.com/office/drawing/2014/main" id="{20F83E2B-A4BD-6689-7E99-A03B007D65B2}"/>
              </a:ext>
            </a:extLst>
          </p:cNvPr>
          <p:cNvSpPr/>
          <p:nvPr/>
        </p:nvSpPr>
        <p:spPr>
          <a:xfrm>
            <a:off x="457200" y="29210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860563D-BCD7-5594-BB13-7085800BC223}"/>
              </a:ext>
            </a:extLst>
          </p:cNvPr>
          <p:cNvSpPr txBox="1"/>
          <p:nvPr/>
        </p:nvSpPr>
        <p:spPr>
          <a:xfrm>
            <a:off x="609600" y="3060700"/>
            <a:ext cx="3810000" cy="261610"/>
          </a:xfrm>
          <a:prstGeom prst="rect">
            <a:avLst/>
          </a:prstGeom>
          <a:noFill/>
        </p:spPr>
        <p:txBody>
          <a:bodyPr vert="horz" wrap="square" lIns="0" tIns="0" rIns="0" bIns="0" rtlCol="0">
            <a:spAutoFit/>
          </a:bodyPr>
          <a:lstStyle/>
          <a:p>
            <a:pPr>
              <a:spcAft>
                <a:spcPts val="800"/>
              </a:spcAft>
            </a:pPr>
            <a:r>
              <a:rPr lang="en-US" sz="1700" b="1">
                <a:solidFill>
                  <a:srgbClr val="D71920"/>
                </a:solidFill>
                <a:latin typeface="Arial" panose="020B0604020202020204" pitchFamily="34" charset="0"/>
              </a:rPr>
              <a:t>Python / bpy + Blender</a:t>
            </a:r>
          </a:p>
        </p:txBody>
      </p:sp>
      <p:sp>
        <p:nvSpPr>
          <p:cNvPr id="14" name="TextBox 13">
            <a:extLst>
              <a:ext uri="{FF2B5EF4-FFF2-40B4-BE49-F238E27FC236}">
                <a16:creationId xmlns:a16="http://schemas.microsoft.com/office/drawing/2014/main" id="{60EA9E47-00E0-0207-CD36-D5153327BD11}"/>
              </a:ext>
            </a:extLst>
          </p:cNvPr>
          <p:cNvSpPr txBox="1"/>
          <p:nvPr/>
        </p:nvSpPr>
        <p:spPr>
          <a:xfrm>
            <a:off x="4584700" y="3060700"/>
            <a:ext cx="6934200" cy="261610"/>
          </a:xfrm>
          <a:prstGeom prst="rect">
            <a:avLst/>
          </a:prstGeom>
          <a:noFill/>
        </p:spPr>
        <p:txBody>
          <a:bodyPr vert="horz" wrap="square" lIns="0" tIns="0" rIns="0" bIns="0" rtlCol="0">
            <a:spAutoFit/>
          </a:bodyPr>
          <a:lstStyle/>
          <a:p>
            <a:pPr>
              <a:spcAft>
                <a:spcPts val="800"/>
              </a:spcAft>
            </a:pPr>
            <a:r>
              <a:rPr lang="en-US" sz="1700">
                <a:solidFill>
                  <a:srgbClr val="132238"/>
                </a:solidFill>
                <a:latin typeface="Arial" panose="020B0604020202020204" pitchFamily="34" charset="0"/>
              </a:rPr>
              <a:t>Script và công cụ dựng hình, rig, hoạt ảnh, xuất tài nguyên.</a:t>
            </a:r>
          </a:p>
        </p:txBody>
      </p:sp>
      <p:sp>
        <p:nvSpPr>
          <p:cNvPr id="15" name="Rectangle 14">
            <a:extLst>
              <a:ext uri="{FF2B5EF4-FFF2-40B4-BE49-F238E27FC236}">
                <a16:creationId xmlns:a16="http://schemas.microsoft.com/office/drawing/2014/main" id="{71E68F2F-14F2-9416-1B92-735A5AF01D92}"/>
              </a:ext>
            </a:extLst>
          </p:cNvPr>
          <p:cNvSpPr/>
          <p:nvPr/>
        </p:nvSpPr>
        <p:spPr>
          <a:xfrm>
            <a:off x="457200" y="35814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17355E5-C13D-4726-1805-E7999F231D89}"/>
              </a:ext>
            </a:extLst>
          </p:cNvPr>
          <p:cNvSpPr txBox="1"/>
          <p:nvPr/>
        </p:nvSpPr>
        <p:spPr>
          <a:xfrm>
            <a:off x="609600" y="3721100"/>
            <a:ext cx="3810000" cy="261610"/>
          </a:xfrm>
          <a:prstGeom prst="rect">
            <a:avLst/>
          </a:prstGeom>
          <a:noFill/>
        </p:spPr>
        <p:txBody>
          <a:bodyPr vert="horz" wrap="square" lIns="0" tIns="0" rIns="0" bIns="0" rtlCol="0">
            <a:spAutoFit/>
          </a:bodyPr>
          <a:lstStyle/>
          <a:p>
            <a:pPr>
              <a:spcAft>
                <a:spcPts val="800"/>
              </a:spcAft>
            </a:pPr>
            <a:r>
              <a:rPr lang="en-US" sz="1700" b="1">
                <a:solidFill>
                  <a:srgbClr val="D71920"/>
                </a:solidFill>
                <a:latin typeface="Arial" panose="020B0604020202020204" pitchFamily="34" charset="0"/>
              </a:rPr>
              <a:t>Three.js + R3F + Drei</a:t>
            </a:r>
          </a:p>
        </p:txBody>
      </p:sp>
      <p:sp>
        <p:nvSpPr>
          <p:cNvPr id="17" name="TextBox 16">
            <a:extLst>
              <a:ext uri="{FF2B5EF4-FFF2-40B4-BE49-F238E27FC236}">
                <a16:creationId xmlns:a16="http://schemas.microsoft.com/office/drawing/2014/main" id="{57409B29-9658-C1D3-681B-9D93B1A3084F}"/>
              </a:ext>
            </a:extLst>
          </p:cNvPr>
          <p:cNvSpPr txBox="1"/>
          <p:nvPr/>
        </p:nvSpPr>
        <p:spPr>
          <a:xfrm>
            <a:off x="4584700" y="3721100"/>
            <a:ext cx="6934200" cy="261610"/>
          </a:xfrm>
          <a:prstGeom prst="rect">
            <a:avLst/>
          </a:prstGeom>
          <a:noFill/>
        </p:spPr>
        <p:txBody>
          <a:bodyPr vert="horz" wrap="square" lIns="0" tIns="0" rIns="0" bIns="0" rtlCol="0">
            <a:spAutoFit/>
          </a:bodyPr>
          <a:lstStyle/>
          <a:p>
            <a:pPr>
              <a:spcAft>
                <a:spcPts val="800"/>
              </a:spcAft>
            </a:pPr>
            <a:r>
              <a:rPr lang="en-US" sz="1700">
                <a:solidFill>
                  <a:srgbClr val="132238"/>
                </a:solidFill>
                <a:latin typeface="Arial" panose="020B0604020202020204" pitchFamily="34" charset="0"/>
              </a:rPr>
              <a:t>Hiển thị mô hình GLB, điều khiển camera và hoạt ảnh.</a:t>
            </a:r>
          </a:p>
        </p:txBody>
      </p:sp>
      <p:sp>
        <p:nvSpPr>
          <p:cNvPr id="18" name="Rectangle 17">
            <a:extLst>
              <a:ext uri="{FF2B5EF4-FFF2-40B4-BE49-F238E27FC236}">
                <a16:creationId xmlns:a16="http://schemas.microsoft.com/office/drawing/2014/main" id="{843B6F00-C81B-D856-7FD5-EF2CDF56BBB7}"/>
              </a:ext>
            </a:extLst>
          </p:cNvPr>
          <p:cNvSpPr/>
          <p:nvPr/>
        </p:nvSpPr>
        <p:spPr>
          <a:xfrm>
            <a:off x="457200" y="42418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C8E38AA-A45C-0143-9ABE-2CD5C00B44A2}"/>
              </a:ext>
            </a:extLst>
          </p:cNvPr>
          <p:cNvSpPr txBox="1"/>
          <p:nvPr/>
        </p:nvSpPr>
        <p:spPr>
          <a:xfrm>
            <a:off x="609600" y="4381500"/>
            <a:ext cx="3810000" cy="261610"/>
          </a:xfrm>
          <a:prstGeom prst="rect">
            <a:avLst/>
          </a:prstGeom>
          <a:noFill/>
        </p:spPr>
        <p:txBody>
          <a:bodyPr vert="horz" wrap="square" lIns="0" tIns="0" rIns="0" bIns="0" rtlCol="0">
            <a:spAutoFit/>
          </a:bodyPr>
          <a:lstStyle/>
          <a:p>
            <a:pPr>
              <a:spcAft>
                <a:spcPts val="800"/>
              </a:spcAft>
            </a:pPr>
            <a:r>
              <a:rPr lang="en-US" sz="1700" b="1">
                <a:solidFill>
                  <a:srgbClr val="D71920"/>
                </a:solidFill>
                <a:latin typeface="Arial" panose="020B0604020202020204" pitchFamily="34" charset="0"/>
              </a:rPr>
              <a:t>MediaPipe + rubric; Gemini</a:t>
            </a:r>
          </a:p>
        </p:txBody>
      </p:sp>
      <p:sp>
        <p:nvSpPr>
          <p:cNvPr id="20" name="TextBox 19">
            <a:extLst>
              <a:ext uri="{FF2B5EF4-FFF2-40B4-BE49-F238E27FC236}">
                <a16:creationId xmlns:a16="http://schemas.microsoft.com/office/drawing/2014/main" id="{EB4EC832-76ED-5E21-1DD7-95A85777CE57}"/>
              </a:ext>
            </a:extLst>
          </p:cNvPr>
          <p:cNvSpPr txBox="1"/>
          <p:nvPr/>
        </p:nvSpPr>
        <p:spPr>
          <a:xfrm>
            <a:off x="4584700" y="4381500"/>
            <a:ext cx="6934200" cy="261610"/>
          </a:xfrm>
          <a:prstGeom prst="rect">
            <a:avLst/>
          </a:prstGeom>
          <a:noFill/>
        </p:spPr>
        <p:txBody>
          <a:bodyPr vert="horz" wrap="square" lIns="0" tIns="0" rIns="0" bIns="0" rtlCol="0">
            <a:spAutoFit/>
          </a:bodyPr>
          <a:lstStyle/>
          <a:p>
            <a:pPr>
              <a:spcAft>
                <a:spcPts val="800"/>
              </a:spcAft>
            </a:pPr>
            <a:r>
              <a:rPr lang="vi-VN" sz="1700">
                <a:solidFill>
                  <a:srgbClr val="132238"/>
                </a:solidFill>
                <a:latin typeface="Arial" panose="020B0604020202020204" pitchFamily="34" charset="0"/>
              </a:rPr>
              <a:t>Nhận mốc cơ thể / chấm theo tiêu chí; AI tạo sinh qua API.</a:t>
            </a:r>
            <a:endParaRPr lang="en-US" sz="1700">
              <a:solidFill>
                <a:srgbClr val="132238"/>
              </a:solidFill>
              <a:latin typeface="Arial" panose="020B0604020202020204" pitchFamily="34" charset="0"/>
            </a:endParaRPr>
          </a:p>
        </p:txBody>
      </p:sp>
      <p:sp>
        <p:nvSpPr>
          <p:cNvPr id="21" name="Rectangle 20">
            <a:extLst>
              <a:ext uri="{FF2B5EF4-FFF2-40B4-BE49-F238E27FC236}">
                <a16:creationId xmlns:a16="http://schemas.microsoft.com/office/drawing/2014/main" id="{28C99165-164B-16E1-C0C2-92BE6DD729D6}"/>
              </a:ext>
            </a:extLst>
          </p:cNvPr>
          <p:cNvSpPr/>
          <p:nvPr/>
        </p:nvSpPr>
        <p:spPr>
          <a:xfrm>
            <a:off x="457200" y="49022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786B6CF-5BAF-CAB2-8E7A-82AC054D543E}"/>
              </a:ext>
            </a:extLst>
          </p:cNvPr>
          <p:cNvSpPr txBox="1"/>
          <p:nvPr/>
        </p:nvSpPr>
        <p:spPr>
          <a:xfrm>
            <a:off x="609600" y="5041900"/>
            <a:ext cx="3810000" cy="261610"/>
          </a:xfrm>
          <a:prstGeom prst="rect">
            <a:avLst/>
          </a:prstGeom>
          <a:noFill/>
        </p:spPr>
        <p:txBody>
          <a:bodyPr vert="horz" wrap="square" lIns="0" tIns="0" rIns="0" bIns="0" rtlCol="0">
            <a:spAutoFit/>
          </a:bodyPr>
          <a:lstStyle/>
          <a:p>
            <a:pPr>
              <a:spcAft>
                <a:spcPts val="800"/>
              </a:spcAft>
            </a:pPr>
            <a:r>
              <a:rPr lang="en-US" sz="1700" b="1">
                <a:solidFill>
                  <a:srgbClr val="D71920"/>
                </a:solidFill>
                <a:latin typeface="Arial" panose="020B0604020202020204" pitchFamily="34" charset="0"/>
              </a:rPr>
              <a:t>C++ / WebAssembly</a:t>
            </a:r>
          </a:p>
        </p:txBody>
      </p:sp>
      <p:sp>
        <p:nvSpPr>
          <p:cNvPr id="23" name="TextBox 22">
            <a:extLst>
              <a:ext uri="{FF2B5EF4-FFF2-40B4-BE49-F238E27FC236}">
                <a16:creationId xmlns:a16="http://schemas.microsoft.com/office/drawing/2014/main" id="{C1C050F8-FE2D-8608-FC60-3F5F50A30259}"/>
              </a:ext>
            </a:extLst>
          </p:cNvPr>
          <p:cNvSpPr txBox="1"/>
          <p:nvPr/>
        </p:nvSpPr>
        <p:spPr>
          <a:xfrm>
            <a:off x="4584700" y="5041900"/>
            <a:ext cx="6934200" cy="261610"/>
          </a:xfrm>
          <a:prstGeom prst="rect">
            <a:avLst/>
          </a:prstGeom>
          <a:noFill/>
        </p:spPr>
        <p:txBody>
          <a:bodyPr vert="horz" wrap="square" lIns="0" tIns="0" rIns="0" bIns="0" rtlCol="0">
            <a:spAutoFit/>
          </a:bodyPr>
          <a:lstStyle/>
          <a:p>
            <a:pPr>
              <a:spcAft>
                <a:spcPts val="800"/>
              </a:spcAft>
            </a:pPr>
            <a:r>
              <a:rPr lang="vi-VN" sz="1700">
                <a:solidFill>
                  <a:srgbClr val="132238"/>
                </a:solidFill>
                <a:latin typeface="Arial" panose="020B0604020202020204" pitchFamily="34" charset="0"/>
              </a:rPr>
              <a:t>Phần tính toán; có phương án JavaScript dự phòng.</a:t>
            </a:r>
            <a:endParaRPr lang="en-US" sz="1700">
              <a:solidFill>
                <a:srgbClr val="132238"/>
              </a:solidFill>
              <a:latin typeface="Arial" panose="020B0604020202020204" pitchFamily="34" charset="0"/>
            </a:endParaRPr>
          </a:p>
        </p:txBody>
      </p:sp>
      <p:sp>
        <p:nvSpPr>
          <p:cNvPr id="24" name="Rectangle 23">
            <a:extLst>
              <a:ext uri="{FF2B5EF4-FFF2-40B4-BE49-F238E27FC236}">
                <a16:creationId xmlns:a16="http://schemas.microsoft.com/office/drawing/2014/main" id="{48CBA099-FC1E-3077-1504-FCE21DD44C1F}"/>
              </a:ext>
            </a:extLst>
          </p:cNvPr>
          <p:cNvSpPr/>
          <p:nvPr/>
        </p:nvSpPr>
        <p:spPr>
          <a:xfrm>
            <a:off x="457200" y="5562600"/>
            <a:ext cx="11277600" cy="5969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5A5AE86-DE9B-B531-0832-D700BDCE871E}"/>
              </a:ext>
            </a:extLst>
          </p:cNvPr>
          <p:cNvSpPr txBox="1"/>
          <p:nvPr/>
        </p:nvSpPr>
        <p:spPr>
          <a:xfrm>
            <a:off x="609600" y="5702300"/>
            <a:ext cx="3810000" cy="261610"/>
          </a:xfrm>
          <a:prstGeom prst="rect">
            <a:avLst/>
          </a:prstGeom>
          <a:noFill/>
        </p:spPr>
        <p:txBody>
          <a:bodyPr vert="horz" wrap="square" lIns="0" tIns="0" rIns="0" bIns="0" rtlCol="0">
            <a:spAutoFit/>
          </a:bodyPr>
          <a:lstStyle/>
          <a:p>
            <a:pPr>
              <a:spcAft>
                <a:spcPts val="800"/>
              </a:spcAft>
            </a:pPr>
            <a:r>
              <a:rPr lang="en-US" sz="1700" b="1">
                <a:solidFill>
                  <a:srgbClr val="D71920"/>
                </a:solidFill>
                <a:latin typeface="Arial" panose="020B0604020202020204" pitchFamily="34" charset="0"/>
              </a:rPr>
              <a:t>Express; Worker / D1</a:t>
            </a:r>
          </a:p>
        </p:txBody>
      </p:sp>
      <p:sp>
        <p:nvSpPr>
          <p:cNvPr id="26" name="TextBox 25">
            <a:extLst>
              <a:ext uri="{FF2B5EF4-FFF2-40B4-BE49-F238E27FC236}">
                <a16:creationId xmlns:a16="http://schemas.microsoft.com/office/drawing/2014/main" id="{32348D98-C304-9699-B1BF-9F3F21B4220A}"/>
              </a:ext>
            </a:extLst>
          </p:cNvPr>
          <p:cNvSpPr txBox="1"/>
          <p:nvPr/>
        </p:nvSpPr>
        <p:spPr>
          <a:xfrm>
            <a:off x="4584700" y="5702300"/>
            <a:ext cx="6934200" cy="261610"/>
          </a:xfrm>
          <a:prstGeom prst="rect">
            <a:avLst/>
          </a:prstGeom>
          <a:noFill/>
        </p:spPr>
        <p:txBody>
          <a:bodyPr vert="horz" wrap="square" lIns="0" tIns="0" rIns="0" bIns="0" rtlCol="0">
            <a:spAutoFit/>
          </a:bodyPr>
          <a:lstStyle/>
          <a:p>
            <a:pPr>
              <a:spcAft>
                <a:spcPts val="800"/>
              </a:spcAft>
            </a:pPr>
            <a:r>
              <a:rPr lang="vi-VN" sz="1700">
                <a:solidFill>
                  <a:srgbClr val="132238"/>
                </a:solidFill>
                <a:latin typeface="Arial" panose="020B0604020202020204" pitchFamily="34" charset="0"/>
              </a:rPr>
              <a:t>Backend và dữ liệu máy chủ; localStorage lưu cục bộ.</a:t>
            </a:r>
            <a:endParaRPr lang="en-US" sz="1700">
              <a:solidFill>
                <a:srgbClr val="132238"/>
              </a:solidFill>
              <a:latin typeface="Arial" panose="020B0604020202020204" pitchFamily="34" charset="0"/>
            </a:endParaRPr>
          </a:p>
        </p:txBody>
      </p:sp>
    </p:spTree>
    <p:extLst>
      <p:ext uri="{BB962C8B-B14F-4D97-AF65-F5344CB8AC3E}">
        <p14:creationId xmlns:p14="http://schemas.microsoft.com/office/powerpoint/2010/main" val="437950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3C84EE-EED3-1A1A-025A-1BD9D4C604AF}"/>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B714936-D957-B771-50D1-447701A3D53D}"/>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492BA775-3621-F18D-6639-81A3D0BE446F}"/>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32238"/>
                </a:solidFill>
                <a:latin typeface="Arial" panose="020B0604020202020204" pitchFamily="34" charset="0"/>
              </a:rPr>
              <a:t>Từ mô hình đến tương tác 3D</a:t>
            </a:r>
            <a:endParaRPr lang="en-US" sz="3000" b="1">
              <a:solidFill>
                <a:srgbClr val="132238"/>
              </a:solidFill>
              <a:latin typeface="Arial" panose="020B0604020202020204" pitchFamily="34" charset="0"/>
            </a:endParaRPr>
          </a:p>
        </p:txBody>
      </p:sp>
      <p:sp>
        <p:nvSpPr>
          <p:cNvPr id="5" name="TextBox 4">
            <a:extLst>
              <a:ext uri="{FF2B5EF4-FFF2-40B4-BE49-F238E27FC236}">
                <a16:creationId xmlns:a16="http://schemas.microsoft.com/office/drawing/2014/main" id="{EFB40976-CD82-913C-AC31-F101CEFF9916}"/>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Quy trình tạo tài nguyên và điều khiển trên trình duyệt.</a:t>
            </a:r>
          </a:p>
        </p:txBody>
      </p:sp>
      <p:sp>
        <p:nvSpPr>
          <p:cNvPr id="6" name="Rectangle 5">
            <a:extLst>
              <a:ext uri="{FF2B5EF4-FFF2-40B4-BE49-F238E27FC236}">
                <a16:creationId xmlns:a16="http://schemas.microsoft.com/office/drawing/2014/main" id="{885B6D9D-F09D-11B9-5371-C9F533F0118B}"/>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79D3C02-8D82-1D91-200D-2861995A1CFA}"/>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§3.2.1; §3.3; §4.2.2</a:t>
            </a:r>
          </a:p>
        </p:txBody>
      </p:sp>
      <p:sp>
        <p:nvSpPr>
          <p:cNvPr id="8" name="TextBox 7">
            <a:extLst>
              <a:ext uri="{FF2B5EF4-FFF2-40B4-BE49-F238E27FC236}">
                <a16:creationId xmlns:a16="http://schemas.microsoft.com/office/drawing/2014/main" id="{95D46CC0-5291-FCB6-0F6A-48794D533B81}"/>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13</a:t>
            </a:r>
          </a:p>
        </p:txBody>
      </p:sp>
      <p:sp>
        <p:nvSpPr>
          <p:cNvPr id="9" name="Rectangle 8">
            <a:extLst>
              <a:ext uri="{FF2B5EF4-FFF2-40B4-BE49-F238E27FC236}">
                <a16:creationId xmlns:a16="http://schemas.microsoft.com/office/drawing/2014/main" id="{FDCB4014-9C7D-3AFB-6321-82BF017E3CFD}"/>
              </a:ext>
            </a:extLst>
          </p:cNvPr>
          <p:cNvSpPr/>
          <p:nvPr/>
        </p:nvSpPr>
        <p:spPr>
          <a:xfrm>
            <a:off x="4572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038D40F-C285-670C-4225-2FF9777AC52E}"/>
              </a:ext>
            </a:extLst>
          </p:cNvPr>
          <p:cNvSpPr txBox="1"/>
          <p:nvPr/>
        </p:nvSpPr>
        <p:spPr>
          <a:xfrm>
            <a:off x="6350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D71920"/>
                </a:solidFill>
                <a:latin typeface="Arial" panose="020B0604020202020204" pitchFamily="34" charset="0"/>
              </a:rPr>
              <a:t>01</a:t>
            </a:r>
          </a:p>
        </p:txBody>
      </p:sp>
      <p:sp>
        <p:nvSpPr>
          <p:cNvPr id="11" name="TextBox 10">
            <a:extLst>
              <a:ext uri="{FF2B5EF4-FFF2-40B4-BE49-F238E27FC236}">
                <a16:creationId xmlns:a16="http://schemas.microsoft.com/office/drawing/2014/main" id="{C615D151-EF93-B0EA-519B-BBE86B6275E2}"/>
              </a:ext>
            </a:extLst>
          </p:cNvPr>
          <p:cNvSpPr txBox="1"/>
          <p:nvPr/>
        </p:nvSpPr>
        <p:spPr>
          <a:xfrm>
            <a:off x="6350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Dựng hình</a:t>
            </a:r>
          </a:p>
        </p:txBody>
      </p:sp>
      <p:sp>
        <p:nvSpPr>
          <p:cNvPr id="12" name="TextBox 11">
            <a:extLst>
              <a:ext uri="{FF2B5EF4-FFF2-40B4-BE49-F238E27FC236}">
                <a16:creationId xmlns:a16="http://schemas.microsoft.com/office/drawing/2014/main" id="{81D944FD-3453-0CCF-F1CA-AAF4926B184C}"/>
              </a:ext>
            </a:extLst>
          </p:cNvPr>
          <p:cNvSpPr txBox="1"/>
          <p:nvPr/>
        </p:nvSpPr>
        <p:spPr>
          <a:xfrm>
            <a:off x="635000" y="3937000"/>
            <a:ext cx="2235200" cy="492443"/>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Blender: hình học và vật liệu.</a:t>
            </a:r>
          </a:p>
        </p:txBody>
      </p:sp>
      <p:sp>
        <p:nvSpPr>
          <p:cNvPr id="13" name="Rectangle 12">
            <a:extLst>
              <a:ext uri="{FF2B5EF4-FFF2-40B4-BE49-F238E27FC236}">
                <a16:creationId xmlns:a16="http://schemas.microsoft.com/office/drawing/2014/main" id="{0C09E8FD-1F2C-9473-FB6A-1E7AB6BBD89F}"/>
              </a:ext>
            </a:extLst>
          </p:cNvPr>
          <p:cNvSpPr/>
          <p:nvPr/>
        </p:nvSpPr>
        <p:spPr>
          <a:xfrm>
            <a:off x="33528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33F48C8-FEA2-4392-ECC3-32653F44DB05}"/>
              </a:ext>
            </a:extLst>
          </p:cNvPr>
          <p:cNvSpPr txBox="1"/>
          <p:nvPr/>
        </p:nvSpPr>
        <p:spPr>
          <a:xfrm>
            <a:off x="35306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D71920"/>
                </a:solidFill>
                <a:latin typeface="Arial" panose="020B0604020202020204" pitchFamily="34" charset="0"/>
              </a:rPr>
              <a:t>02</a:t>
            </a:r>
          </a:p>
        </p:txBody>
      </p:sp>
      <p:sp>
        <p:nvSpPr>
          <p:cNvPr id="15" name="TextBox 14">
            <a:extLst>
              <a:ext uri="{FF2B5EF4-FFF2-40B4-BE49-F238E27FC236}">
                <a16:creationId xmlns:a16="http://schemas.microsoft.com/office/drawing/2014/main" id="{9347DE48-1B2F-5FFE-864A-BA8410664945}"/>
              </a:ext>
            </a:extLst>
          </p:cNvPr>
          <p:cNvSpPr txBox="1"/>
          <p:nvPr/>
        </p:nvSpPr>
        <p:spPr>
          <a:xfrm>
            <a:off x="35306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Rig / hoạt ảnh</a:t>
            </a:r>
          </a:p>
        </p:txBody>
      </p:sp>
      <p:sp>
        <p:nvSpPr>
          <p:cNvPr id="16" name="TextBox 15">
            <a:extLst>
              <a:ext uri="{FF2B5EF4-FFF2-40B4-BE49-F238E27FC236}">
                <a16:creationId xmlns:a16="http://schemas.microsoft.com/office/drawing/2014/main" id="{92EB634E-08FF-8E1D-AD47-A32C17D18944}"/>
              </a:ext>
            </a:extLst>
          </p:cNvPr>
          <p:cNvSpPr txBox="1"/>
          <p:nvPr/>
        </p:nvSpPr>
        <p:spPr>
          <a:xfrm>
            <a:off x="3530600" y="3937000"/>
            <a:ext cx="2235200" cy="492443"/>
          </a:xfrm>
          <a:prstGeom prst="rect">
            <a:avLst/>
          </a:prstGeom>
          <a:noFill/>
        </p:spPr>
        <p:txBody>
          <a:bodyPr vert="horz" wrap="square" lIns="0" tIns="0" rIns="0" bIns="0" rtlCol="0">
            <a:spAutoFit/>
          </a:bodyPr>
          <a:lstStyle/>
          <a:p>
            <a:pPr>
              <a:spcAft>
                <a:spcPts val="800"/>
              </a:spcAft>
            </a:pPr>
            <a:r>
              <a:rPr lang="vi-VN" sz="1600">
                <a:solidFill>
                  <a:srgbClr val="5C6B7C"/>
                </a:solidFill>
                <a:latin typeface="Arial" panose="020B0604020202020204" pitchFamily="34" charset="0"/>
              </a:rPr>
              <a:t>Gắn khung xương và chuẩn bị clip.</a:t>
            </a:r>
            <a:endParaRPr lang="en-US" sz="1600">
              <a:solidFill>
                <a:srgbClr val="5C6B7C"/>
              </a:solidFill>
              <a:latin typeface="Arial" panose="020B0604020202020204" pitchFamily="34" charset="0"/>
            </a:endParaRPr>
          </a:p>
        </p:txBody>
      </p:sp>
      <p:sp>
        <p:nvSpPr>
          <p:cNvPr id="17" name="Rectangle 16">
            <a:extLst>
              <a:ext uri="{FF2B5EF4-FFF2-40B4-BE49-F238E27FC236}">
                <a16:creationId xmlns:a16="http://schemas.microsoft.com/office/drawing/2014/main" id="{37E21C55-1A7C-5BCA-E9D6-0C68BDAE2E7B}"/>
              </a:ext>
            </a:extLst>
          </p:cNvPr>
          <p:cNvSpPr/>
          <p:nvPr/>
        </p:nvSpPr>
        <p:spPr>
          <a:xfrm>
            <a:off x="62484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0A51DC2-90EC-B5F2-5F0F-98DACA0D3513}"/>
              </a:ext>
            </a:extLst>
          </p:cNvPr>
          <p:cNvSpPr txBox="1"/>
          <p:nvPr/>
        </p:nvSpPr>
        <p:spPr>
          <a:xfrm>
            <a:off x="64262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D71920"/>
                </a:solidFill>
                <a:latin typeface="Arial" panose="020B0604020202020204" pitchFamily="34" charset="0"/>
              </a:rPr>
              <a:t>03</a:t>
            </a:r>
          </a:p>
        </p:txBody>
      </p:sp>
      <p:sp>
        <p:nvSpPr>
          <p:cNvPr id="19" name="TextBox 18">
            <a:extLst>
              <a:ext uri="{FF2B5EF4-FFF2-40B4-BE49-F238E27FC236}">
                <a16:creationId xmlns:a16="http://schemas.microsoft.com/office/drawing/2014/main" id="{6E4397EA-58B3-553C-35F7-8D19FCC00900}"/>
              </a:ext>
            </a:extLst>
          </p:cNvPr>
          <p:cNvSpPr txBox="1"/>
          <p:nvPr/>
        </p:nvSpPr>
        <p:spPr>
          <a:xfrm>
            <a:off x="64262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Xuất GLB</a:t>
            </a:r>
          </a:p>
        </p:txBody>
      </p:sp>
      <p:sp>
        <p:nvSpPr>
          <p:cNvPr id="20" name="TextBox 19">
            <a:extLst>
              <a:ext uri="{FF2B5EF4-FFF2-40B4-BE49-F238E27FC236}">
                <a16:creationId xmlns:a16="http://schemas.microsoft.com/office/drawing/2014/main" id="{E42D4DF0-633B-0C71-48AA-9C96F015006B}"/>
              </a:ext>
            </a:extLst>
          </p:cNvPr>
          <p:cNvSpPr txBox="1"/>
          <p:nvPr/>
        </p:nvSpPr>
        <p:spPr>
          <a:xfrm>
            <a:off x="6426200" y="3937000"/>
            <a:ext cx="2235200" cy="492443"/>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Đóng gói mô hình, vật liệu và hoạt ảnh.</a:t>
            </a:r>
          </a:p>
        </p:txBody>
      </p:sp>
      <p:sp>
        <p:nvSpPr>
          <p:cNvPr id="21" name="Rectangle 20">
            <a:extLst>
              <a:ext uri="{FF2B5EF4-FFF2-40B4-BE49-F238E27FC236}">
                <a16:creationId xmlns:a16="http://schemas.microsoft.com/office/drawing/2014/main" id="{05A26152-47FB-CB5F-D079-EA5A3DD1B8F0}"/>
              </a:ext>
            </a:extLst>
          </p:cNvPr>
          <p:cNvSpPr/>
          <p:nvPr/>
        </p:nvSpPr>
        <p:spPr>
          <a:xfrm>
            <a:off x="9144000" y="2298700"/>
            <a:ext cx="2590800" cy="2603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75D3089-229F-9E51-375B-BFB3A50B3C2D}"/>
              </a:ext>
            </a:extLst>
          </p:cNvPr>
          <p:cNvSpPr txBox="1"/>
          <p:nvPr/>
        </p:nvSpPr>
        <p:spPr>
          <a:xfrm>
            <a:off x="93218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D71920"/>
                </a:solidFill>
                <a:latin typeface="Arial" panose="020B0604020202020204" pitchFamily="34" charset="0"/>
              </a:rPr>
              <a:t>04</a:t>
            </a:r>
          </a:p>
        </p:txBody>
      </p:sp>
      <p:sp>
        <p:nvSpPr>
          <p:cNvPr id="23" name="TextBox 22">
            <a:extLst>
              <a:ext uri="{FF2B5EF4-FFF2-40B4-BE49-F238E27FC236}">
                <a16:creationId xmlns:a16="http://schemas.microsoft.com/office/drawing/2014/main" id="{2DB0E860-13AC-D282-5C53-F0864492495B}"/>
              </a:ext>
            </a:extLst>
          </p:cNvPr>
          <p:cNvSpPr txBox="1"/>
          <p:nvPr/>
        </p:nvSpPr>
        <p:spPr>
          <a:xfrm>
            <a:off x="93218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Nạp lên web</a:t>
            </a:r>
          </a:p>
        </p:txBody>
      </p:sp>
      <p:sp>
        <p:nvSpPr>
          <p:cNvPr id="24" name="TextBox 23">
            <a:extLst>
              <a:ext uri="{FF2B5EF4-FFF2-40B4-BE49-F238E27FC236}">
                <a16:creationId xmlns:a16="http://schemas.microsoft.com/office/drawing/2014/main" id="{17FE66C4-77EB-388D-2DFA-EBE4B4ED5499}"/>
              </a:ext>
            </a:extLst>
          </p:cNvPr>
          <p:cNvSpPr txBox="1"/>
          <p:nvPr/>
        </p:nvSpPr>
        <p:spPr>
          <a:xfrm>
            <a:off x="9321800" y="3937000"/>
            <a:ext cx="2235200" cy="738664"/>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useGLTF / useAnimations; camera và chọn chi tiết.</a:t>
            </a:r>
          </a:p>
        </p:txBody>
      </p:sp>
      <p:sp>
        <p:nvSpPr>
          <p:cNvPr id="25" name="TextBox 24">
            <a:extLst>
              <a:ext uri="{FF2B5EF4-FFF2-40B4-BE49-F238E27FC236}">
                <a16:creationId xmlns:a16="http://schemas.microsoft.com/office/drawing/2014/main" id="{C4BEEEE8-49D3-B432-3295-0B9121F91B21}"/>
              </a:ext>
            </a:extLst>
          </p:cNvPr>
          <p:cNvSpPr txBox="1"/>
          <p:nvPr/>
        </p:nvSpPr>
        <p:spPr>
          <a:xfrm>
            <a:off x="457200" y="5232400"/>
            <a:ext cx="11277600" cy="261610"/>
          </a:xfrm>
          <a:prstGeom prst="rect">
            <a:avLst/>
          </a:prstGeom>
          <a:noFill/>
        </p:spPr>
        <p:txBody>
          <a:bodyPr vert="horz" wrap="square" lIns="0" tIns="0" rIns="0" bIns="0" rtlCol="0">
            <a:spAutoFit/>
          </a:bodyPr>
          <a:lstStyle/>
          <a:p>
            <a:pPr>
              <a:spcAft>
                <a:spcPts val="800"/>
              </a:spcAft>
            </a:pPr>
            <a:r>
              <a:rPr lang="vi-VN" sz="1700">
                <a:solidFill>
                  <a:srgbClr val="132238"/>
                </a:solidFill>
                <a:latin typeface="Arial" panose="020B0604020202020204" pitchFamily="34" charset="0"/>
              </a:rPr>
              <a:t>Điều khiển: timeline / phát ngược  •  chuyển clip mượt  •  Raycaster chọn chi tiết  •  Box3 focus camera</a:t>
            </a:r>
            <a:endParaRPr lang="en-US" sz="1700">
              <a:solidFill>
                <a:srgbClr val="132238"/>
              </a:solidFill>
              <a:latin typeface="Arial" panose="020B0604020202020204" pitchFamily="34" charset="0"/>
            </a:endParaRPr>
          </a:p>
        </p:txBody>
      </p:sp>
      <p:sp>
        <p:nvSpPr>
          <p:cNvPr id="26" name="Rectangle 25">
            <a:extLst>
              <a:ext uri="{FF2B5EF4-FFF2-40B4-BE49-F238E27FC236}">
                <a16:creationId xmlns:a16="http://schemas.microsoft.com/office/drawing/2014/main" id="{E6BC9616-F0EC-5DD3-E249-7CAD6F377E0F}"/>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F0C467F-1B50-5BB9-8D0D-A7A3371809E8}"/>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FFFFF"/>
                </a:solidFill>
                <a:latin typeface="Arial" panose="020B0604020202020204" pitchFamily="34" charset="0"/>
              </a:rPr>
              <a:t>Theo báo cáo: 14 tệp GLB trong repository; 12 tệp được mã chạy thực tế tham chiếu.</a:t>
            </a:r>
            <a:endParaRPr lang="en-US" sz="1300" b="1">
              <a:solidFill>
                <a:srgbClr val="FFFFFF"/>
              </a:solidFill>
              <a:latin typeface="Arial" panose="020B0604020202020204" pitchFamily="34" charset="0"/>
            </a:endParaRPr>
          </a:p>
        </p:txBody>
      </p:sp>
    </p:spTree>
    <p:extLst>
      <p:ext uri="{BB962C8B-B14F-4D97-AF65-F5344CB8AC3E}">
        <p14:creationId xmlns:p14="http://schemas.microsoft.com/office/powerpoint/2010/main" val="275274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873911-F18B-35B5-0090-0A4A3845D226}"/>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9EC6D94-B93D-4C6F-CC19-88A24845ED04}"/>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F2B632"/>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1C1A2368-C971-ADE0-A422-C909489F1599}"/>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FFFFFF"/>
                </a:solidFill>
                <a:latin typeface="Arial" panose="020B0604020202020204" pitchFamily="34" charset="0"/>
              </a:rPr>
              <a:t>AI Pose: từ ảnh đến góp ý tư thế</a:t>
            </a:r>
            <a:endParaRPr lang="en-US" sz="3000" b="1">
              <a:solidFill>
                <a:srgbClr val="FFFFFF"/>
              </a:solidFill>
              <a:latin typeface="Arial" panose="020B0604020202020204" pitchFamily="34" charset="0"/>
            </a:endParaRPr>
          </a:p>
        </p:txBody>
      </p:sp>
      <p:sp>
        <p:nvSpPr>
          <p:cNvPr id="5" name="TextBox 4">
            <a:extLst>
              <a:ext uri="{FF2B5EF4-FFF2-40B4-BE49-F238E27FC236}">
                <a16:creationId xmlns:a16="http://schemas.microsoft.com/office/drawing/2014/main" id="{2A30B9A3-B879-04D1-7674-D1FB874436E4}"/>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B7C5D6"/>
                </a:solidFill>
                <a:latin typeface="Arial" panose="020B0604020202020204" pitchFamily="34" charset="0"/>
              </a:rPr>
              <a:t>Mô hình nhận mốc cơ thể; phần chấm dựa trên các tiêu chí hình học của hệ thống.</a:t>
            </a:r>
            <a:endParaRPr lang="en-US" sz="1600">
              <a:solidFill>
                <a:srgbClr val="B7C5D6"/>
              </a:solidFill>
              <a:latin typeface="Arial" panose="020B0604020202020204" pitchFamily="34" charset="0"/>
            </a:endParaRPr>
          </a:p>
        </p:txBody>
      </p:sp>
      <p:sp>
        <p:nvSpPr>
          <p:cNvPr id="6" name="Rectangle 5">
            <a:extLst>
              <a:ext uri="{FF2B5EF4-FFF2-40B4-BE49-F238E27FC236}">
                <a16:creationId xmlns:a16="http://schemas.microsoft.com/office/drawing/2014/main" id="{A80693DE-67E4-69CE-A898-825A8DE8CDFF}"/>
              </a:ext>
            </a:extLst>
          </p:cNvPr>
          <p:cNvSpPr/>
          <p:nvPr/>
        </p:nvSpPr>
        <p:spPr>
          <a:xfrm>
            <a:off x="457200" y="6413500"/>
            <a:ext cx="11277600" cy="12700"/>
          </a:xfrm>
          <a:prstGeom prst="rect">
            <a:avLst/>
          </a:prstGeom>
          <a:solidFill>
            <a:srgbClr val="3142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AD3E6D-6643-FF44-ABAA-30E806A81DB3}"/>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B7C5D6"/>
                </a:solidFill>
                <a:latin typeface="Arial" panose="020B0604020202020204" pitchFamily="34" charset="0"/>
              </a:rPr>
              <a:t>HỌC QPAN 3D  •  Báo cáo §3.1–3.3; §4.2.2–4.2.3</a:t>
            </a:r>
          </a:p>
        </p:txBody>
      </p:sp>
      <p:sp>
        <p:nvSpPr>
          <p:cNvPr id="8" name="TextBox 7">
            <a:extLst>
              <a:ext uri="{FF2B5EF4-FFF2-40B4-BE49-F238E27FC236}">
                <a16:creationId xmlns:a16="http://schemas.microsoft.com/office/drawing/2014/main" id="{CEAB426F-6329-4258-29F2-57009E19434E}"/>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F2B632"/>
                </a:solidFill>
                <a:latin typeface="Arial" panose="020B0604020202020204" pitchFamily="34" charset="0"/>
              </a:rPr>
              <a:t>14</a:t>
            </a:r>
          </a:p>
        </p:txBody>
      </p:sp>
      <p:sp>
        <p:nvSpPr>
          <p:cNvPr id="9" name="Rectangle 8">
            <a:extLst>
              <a:ext uri="{FF2B5EF4-FFF2-40B4-BE49-F238E27FC236}">
                <a16:creationId xmlns:a16="http://schemas.microsoft.com/office/drawing/2014/main" id="{ED20393A-0816-AAFF-11C3-9D4AA4866A87}"/>
              </a:ext>
            </a:extLst>
          </p:cNvPr>
          <p:cNvSpPr/>
          <p:nvPr/>
        </p:nvSpPr>
        <p:spPr>
          <a:xfrm>
            <a:off x="457200" y="2298700"/>
            <a:ext cx="2590800" cy="26035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DEC59CB-F785-F1A3-8964-AE056D7B194E}"/>
              </a:ext>
            </a:extLst>
          </p:cNvPr>
          <p:cNvSpPr txBox="1"/>
          <p:nvPr/>
        </p:nvSpPr>
        <p:spPr>
          <a:xfrm>
            <a:off x="6350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01</a:t>
            </a:r>
          </a:p>
        </p:txBody>
      </p:sp>
      <p:sp>
        <p:nvSpPr>
          <p:cNvPr id="11" name="TextBox 10">
            <a:extLst>
              <a:ext uri="{FF2B5EF4-FFF2-40B4-BE49-F238E27FC236}">
                <a16:creationId xmlns:a16="http://schemas.microsoft.com/office/drawing/2014/main" id="{DBFFD511-AF4D-F99D-6E4F-B8D44481ED2B}"/>
              </a:ext>
            </a:extLst>
          </p:cNvPr>
          <p:cNvSpPr txBox="1"/>
          <p:nvPr/>
        </p:nvSpPr>
        <p:spPr>
          <a:xfrm>
            <a:off x="6350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Camera</a:t>
            </a:r>
          </a:p>
        </p:txBody>
      </p:sp>
      <p:sp>
        <p:nvSpPr>
          <p:cNvPr id="12" name="TextBox 11">
            <a:extLst>
              <a:ext uri="{FF2B5EF4-FFF2-40B4-BE49-F238E27FC236}">
                <a16:creationId xmlns:a16="http://schemas.microsoft.com/office/drawing/2014/main" id="{56E31FC4-04DB-6516-85C0-527C0F8EABBA}"/>
              </a:ext>
            </a:extLst>
          </p:cNvPr>
          <p:cNvSpPr txBox="1"/>
          <p:nvPr/>
        </p:nvSpPr>
        <p:spPr>
          <a:xfrm>
            <a:off x="635000" y="3937000"/>
            <a:ext cx="2235200" cy="738664"/>
          </a:xfrm>
          <a:prstGeom prst="rect">
            <a:avLst/>
          </a:prstGeom>
          <a:noFill/>
        </p:spPr>
        <p:txBody>
          <a:bodyPr vert="horz" wrap="square" lIns="0" tIns="0" rIns="0" bIns="0" rtlCol="0">
            <a:spAutoFit/>
          </a:bodyPr>
          <a:lstStyle/>
          <a:p>
            <a:pPr>
              <a:spcAft>
                <a:spcPts val="800"/>
              </a:spcAft>
            </a:pPr>
            <a:r>
              <a:rPr lang="vi-VN" sz="1600">
                <a:solidFill>
                  <a:srgbClr val="B7C5D6"/>
                </a:solidFill>
                <a:latin typeface="Arial" panose="020B0604020202020204" pitchFamily="34" charset="0"/>
              </a:rPr>
              <a:t>Người học cấp quyền; xử lý frame tại trình duyệt.</a:t>
            </a:r>
            <a:endParaRPr lang="en-US" sz="1600">
              <a:solidFill>
                <a:srgbClr val="B7C5D6"/>
              </a:solidFill>
              <a:latin typeface="Arial" panose="020B0604020202020204" pitchFamily="34" charset="0"/>
            </a:endParaRPr>
          </a:p>
        </p:txBody>
      </p:sp>
      <p:sp>
        <p:nvSpPr>
          <p:cNvPr id="13" name="Rectangle 12">
            <a:extLst>
              <a:ext uri="{FF2B5EF4-FFF2-40B4-BE49-F238E27FC236}">
                <a16:creationId xmlns:a16="http://schemas.microsoft.com/office/drawing/2014/main" id="{FF726E42-B0E6-7E58-B25C-3C59BF9C8569}"/>
              </a:ext>
            </a:extLst>
          </p:cNvPr>
          <p:cNvSpPr/>
          <p:nvPr/>
        </p:nvSpPr>
        <p:spPr>
          <a:xfrm>
            <a:off x="3352800" y="2298700"/>
            <a:ext cx="2590800" cy="26035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8BDCC76-412A-3599-C854-F322F0B2EF96}"/>
              </a:ext>
            </a:extLst>
          </p:cNvPr>
          <p:cNvSpPr txBox="1"/>
          <p:nvPr/>
        </p:nvSpPr>
        <p:spPr>
          <a:xfrm>
            <a:off x="35306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02</a:t>
            </a:r>
          </a:p>
        </p:txBody>
      </p:sp>
      <p:sp>
        <p:nvSpPr>
          <p:cNvPr id="15" name="TextBox 14">
            <a:extLst>
              <a:ext uri="{FF2B5EF4-FFF2-40B4-BE49-F238E27FC236}">
                <a16:creationId xmlns:a16="http://schemas.microsoft.com/office/drawing/2014/main" id="{92CC07C6-97C1-0657-EC9E-E4705C4E91A6}"/>
              </a:ext>
            </a:extLst>
          </p:cNvPr>
          <p:cNvSpPr txBox="1"/>
          <p:nvPr/>
        </p:nvSpPr>
        <p:spPr>
          <a:xfrm>
            <a:off x="35306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33 mốc</a:t>
            </a:r>
          </a:p>
        </p:txBody>
      </p:sp>
      <p:sp>
        <p:nvSpPr>
          <p:cNvPr id="16" name="TextBox 15">
            <a:extLst>
              <a:ext uri="{FF2B5EF4-FFF2-40B4-BE49-F238E27FC236}">
                <a16:creationId xmlns:a16="http://schemas.microsoft.com/office/drawing/2014/main" id="{F84D138D-8285-C09D-C9DE-C9D26424947D}"/>
              </a:ext>
            </a:extLst>
          </p:cNvPr>
          <p:cNvSpPr txBox="1"/>
          <p:nvPr/>
        </p:nvSpPr>
        <p:spPr>
          <a:xfrm>
            <a:off x="3530600" y="3937000"/>
            <a:ext cx="2235200" cy="492443"/>
          </a:xfrm>
          <a:prstGeom prst="rect">
            <a:avLst/>
          </a:prstGeom>
          <a:noFill/>
        </p:spPr>
        <p:txBody>
          <a:bodyPr vert="horz" wrap="square" lIns="0" tIns="0" rIns="0" bIns="0" rtlCol="0">
            <a:spAutoFit/>
          </a:bodyPr>
          <a:lstStyle/>
          <a:p>
            <a:pPr>
              <a:spcAft>
                <a:spcPts val="800"/>
              </a:spcAft>
            </a:pPr>
            <a:r>
              <a:rPr lang="vi-VN" sz="1600">
                <a:solidFill>
                  <a:srgbClr val="B7C5D6"/>
                </a:solidFill>
                <a:latin typeface="Arial" panose="020B0604020202020204" pitchFamily="34" charset="0"/>
              </a:rPr>
              <a:t>MediaPipe nhận các điểm đặc trưng cơ thể.</a:t>
            </a:r>
            <a:endParaRPr lang="en-US" sz="1600">
              <a:solidFill>
                <a:srgbClr val="B7C5D6"/>
              </a:solidFill>
              <a:latin typeface="Arial" panose="020B0604020202020204" pitchFamily="34" charset="0"/>
            </a:endParaRPr>
          </a:p>
        </p:txBody>
      </p:sp>
      <p:sp>
        <p:nvSpPr>
          <p:cNvPr id="17" name="Rectangle 16">
            <a:extLst>
              <a:ext uri="{FF2B5EF4-FFF2-40B4-BE49-F238E27FC236}">
                <a16:creationId xmlns:a16="http://schemas.microsoft.com/office/drawing/2014/main" id="{B196BC3E-10A9-2686-DC99-9CEA4B704349}"/>
              </a:ext>
            </a:extLst>
          </p:cNvPr>
          <p:cNvSpPr/>
          <p:nvPr/>
        </p:nvSpPr>
        <p:spPr>
          <a:xfrm>
            <a:off x="6248400" y="2298700"/>
            <a:ext cx="2590800" cy="26035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1AF967D-9DA1-8739-2AE4-2B486428198E}"/>
              </a:ext>
            </a:extLst>
          </p:cNvPr>
          <p:cNvSpPr txBox="1"/>
          <p:nvPr/>
        </p:nvSpPr>
        <p:spPr>
          <a:xfrm>
            <a:off x="64262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03</a:t>
            </a:r>
          </a:p>
        </p:txBody>
      </p:sp>
      <p:sp>
        <p:nvSpPr>
          <p:cNvPr id="19" name="TextBox 18">
            <a:extLst>
              <a:ext uri="{FF2B5EF4-FFF2-40B4-BE49-F238E27FC236}">
                <a16:creationId xmlns:a16="http://schemas.microsoft.com/office/drawing/2014/main" id="{8E630EA8-1AC0-8BF0-DA50-9473E5C4E4F1}"/>
              </a:ext>
            </a:extLst>
          </p:cNvPr>
          <p:cNvSpPr txBox="1"/>
          <p:nvPr/>
        </p:nvSpPr>
        <p:spPr>
          <a:xfrm>
            <a:off x="6426200" y="3136900"/>
            <a:ext cx="2235200" cy="323165"/>
          </a:xfrm>
          <a:prstGeom prst="rect">
            <a:avLst/>
          </a:prstGeom>
          <a:noFill/>
        </p:spPr>
        <p:txBody>
          <a:bodyPr vert="horz" wrap="square" lIns="0" tIns="0" rIns="0" bIns="0" rtlCol="0">
            <a:spAutoFit/>
          </a:bodyPr>
          <a:lstStyle/>
          <a:p>
            <a:pPr>
              <a:spcAft>
                <a:spcPts val="800"/>
              </a:spcAft>
            </a:pPr>
            <a:r>
              <a:rPr lang="vi-VN" sz="2100" b="1">
                <a:solidFill>
                  <a:srgbClr val="FFFFFF"/>
                </a:solidFill>
                <a:latin typeface="Arial" panose="020B0604020202020204" pitchFamily="34" charset="0"/>
              </a:rPr>
              <a:t>Lọc chất lượng</a:t>
            </a:r>
            <a:endParaRPr lang="en-US" sz="2100" b="1">
              <a:solidFill>
                <a:srgbClr val="FFFFFF"/>
              </a:solidFill>
              <a:latin typeface="Arial" panose="020B0604020202020204" pitchFamily="34" charset="0"/>
            </a:endParaRPr>
          </a:p>
        </p:txBody>
      </p:sp>
      <p:sp>
        <p:nvSpPr>
          <p:cNvPr id="20" name="TextBox 19">
            <a:extLst>
              <a:ext uri="{FF2B5EF4-FFF2-40B4-BE49-F238E27FC236}">
                <a16:creationId xmlns:a16="http://schemas.microsoft.com/office/drawing/2014/main" id="{0A3D288E-6A74-41CE-DA67-FB18AAFF728E}"/>
              </a:ext>
            </a:extLst>
          </p:cNvPr>
          <p:cNvSpPr txBox="1"/>
          <p:nvPr/>
        </p:nvSpPr>
        <p:spPr>
          <a:xfrm>
            <a:off x="6426200" y="3937000"/>
            <a:ext cx="2235200" cy="492443"/>
          </a:xfrm>
          <a:prstGeom prst="rect">
            <a:avLst/>
          </a:prstGeom>
          <a:noFill/>
        </p:spPr>
        <p:txBody>
          <a:bodyPr vert="horz" wrap="square" lIns="0" tIns="0" rIns="0" bIns="0" rtlCol="0">
            <a:spAutoFit/>
          </a:bodyPr>
          <a:lstStyle/>
          <a:p>
            <a:pPr>
              <a:spcAft>
                <a:spcPts val="800"/>
              </a:spcAft>
            </a:pPr>
            <a:r>
              <a:rPr lang="vi-VN" sz="1600">
                <a:solidFill>
                  <a:srgbClr val="B7C5D6"/>
                </a:solidFill>
                <a:latin typeface="Arial" panose="020B0604020202020204" pitchFamily="34" charset="0"/>
              </a:rPr>
              <a:t>Kiểm tra dữ liệu trước khi chấm tư thế.</a:t>
            </a:r>
            <a:endParaRPr lang="en-US" sz="1600">
              <a:solidFill>
                <a:srgbClr val="B7C5D6"/>
              </a:solidFill>
              <a:latin typeface="Arial" panose="020B0604020202020204" pitchFamily="34" charset="0"/>
            </a:endParaRPr>
          </a:p>
        </p:txBody>
      </p:sp>
      <p:sp>
        <p:nvSpPr>
          <p:cNvPr id="21" name="Rectangle 20">
            <a:extLst>
              <a:ext uri="{FF2B5EF4-FFF2-40B4-BE49-F238E27FC236}">
                <a16:creationId xmlns:a16="http://schemas.microsoft.com/office/drawing/2014/main" id="{E32A50AA-23DC-7560-9822-F55A92DEA686}"/>
              </a:ext>
            </a:extLst>
          </p:cNvPr>
          <p:cNvSpPr/>
          <p:nvPr/>
        </p:nvSpPr>
        <p:spPr>
          <a:xfrm>
            <a:off x="9144000" y="2298700"/>
            <a:ext cx="2590800" cy="26035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2C4328C-FF28-005A-C4D8-77D312E4E385}"/>
              </a:ext>
            </a:extLst>
          </p:cNvPr>
          <p:cNvSpPr txBox="1"/>
          <p:nvPr/>
        </p:nvSpPr>
        <p:spPr>
          <a:xfrm>
            <a:off x="9321800" y="2451100"/>
            <a:ext cx="2235200" cy="430887"/>
          </a:xfrm>
          <a:prstGeom prst="rect">
            <a:avLst/>
          </a:prstGeom>
          <a:noFill/>
        </p:spPr>
        <p:txBody>
          <a:bodyPr vert="horz" wrap="square" lIns="0" tIns="0" rIns="0" bIns="0" rtlCol="0">
            <a:spAutoFit/>
          </a:bodyPr>
          <a:lstStyle/>
          <a:p>
            <a:pPr>
              <a:spcAft>
                <a:spcPts val="800"/>
              </a:spcAft>
            </a:pPr>
            <a:r>
              <a:rPr lang="en-US" sz="2800" b="1">
                <a:solidFill>
                  <a:srgbClr val="F2B632"/>
                </a:solidFill>
                <a:latin typeface="Arial" panose="020B0604020202020204" pitchFamily="34" charset="0"/>
              </a:rPr>
              <a:t>04</a:t>
            </a:r>
          </a:p>
        </p:txBody>
      </p:sp>
      <p:sp>
        <p:nvSpPr>
          <p:cNvPr id="23" name="TextBox 22">
            <a:extLst>
              <a:ext uri="{FF2B5EF4-FFF2-40B4-BE49-F238E27FC236}">
                <a16:creationId xmlns:a16="http://schemas.microsoft.com/office/drawing/2014/main" id="{575946CE-D8BA-3A85-AB64-459F56E98CCE}"/>
              </a:ext>
            </a:extLst>
          </p:cNvPr>
          <p:cNvSpPr txBox="1"/>
          <p:nvPr/>
        </p:nvSpPr>
        <p:spPr>
          <a:xfrm>
            <a:off x="9321800" y="3136900"/>
            <a:ext cx="2235200" cy="323165"/>
          </a:xfrm>
          <a:prstGeom prst="rect">
            <a:avLst/>
          </a:prstGeom>
          <a:noFill/>
        </p:spPr>
        <p:txBody>
          <a:bodyPr vert="horz" wrap="square" lIns="0" tIns="0" rIns="0" bIns="0" rtlCol="0">
            <a:spAutoFit/>
          </a:bodyPr>
          <a:lstStyle/>
          <a:p>
            <a:pPr>
              <a:spcAft>
                <a:spcPts val="800"/>
              </a:spcAft>
            </a:pPr>
            <a:r>
              <a:rPr lang="en-US" sz="2100" b="1">
                <a:solidFill>
                  <a:srgbClr val="FFFFFF"/>
                </a:solidFill>
                <a:latin typeface="Arial" panose="020B0604020202020204" pitchFamily="34" charset="0"/>
              </a:rPr>
              <a:t>Rubric</a:t>
            </a:r>
          </a:p>
        </p:txBody>
      </p:sp>
      <p:sp>
        <p:nvSpPr>
          <p:cNvPr id="24" name="TextBox 23">
            <a:extLst>
              <a:ext uri="{FF2B5EF4-FFF2-40B4-BE49-F238E27FC236}">
                <a16:creationId xmlns:a16="http://schemas.microsoft.com/office/drawing/2014/main" id="{39E5E327-8C4B-1C3A-F07B-2B7C03C9E33D}"/>
              </a:ext>
            </a:extLst>
          </p:cNvPr>
          <p:cNvSpPr txBox="1"/>
          <p:nvPr/>
        </p:nvSpPr>
        <p:spPr>
          <a:xfrm>
            <a:off x="9321800" y="3937000"/>
            <a:ext cx="2235200" cy="492443"/>
          </a:xfrm>
          <a:prstGeom prst="rect">
            <a:avLst/>
          </a:prstGeom>
          <a:noFill/>
        </p:spPr>
        <p:txBody>
          <a:bodyPr vert="horz" wrap="square" lIns="0" tIns="0" rIns="0" bIns="0" rtlCol="0">
            <a:spAutoFit/>
          </a:bodyPr>
          <a:lstStyle/>
          <a:p>
            <a:pPr>
              <a:spcAft>
                <a:spcPts val="800"/>
              </a:spcAft>
            </a:pPr>
            <a:r>
              <a:rPr lang="en-US" sz="1600">
                <a:solidFill>
                  <a:srgbClr val="B7C5D6"/>
                </a:solidFill>
                <a:latin typeface="Arial" panose="020B0604020202020204" pitchFamily="34" charset="0"/>
              </a:rPr>
              <a:t>Đối chiếu tiêu chí → điểm và góp ý.</a:t>
            </a:r>
          </a:p>
        </p:txBody>
      </p:sp>
      <p:sp>
        <p:nvSpPr>
          <p:cNvPr id="25" name="TextBox 24">
            <a:extLst>
              <a:ext uri="{FF2B5EF4-FFF2-40B4-BE49-F238E27FC236}">
                <a16:creationId xmlns:a16="http://schemas.microsoft.com/office/drawing/2014/main" id="{6CCEB5D6-07DE-7145-BC45-61F266FCF880}"/>
              </a:ext>
            </a:extLst>
          </p:cNvPr>
          <p:cNvSpPr txBox="1"/>
          <p:nvPr/>
        </p:nvSpPr>
        <p:spPr>
          <a:xfrm>
            <a:off x="457200" y="5232400"/>
            <a:ext cx="11277600" cy="292388"/>
          </a:xfrm>
          <a:prstGeom prst="rect">
            <a:avLst/>
          </a:prstGeom>
          <a:noFill/>
        </p:spPr>
        <p:txBody>
          <a:bodyPr vert="horz" wrap="square" lIns="0" tIns="0" rIns="0" bIns="0" rtlCol="0">
            <a:spAutoFit/>
          </a:bodyPr>
          <a:lstStyle/>
          <a:p>
            <a:pPr>
              <a:spcAft>
                <a:spcPts val="800"/>
              </a:spcAft>
            </a:pPr>
            <a:r>
              <a:rPr lang="en-US" sz="1900" b="1">
                <a:solidFill>
                  <a:srgbClr val="FFFFFF"/>
                </a:solidFill>
                <a:latin typeface="Arial" panose="020B0604020202020204" pitchFamily="34" charset="0"/>
              </a:rPr>
              <a:t>MediaPipe không tự quyết định tiêu chuẩn GDQP-AN; rubric vẫn cần giáo viên thẩm định.</a:t>
            </a:r>
          </a:p>
        </p:txBody>
      </p:sp>
      <p:sp>
        <p:nvSpPr>
          <p:cNvPr id="26" name="Rectangle 25">
            <a:extLst>
              <a:ext uri="{FF2B5EF4-FFF2-40B4-BE49-F238E27FC236}">
                <a16:creationId xmlns:a16="http://schemas.microsoft.com/office/drawing/2014/main" id="{E31B9953-D9E6-EB9E-689C-8D7783D9EF36}"/>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A1DC4D7-37F6-3F44-5E64-9655007C511D}"/>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2B632"/>
                </a:solidFill>
                <a:latin typeface="Arial" panose="020B0604020202020204" pitchFamily="34" charset="0"/>
              </a:rPr>
              <a:t>Theo báo cáo: không có lệnh upload ảnh camera; chưa có số liệu độ chính xác trên người thật.</a:t>
            </a:r>
            <a:endParaRPr lang="en-US" sz="1300" b="1">
              <a:solidFill>
                <a:srgbClr val="F2B632"/>
              </a:solidFill>
              <a:latin typeface="Arial" panose="020B0604020202020204" pitchFamily="34" charset="0"/>
            </a:endParaRPr>
          </a:p>
        </p:txBody>
      </p:sp>
    </p:spTree>
    <p:extLst>
      <p:ext uri="{BB962C8B-B14F-4D97-AF65-F5344CB8AC3E}">
        <p14:creationId xmlns:p14="http://schemas.microsoft.com/office/powerpoint/2010/main" val="1732438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86D46B-67B3-7F24-AA3A-B8980CD7E7B0}"/>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394E3F9-3BB9-24E5-244D-B626FC563161}"/>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9B495FB9-32CC-E5B7-A923-7312DE7CC019}"/>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vi-VN" sz="3000" b="1">
                <a:solidFill>
                  <a:srgbClr val="132238"/>
                </a:solidFill>
                <a:latin typeface="Arial" panose="020B0604020202020204" pitchFamily="34" charset="0"/>
              </a:rPr>
              <a:t>AI tạo sinh và dữ liệu được xử lý ở đâu?</a:t>
            </a:r>
            <a:endParaRPr lang="en-US" sz="3000" b="1">
              <a:solidFill>
                <a:srgbClr val="132238"/>
              </a:solidFill>
              <a:latin typeface="Arial" panose="020B0604020202020204" pitchFamily="34" charset="0"/>
            </a:endParaRPr>
          </a:p>
        </p:txBody>
      </p:sp>
      <p:sp>
        <p:nvSpPr>
          <p:cNvPr id="5" name="TextBox 4">
            <a:extLst>
              <a:ext uri="{FF2B5EF4-FFF2-40B4-BE49-F238E27FC236}">
                <a16:creationId xmlns:a16="http://schemas.microsoft.com/office/drawing/2014/main" id="{01842CA3-7518-9E77-7DDB-6F8712AA7ACB}"/>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C6B7C"/>
                </a:solidFill>
                <a:latin typeface="Arial" panose="020B0604020202020204" pitchFamily="34" charset="0"/>
              </a:rPr>
              <a:t>Đây là giới hạn cần nắm rõ trước khi chọn môi trường demo.</a:t>
            </a:r>
            <a:endParaRPr lang="en-US" sz="1600">
              <a:solidFill>
                <a:srgbClr val="5C6B7C"/>
              </a:solidFill>
              <a:latin typeface="Arial" panose="020B0604020202020204" pitchFamily="34" charset="0"/>
            </a:endParaRPr>
          </a:p>
        </p:txBody>
      </p:sp>
      <p:sp>
        <p:nvSpPr>
          <p:cNvPr id="6" name="Rectangle 5">
            <a:extLst>
              <a:ext uri="{FF2B5EF4-FFF2-40B4-BE49-F238E27FC236}">
                <a16:creationId xmlns:a16="http://schemas.microsoft.com/office/drawing/2014/main" id="{29D4633C-4B02-41B4-FAB7-BD1BD57FAA74}"/>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58250B5-8D27-7D92-AF15-3FB6999DB4A1}"/>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§3.2; §4.2.1; §4.2.3</a:t>
            </a:r>
          </a:p>
        </p:txBody>
      </p:sp>
      <p:sp>
        <p:nvSpPr>
          <p:cNvPr id="8" name="TextBox 7">
            <a:extLst>
              <a:ext uri="{FF2B5EF4-FFF2-40B4-BE49-F238E27FC236}">
                <a16:creationId xmlns:a16="http://schemas.microsoft.com/office/drawing/2014/main" id="{1A3BC8C3-12F1-AD00-BBE3-72550FAF933C}"/>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15</a:t>
            </a:r>
          </a:p>
        </p:txBody>
      </p:sp>
      <p:sp>
        <p:nvSpPr>
          <p:cNvPr id="9" name="Rectangle 8">
            <a:extLst>
              <a:ext uri="{FF2B5EF4-FFF2-40B4-BE49-F238E27FC236}">
                <a16:creationId xmlns:a16="http://schemas.microsoft.com/office/drawing/2014/main" id="{E2247ADC-68FF-FD8F-0FE2-24284C65D977}"/>
              </a:ext>
            </a:extLst>
          </p:cNvPr>
          <p:cNvSpPr/>
          <p:nvPr/>
        </p:nvSpPr>
        <p:spPr>
          <a:xfrm>
            <a:off x="457200" y="2298700"/>
            <a:ext cx="3556000" cy="3327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017F036-FAEC-471F-C1C1-70E61F1F9FC4}"/>
              </a:ext>
            </a:extLst>
          </p:cNvPr>
          <p:cNvSpPr/>
          <p:nvPr/>
        </p:nvSpPr>
        <p:spPr>
          <a:xfrm>
            <a:off x="457200" y="2298700"/>
            <a:ext cx="50800" cy="33274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7826285-4E5E-48C1-205B-AFE57A3B6F71}"/>
              </a:ext>
            </a:extLst>
          </p:cNvPr>
          <p:cNvSpPr txBox="1"/>
          <p:nvPr/>
        </p:nvSpPr>
        <p:spPr>
          <a:xfrm>
            <a:off x="6858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Trên trình duyệt</a:t>
            </a:r>
          </a:p>
        </p:txBody>
      </p:sp>
      <p:sp>
        <p:nvSpPr>
          <p:cNvPr id="12" name="TextBox 11">
            <a:extLst>
              <a:ext uri="{FF2B5EF4-FFF2-40B4-BE49-F238E27FC236}">
                <a16:creationId xmlns:a16="http://schemas.microsoft.com/office/drawing/2014/main" id="{2C60BAAF-3AD4-9040-23DD-54C82E3EDF5D}"/>
              </a:ext>
            </a:extLst>
          </p:cNvPr>
          <p:cNvSpPr txBox="1"/>
          <p:nvPr/>
        </p:nvSpPr>
        <p:spPr>
          <a:xfrm>
            <a:off x="685800" y="3162300"/>
            <a:ext cx="3098800" cy="1590179"/>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Hiển thị 3D và xử lý Pose.
localStorage lưu tiến độ, XP và trạng thái cục bộ.
Chưa đồng bộ tiến độ đa thiết bị.</a:t>
            </a:r>
            <a:endParaRPr lang="en-US">
              <a:solidFill>
                <a:srgbClr val="132238"/>
              </a:solidFill>
              <a:latin typeface="Arial" panose="020B0604020202020204" pitchFamily="34" charset="0"/>
            </a:endParaRPr>
          </a:p>
        </p:txBody>
      </p:sp>
      <p:sp>
        <p:nvSpPr>
          <p:cNvPr id="13" name="Rectangle 12">
            <a:extLst>
              <a:ext uri="{FF2B5EF4-FFF2-40B4-BE49-F238E27FC236}">
                <a16:creationId xmlns:a16="http://schemas.microsoft.com/office/drawing/2014/main" id="{5D5C89F2-7CC6-1F88-ED06-B320D85CE53A}"/>
              </a:ext>
            </a:extLst>
          </p:cNvPr>
          <p:cNvSpPr/>
          <p:nvPr/>
        </p:nvSpPr>
        <p:spPr>
          <a:xfrm>
            <a:off x="4318000" y="2298700"/>
            <a:ext cx="3556000" cy="3327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D62748-90FB-12F5-B39A-18E02E3FF4B3}"/>
              </a:ext>
            </a:extLst>
          </p:cNvPr>
          <p:cNvSpPr/>
          <p:nvPr/>
        </p:nvSpPr>
        <p:spPr>
          <a:xfrm>
            <a:off x="4318000" y="2298700"/>
            <a:ext cx="50800" cy="33274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FF2FB76-5DBD-7125-856B-7AA404B31AE2}"/>
              </a:ext>
            </a:extLst>
          </p:cNvPr>
          <p:cNvSpPr txBox="1"/>
          <p:nvPr/>
        </p:nvSpPr>
        <p:spPr>
          <a:xfrm>
            <a:off x="45466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Cloudflare Worker / D1</a:t>
            </a:r>
          </a:p>
        </p:txBody>
      </p:sp>
      <p:sp>
        <p:nvSpPr>
          <p:cNvPr id="16" name="TextBox 15">
            <a:extLst>
              <a:ext uri="{FF2B5EF4-FFF2-40B4-BE49-F238E27FC236}">
                <a16:creationId xmlns:a16="http://schemas.microsoft.com/office/drawing/2014/main" id="{5056FB1B-A793-C681-1588-E6ED31CB84B0}"/>
              </a:ext>
            </a:extLst>
          </p:cNvPr>
          <p:cNvSpPr txBox="1"/>
          <p:nvPr/>
        </p:nvSpPr>
        <p:spPr>
          <a:xfrm>
            <a:off x="4546600" y="3162300"/>
            <a:ext cx="3098800" cy="1210588"/>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Bản công khai có tài khoản và khảo sát lưu D1.
API chatbot và API bài thi chưa triển khai theo báo cáo.</a:t>
            </a:r>
            <a:endParaRPr lang="en-US">
              <a:solidFill>
                <a:srgbClr val="132238"/>
              </a:solidFill>
              <a:latin typeface="Arial" panose="020B0604020202020204" pitchFamily="34" charset="0"/>
            </a:endParaRPr>
          </a:p>
        </p:txBody>
      </p:sp>
      <p:sp>
        <p:nvSpPr>
          <p:cNvPr id="17" name="Rectangle 16">
            <a:extLst>
              <a:ext uri="{FF2B5EF4-FFF2-40B4-BE49-F238E27FC236}">
                <a16:creationId xmlns:a16="http://schemas.microsoft.com/office/drawing/2014/main" id="{702AD738-A770-2592-E0F7-3009A634F389}"/>
              </a:ext>
            </a:extLst>
          </p:cNvPr>
          <p:cNvSpPr/>
          <p:nvPr/>
        </p:nvSpPr>
        <p:spPr>
          <a:xfrm>
            <a:off x="8178800" y="2298700"/>
            <a:ext cx="3556000" cy="3327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6A7CA87-D47B-6185-B549-159101B505AC}"/>
              </a:ext>
            </a:extLst>
          </p:cNvPr>
          <p:cNvSpPr/>
          <p:nvPr/>
        </p:nvSpPr>
        <p:spPr>
          <a:xfrm>
            <a:off x="8178800" y="2298700"/>
            <a:ext cx="50800" cy="33274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6621EC18-44B1-3C21-F67F-1F10D12460CB}"/>
              </a:ext>
            </a:extLst>
          </p:cNvPr>
          <p:cNvSpPr txBox="1"/>
          <p:nvPr/>
        </p:nvSpPr>
        <p:spPr>
          <a:xfrm>
            <a:off x="84074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Backend Express</a:t>
            </a:r>
          </a:p>
        </p:txBody>
      </p:sp>
      <p:sp>
        <p:nvSpPr>
          <p:cNvPr id="20" name="TextBox 19">
            <a:extLst>
              <a:ext uri="{FF2B5EF4-FFF2-40B4-BE49-F238E27FC236}">
                <a16:creationId xmlns:a16="http://schemas.microsoft.com/office/drawing/2014/main" id="{10D1032C-3497-E26B-EFC7-9A90DFC56E23}"/>
              </a:ext>
            </a:extLst>
          </p:cNvPr>
          <p:cNvSpPr txBox="1"/>
          <p:nvPr/>
        </p:nvSpPr>
        <p:spPr>
          <a:xfrm>
            <a:off x="8407400" y="3162300"/>
            <a:ext cx="3098800" cy="1590179"/>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Có /api/ask gọi Gemini khi cấu hình khóa.
Có API bài thi.
Chatbot chưa truy hồi bài học/PDF và chưa trích dẫn.</a:t>
            </a:r>
            <a:endParaRPr lang="en-US">
              <a:solidFill>
                <a:srgbClr val="132238"/>
              </a:solidFill>
              <a:latin typeface="Arial" panose="020B0604020202020204" pitchFamily="34" charset="0"/>
            </a:endParaRPr>
          </a:p>
        </p:txBody>
      </p:sp>
      <p:sp>
        <p:nvSpPr>
          <p:cNvPr id="21" name="Rectangle 20">
            <a:extLst>
              <a:ext uri="{FF2B5EF4-FFF2-40B4-BE49-F238E27FC236}">
                <a16:creationId xmlns:a16="http://schemas.microsoft.com/office/drawing/2014/main" id="{3E0BEF8A-7720-8949-4D59-7E57C13387AB}"/>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09A7C22-862C-45F9-571C-B9DB30871667}"/>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FFFFFF"/>
                </a:solidFill>
                <a:latin typeface="Arial" panose="020B0604020202020204" pitchFamily="34" charset="0"/>
              </a:rPr>
              <a:t>Luồng chatbot: câu hỏi → backend Express → Gemini → phản hồi; cần giáo viên/tài liệu kiểm chứng.</a:t>
            </a:r>
          </a:p>
        </p:txBody>
      </p:sp>
    </p:spTree>
    <p:extLst>
      <p:ext uri="{BB962C8B-B14F-4D97-AF65-F5344CB8AC3E}">
        <p14:creationId xmlns:p14="http://schemas.microsoft.com/office/powerpoint/2010/main" val="2295475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9789F-05CC-F993-F430-8860719F5DC8}"/>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CE8F177-25E1-D7BB-8C3F-147C443F2AB3}"/>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en-US" sz="1100" b="1">
                <a:solidFill>
                  <a:srgbClr val="D71920"/>
                </a:solidFill>
                <a:latin typeface="Arial" panose="020B0604020202020204" pitchFamily="34" charset="0"/>
              </a:rPr>
              <a:t>03 / KỸ THUẬT THỰC HIỆN</a:t>
            </a:r>
          </a:p>
        </p:txBody>
      </p:sp>
      <p:sp>
        <p:nvSpPr>
          <p:cNvPr id="4" name="TextBox 3">
            <a:extLst>
              <a:ext uri="{FF2B5EF4-FFF2-40B4-BE49-F238E27FC236}">
                <a16:creationId xmlns:a16="http://schemas.microsoft.com/office/drawing/2014/main" id="{6E408418-A817-0954-A2A2-95BEC6B67165}"/>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32238"/>
                </a:solidFill>
                <a:latin typeface="Arial" panose="020B0604020202020204" pitchFamily="34" charset="0"/>
              </a:rPr>
              <a:t>Kiểm chứng kỹ thuật của bản báo cáo</a:t>
            </a:r>
          </a:p>
        </p:txBody>
      </p:sp>
      <p:sp>
        <p:nvSpPr>
          <p:cNvPr id="5" name="TextBox 4">
            <a:extLst>
              <a:ext uri="{FF2B5EF4-FFF2-40B4-BE49-F238E27FC236}">
                <a16:creationId xmlns:a16="http://schemas.microsoft.com/office/drawing/2014/main" id="{C969BABA-AC5A-62D5-4222-3EFBE0A10F17}"/>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Đối chiếu mã nguồn, tài nguyên, kiểu dữ liệu và các bài kiểm thử tự động.</a:t>
            </a:r>
          </a:p>
        </p:txBody>
      </p:sp>
      <p:sp>
        <p:nvSpPr>
          <p:cNvPr id="6" name="Rectangle 5">
            <a:extLst>
              <a:ext uri="{FF2B5EF4-FFF2-40B4-BE49-F238E27FC236}">
                <a16:creationId xmlns:a16="http://schemas.microsoft.com/office/drawing/2014/main" id="{EB8504DE-4448-497A-A57B-1D66DA4A9EC5}"/>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8A7CE9C-99C4-349D-72E4-2312BD78CC29}"/>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vi-VN" sz="900">
                <a:solidFill>
                  <a:srgbClr val="5C6B7C"/>
                </a:solidFill>
                <a:latin typeface="Arial" panose="020B0604020202020204" pitchFamily="34" charset="0"/>
              </a:rPr>
              <a:t>HỌC QPAN 3D  •  Báo cáo §3.4; §4.3 — số liệu của lần rà soát được báo cáo</a:t>
            </a:r>
            <a:endParaRPr lang="en-US" sz="900">
              <a:solidFill>
                <a:srgbClr val="5C6B7C"/>
              </a:solidFill>
              <a:latin typeface="Arial" panose="020B0604020202020204" pitchFamily="34" charset="0"/>
            </a:endParaRPr>
          </a:p>
        </p:txBody>
      </p:sp>
      <p:sp>
        <p:nvSpPr>
          <p:cNvPr id="8" name="TextBox 7">
            <a:extLst>
              <a:ext uri="{FF2B5EF4-FFF2-40B4-BE49-F238E27FC236}">
                <a16:creationId xmlns:a16="http://schemas.microsoft.com/office/drawing/2014/main" id="{9DC1CBB7-BDA4-CB89-E882-66F5356A8254}"/>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16</a:t>
            </a:r>
          </a:p>
        </p:txBody>
      </p:sp>
      <p:sp>
        <p:nvSpPr>
          <p:cNvPr id="9" name="Rectangle 8">
            <a:extLst>
              <a:ext uri="{FF2B5EF4-FFF2-40B4-BE49-F238E27FC236}">
                <a16:creationId xmlns:a16="http://schemas.microsoft.com/office/drawing/2014/main" id="{9E54DF75-F2FE-DED0-8BE0-2098AAA69400}"/>
              </a:ext>
            </a:extLst>
          </p:cNvPr>
          <p:cNvSpPr/>
          <p:nvPr/>
        </p:nvSpPr>
        <p:spPr>
          <a:xfrm>
            <a:off x="457200" y="2298700"/>
            <a:ext cx="3556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99540E3-5571-5623-0233-DD38225DDCB3}"/>
              </a:ext>
            </a:extLst>
          </p:cNvPr>
          <p:cNvSpPr/>
          <p:nvPr/>
        </p:nvSpPr>
        <p:spPr>
          <a:xfrm>
            <a:off x="457200" y="2298700"/>
            <a:ext cx="50800" cy="32004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00C8873-8123-A7AF-EE62-B4FF88F9A240}"/>
              </a:ext>
            </a:extLst>
          </p:cNvPr>
          <p:cNvSpPr txBox="1"/>
          <p:nvPr/>
        </p:nvSpPr>
        <p:spPr>
          <a:xfrm>
            <a:off x="6858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136/136 ca đạt</a:t>
            </a:r>
          </a:p>
        </p:txBody>
      </p:sp>
      <p:sp>
        <p:nvSpPr>
          <p:cNvPr id="12" name="TextBox 11">
            <a:extLst>
              <a:ext uri="{FF2B5EF4-FFF2-40B4-BE49-F238E27FC236}">
                <a16:creationId xmlns:a16="http://schemas.microsoft.com/office/drawing/2014/main" id="{FA3D1669-8A9A-D7ED-FC24-A2F3EAFFDCDE}"/>
              </a:ext>
            </a:extLst>
          </p:cNvPr>
          <p:cNvSpPr txBox="1"/>
          <p:nvPr/>
        </p:nvSpPr>
        <p:spPr>
          <a:xfrm>
            <a:off x="685800" y="3162300"/>
            <a:ext cx="3098800" cy="1231106"/>
          </a:xfrm>
          <a:prstGeom prst="rect">
            <a:avLst/>
          </a:prstGeom>
          <a:noFill/>
        </p:spPr>
        <p:txBody>
          <a:bodyPr vert="horz" wrap="square" lIns="0" tIns="0" rIns="0" bIns="0" rtlCol="0">
            <a:spAutoFit/>
          </a:bodyPr>
          <a:lstStyle/>
          <a:p>
            <a:pPr>
              <a:spcAft>
                <a:spcPts val="800"/>
              </a:spcAft>
            </a:pPr>
            <a:r>
              <a:rPr lang="en-US" sz="2000">
                <a:solidFill>
                  <a:srgbClr val="132238"/>
                </a:solidFill>
                <a:latin typeface="Arial" panose="020B0604020202020204" pitchFamily="34" charset="0"/>
              </a:rPr>
              <a:t>Trong 23 tệp kiểm thử; gồm API thi, vòng đời chức năng, vật lý/WASM và pipeline Pose.</a:t>
            </a:r>
          </a:p>
        </p:txBody>
      </p:sp>
      <p:sp>
        <p:nvSpPr>
          <p:cNvPr id="13" name="Rectangle 12">
            <a:extLst>
              <a:ext uri="{FF2B5EF4-FFF2-40B4-BE49-F238E27FC236}">
                <a16:creationId xmlns:a16="http://schemas.microsoft.com/office/drawing/2014/main" id="{E09AC695-1410-C9EF-878C-6533F9792916}"/>
              </a:ext>
            </a:extLst>
          </p:cNvPr>
          <p:cNvSpPr/>
          <p:nvPr/>
        </p:nvSpPr>
        <p:spPr>
          <a:xfrm>
            <a:off x="4318000" y="2298700"/>
            <a:ext cx="3556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433669-6817-B034-EBEF-7166DAD67A5A}"/>
              </a:ext>
            </a:extLst>
          </p:cNvPr>
          <p:cNvSpPr/>
          <p:nvPr/>
        </p:nvSpPr>
        <p:spPr>
          <a:xfrm>
            <a:off x="4318000" y="2298700"/>
            <a:ext cx="50800" cy="32004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AF3EF9-E04D-87FA-4182-A64C0213A3A0}"/>
              </a:ext>
            </a:extLst>
          </p:cNvPr>
          <p:cNvSpPr txBox="1"/>
          <p:nvPr/>
        </p:nvSpPr>
        <p:spPr>
          <a:xfrm>
            <a:off x="45466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Type-check đạt</a:t>
            </a:r>
          </a:p>
        </p:txBody>
      </p:sp>
      <p:sp>
        <p:nvSpPr>
          <p:cNvPr id="16" name="TextBox 15">
            <a:extLst>
              <a:ext uri="{FF2B5EF4-FFF2-40B4-BE49-F238E27FC236}">
                <a16:creationId xmlns:a16="http://schemas.microsoft.com/office/drawing/2014/main" id="{D024CE07-8BD7-B2E1-B35A-C90D167BC07A}"/>
              </a:ext>
            </a:extLst>
          </p:cNvPr>
          <p:cNvSpPr txBox="1"/>
          <p:nvPr/>
        </p:nvSpPr>
        <p:spPr>
          <a:xfrm>
            <a:off x="4546600" y="3162300"/>
            <a:ext cx="3098800" cy="1231106"/>
          </a:xfrm>
          <a:prstGeom prst="rect">
            <a:avLst/>
          </a:prstGeom>
          <a:noFill/>
        </p:spPr>
        <p:txBody>
          <a:bodyPr vert="horz" wrap="square" lIns="0" tIns="0" rIns="0" bIns="0" rtlCol="0">
            <a:spAutoFit/>
          </a:bodyPr>
          <a:lstStyle/>
          <a:p>
            <a:pPr>
              <a:spcAft>
                <a:spcPts val="800"/>
              </a:spcAft>
            </a:pPr>
            <a:r>
              <a:rPr lang="vi-VN" sz="2000">
                <a:solidFill>
                  <a:srgbClr val="132238"/>
                </a:solidFill>
                <a:latin typeface="Arial" panose="020B0604020202020204" pitchFamily="34" charset="0"/>
              </a:rPr>
              <a:t>Kiểm tra kiểu TypeScript giúp phát hiện lỗi không tương thích dữ liệu và cách dùng mã.</a:t>
            </a:r>
            <a:endParaRPr lang="en-US" sz="2000">
              <a:solidFill>
                <a:srgbClr val="132238"/>
              </a:solidFill>
              <a:latin typeface="Arial" panose="020B0604020202020204" pitchFamily="34" charset="0"/>
            </a:endParaRPr>
          </a:p>
        </p:txBody>
      </p:sp>
      <p:sp>
        <p:nvSpPr>
          <p:cNvPr id="17" name="Rectangle 16">
            <a:extLst>
              <a:ext uri="{FF2B5EF4-FFF2-40B4-BE49-F238E27FC236}">
                <a16:creationId xmlns:a16="http://schemas.microsoft.com/office/drawing/2014/main" id="{CA4D69A3-EB5A-1498-A6FB-2975BC30E7E1}"/>
              </a:ext>
            </a:extLst>
          </p:cNvPr>
          <p:cNvSpPr/>
          <p:nvPr/>
        </p:nvSpPr>
        <p:spPr>
          <a:xfrm>
            <a:off x="8178800" y="2298700"/>
            <a:ext cx="3556000" cy="32004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4BA4285-D752-1384-8A22-0E58E6298485}"/>
              </a:ext>
            </a:extLst>
          </p:cNvPr>
          <p:cNvSpPr/>
          <p:nvPr/>
        </p:nvSpPr>
        <p:spPr>
          <a:xfrm>
            <a:off x="8178800" y="2298700"/>
            <a:ext cx="50800" cy="32004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D53EC9E-CCA0-0E55-5D76-988158995931}"/>
              </a:ext>
            </a:extLst>
          </p:cNvPr>
          <p:cNvSpPr txBox="1"/>
          <p:nvPr/>
        </p:nvSpPr>
        <p:spPr>
          <a:xfrm>
            <a:off x="8407400" y="2501900"/>
            <a:ext cx="30988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Đối chiếu tài nguyên</a:t>
            </a:r>
          </a:p>
        </p:txBody>
      </p:sp>
      <p:sp>
        <p:nvSpPr>
          <p:cNvPr id="20" name="TextBox 19">
            <a:extLst>
              <a:ext uri="{FF2B5EF4-FFF2-40B4-BE49-F238E27FC236}">
                <a16:creationId xmlns:a16="http://schemas.microsoft.com/office/drawing/2014/main" id="{1C8193E6-500D-65EB-D3B1-0D6610502ECF}"/>
              </a:ext>
            </a:extLst>
          </p:cNvPr>
          <p:cNvSpPr txBox="1"/>
          <p:nvPr/>
        </p:nvSpPr>
        <p:spPr>
          <a:xfrm>
            <a:off x="8407400" y="3162300"/>
            <a:ext cx="3098800" cy="1231106"/>
          </a:xfrm>
          <a:prstGeom prst="rect">
            <a:avLst/>
          </a:prstGeom>
          <a:noFill/>
        </p:spPr>
        <p:txBody>
          <a:bodyPr vert="horz" wrap="square" lIns="0" tIns="0" rIns="0" bIns="0" rtlCol="0">
            <a:spAutoFit/>
          </a:bodyPr>
          <a:lstStyle/>
          <a:p>
            <a:pPr>
              <a:spcAft>
                <a:spcPts val="800"/>
              </a:spcAft>
            </a:pPr>
            <a:r>
              <a:rPr lang="vi-VN" sz="2000">
                <a:solidFill>
                  <a:srgbClr val="132238"/>
                </a:solidFill>
                <a:latin typeface="Arial" panose="020B0604020202020204" pitchFamily="34" charset="0"/>
              </a:rPr>
              <a:t>Kiểm kê bài học, câu hỏi và GLB; kiểm tra clip, nơi sử dụng và ảnh minh chứng.</a:t>
            </a:r>
            <a:endParaRPr lang="en-US" sz="2000">
              <a:solidFill>
                <a:srgbClr val="132238"/>
              </a:solidFill>
              <a:latin typeface="Arial" panose="020B0604020202020204" pitchFamily="34" charset="0"/>
            </a:endParaRPr>
          </a:p>
        </p:txBody>
      </p:sp>
      <p:sp>
        <p:nvSpPr>
          <p:cNvPr id="21" name="Rectangle 20">
            <a:extLst>
              <a:ext uri="{FF2B5EF4-FFF2-40B4-BE49-F238E27FC236}">
                <a16:creationId xmlns:a16="http://schemas.microsoft.com/office/drawing/2014/main" id="{0154986F-3B26-E0EA-914B-CC3F93B21721}"/>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5436259-0281-3B46-05D0-6A8A487EA576}"/>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vi-VN" sz="1300" b="1">
                <a:solidFill>
                  <a:srgbClr val="FFFFFF"/>
                </a:solidFill>
                <a:latin typeface="Arial" panose="020B0604020202020204" pitchFamily="34" charset="0"/>
              </a:rPr>
              <a:t>Kết quả test xác nhận logic đã kiểm tra; chưa chứng minh độ chính xác Pose hay hiệu quả học tập.</a:t>
            </a:r>
            <a:endParaRPr lang="en-US" sz="1300" b="1">
              <a:solidFill>
                <a:srgbClr val="FFFFFF"/>
              </a:solidFill>
              <a:latin typeface="Arial" panose="020B0604020202020204" pitchFamily="34" charset="0"/>
            </a:endParaRPr>
          </a:p>
        </p:txBody>
      </p:sp>
    </p:spTree>
    <p:extLst>
      <p:ext uri="{BB962C8B-B14F-4D97-AF65-F5344CB8AC3E}">
        <p14:creationId xmlns:p14="http://schemas.microsoft.com/office/powerpoint/2010/main" val="3055105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2826AA-0BE5-AB83-DD6D-E32CD74EFA02}"/>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AAC4E73-0D8C-BC55-08E7-2D3DE6D0C478}"/>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vi-VN" sz="1100" b="1">
                <a:solidFill>
                  <a:srgbClr val="D71920"/>
                </a:solidFill>
                <a:latin typeface="Arial" panose="020B0604020202020204" pitchFamily="34" charset="0"/>
              </a:rPr>
              <a:t>KẾT QUẢ BƯỚC ĐẦU</a:t>
            </a:r>
            <a:endParaRPr lang="en-US" sz="1100" b="1">
              <a:solidFill>
                <a:srgbClr val="D71920"/>
              </a:solidFill>
              <a:latin typeface="Arial" panose="020B0604020202020204" pitchFamily="34" charset="0"/>
            </a:endParaRPr>
          </a:p>
        </p:txBody>
      </p:sp>
      <p:sp>
        <p:nvSpPr>
          <p:cNvPr id="4" name="TextBox 3">
            <a:extLst>
              <a:ext uri="{FF2B5EF4-FFF2-40B4-BE49-F238E27FC236}">
                <a16:creationId xmlns:a16="http://schemas.microsoft.com/office/drawing/2014/main" id="{8D6F728D-97BF-629F-660E-AC505041F2D7}"/>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32238"/>
                </a:solidFill>
                <a:latin typeface="Arial" panose="020B0604020202020204" pitchFamily="34" charset="0"/>
              </a:rPr>
              <a:t>Khảo sát ghi nhận tín hiệu tích cực</a:t>
            </a:r>
          </a:p>
        </p:txBody>
      </p:sp>
      <p:sp>
        <p:nvSpPr>
          <p:cNvPr id="5" name="TextBox 4">
            <a:extLst>
              <a:ext uri="{FF2B5EF4-FFF2-40B4-BE49-F238E27FC236}">
                <a16:creationId xmlns:a16="http://schemas.microsoft.com/office/drawing/2014/main" id="{B6327F78-51BA-7A8F-6789-079120E90511}"/>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C6B7C"/>
                </a:solidFill>
                <a:latin typeface="Arial" panose="020B0604020202020204" pitchFamily="34" charset="0"/>
              </a:rPr>
              <a:t>Mốc dữ liệu: 21/09/2026 • 47 phản hồi = 45 học sinh + 2 giáo viên • 20 cặp học sinh trước–sau.</a:t>
            </a:r>
            <a:endParaRPr lang="en-US" sz="1600">
              <a:solidFill>
                <a:srgbClr val="5C6B7C"/>
              </a:solidFill>
              <a:latin typeface="Arial" panose="020B0604020202020204" pitchFamily="34" charset="0"/>
            </a:endParaRPr>
          </a:p>
        </p:txBody>
      </p:sp>
      <p:sp>
        <p:nvSpPr>
          <p:cNvPr id="6" name="Rectangle 5">
            <a:extLst>
              <a:ext uri="{FF2B5EF4-FFF2-40B4-BE49-F238E27FC236}">
                <a16:creationId xmlns:a16="http://schemas.microsoft.com/office/drawing/2014/main" id="{144BE29F-E229-E1F7-7EBA-D1CED9B2CB9F}"/>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3021FC3-B3A1-DBF1-CEEB-2884003E011E}"/>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§4.2.4; §4.3</a:t>
            </a:r>
          </a:p>
        </p:txBody>
      </p:sp>
      <p:sp>
        <p:nvSpPr>
          <p:cNvPr id="8" name="TextBox 7">
            <a:extLst>
              <a:ext uri="{FF2B5EF4-FFF2-40B4-BE49-F238E27FC236}">
                <a16:creationId xmlns:a16="http://schemas.microsoft.com/office/drawing/2014/main" id="{DA00BAA2-2428-5EEA-9F21-0FC62FD24E45}"/>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17</a:t>
            </a:r>
          </a:p>
        </p:txBody>
      </p:sp>
      <p:sp>
        <p:nvSpPr>
          <p:cNvPr id="9" name="Rectangle 8">
            <a:extLst>
              <a:ext uri="{FF2B5EF4-FFF2-40B4-BE49-F238E27FC236}">
                <a16:creationId xmlns:a16="http://schemas.microsoft.com/office/drawing/2014/main" id="{99EF41B5-2917-FB62-D1F1-2532BC32164D}"/>
              </a:ext>
            </a:extLst>
          </p:cNvPr>
          <p:cNvSpPr/>
          <p:nvPr/>
        </p:nvSpPr>
        <p:spPr>
          <a:xfrm>
            <a:off x="457200" y="2298700"/>
            <a:ext cx="5080000" cy="3365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14A61E2-F9A2-B8F8-1964-E9CF974DADEA}"/>
              </a:ext>
            </a:extLst>
          </p:cNvPr>
          <p:cNvSpPr txBox="1"/>
          <p:nvPr/>
        </p:nvSpPr>
        <p:spPr>
          <a:xfrm>
            <a:off x="711200" y="2463800"/>
            <a:ext cx="4381500" cy="276999"/>
          </a:xfrm>
          <a:prstGeom prst="rect">
            <a:avLst/>
          </a:prstGeom>
          <a:noFill/>
        </p:spPr>
        <p:txBody>
          <a:bodyPr vert="horz" wrap="square" lIns="0" tIns="0" rIns="0" bIns="0" rtlCol="0">
            <a:spAutoFit/>
          </a:bodyPr>
          <a:lstStyle/>
          <a:p>
            <a:pPr>
              <a:spcAft>
                <a:spcPts val="800"/>
              </a:spcAft>
            </a:pPr>
            <a:r>
              <a:rPr lang="en-US" b="1">
                <a:solidFill>
                  <a:srgbClr val="132238"/>
                </a:solidFill>
                <a:latin typeface="Arial" panose="020B0604020202020204" pitchFamily="34" charset="0"/>
              </a:rPr>
              <a:t>Điểm trung bình / 5</a:t>
            </a:r>
          </a:p>
        </p:txBody>
      </p:sp>
      <p:sp>
        <p:nvSpPr>
          <p:cNvPr id="11" name="Rectangle 10">
            <a:extLst>
              <a:ext uri="{FF2B5EF4-FFF2-40B4-BE49-F238E27FC236}">
                <a16:creationId xmlns:a16="http://schemas.microsoft.com/office/drawing/2014/main" id="{C47538D5-579D-14EC-25C8-B62B81ED8F20}"/>
              </a:ext>
            </a:extLst>
          </p:cNvPr>
          <p:cNvSpPr/>
          <p:nvPr/>
        </p:nvSpPr>
        <p:spPr>
          <a:xfrm>
            <a:off x="1384300" y="4025900"/>
            <a:ext cx="1155700" cy="1371600"/>
          </a:xfrm>
          <a:prstGeom prst="rect">
            <a:avLst/>
          </a:prstGeom>
          <a:solidFill>
            <a:srgbClr val="91AABD"/>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961AD3-E526-CE5C-CC9A-90FF11145920}"/>
              </a:ext>
            </a:extLst>
          </p:cNvPr>
          <p:cNvSpPr/>
          <p:nvPr/>
        </p:nvSpPr>
        <p:spPr>
          <a:xfrm>
            <a:off x="3441700" y="3327400"/>
            <a:ext cx="1155700" cy="20701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6ECB8AF-FB18-4E24-3645-4FA229601365}"/>
              </a:ext>
            </a:extLst>
          </p:cNvPr>
          <p:cNvSpPr txBox="1"/>
          <p:nvPr/>
        </p:nvSpPr>
        <p:spPr>
          <a:xfrm>
            <a:off x="1422400" y="3530600"/>
            <a:ext cx="1193800" cy="415498"/>
          </a:xfrm>
          <a:prstGeom prst="rect">
            <a:avLst/>
          </a:prstGeom>
          <a:noFill/>
        </p:spPr>
        <p:txBody>
          <a:bodyPr vert="horz" wrap="square" lIns="0" tIns="0" rIns="0" bIns="0" rtlCol="0">
            <a:spAutoFit/>
          </a:bodyPr>
          <a:lstStyle/>
          <a:p>
            <a:pPr>
              <a:spcAft>
                <a:spcPts val="800"/>
              </a:spcAft>
            </a:pPr>
            <a:r>
              <a:rPr lang="en-US" sz="2700" b="1">
                <a:solidFill>
                  <a:srgbClr val="132238"/>
                </a:solidFill>
                <a:latin typeface="Arial" panose="020B0604020202020204" pitchFamily="34" charset="0"/>
              </a:rPr>
              <a:t>2,69</a:t>
            </a:r>
          </a:p>
        </p:txBody>
      </p:sp>
      <p:sp>
        <p:nvSpPr>
          <p:cNvPr id="14" name="TextBox 13">
            <a:extLst>
              <a:ext uri="{FF2B5EF4-FFF2-40B4-BE49-F238E27FC236}">
                <a16:creationId xmlns:a16="http://schemas.microsoft.com/office/drawing/2014/main" id="{A840756D-804A-4459-2B5C-290DC06C0913}"/>
              </a:ext>
            </a:extLst>
          </p:cNvPr>
          <p:cNvSpPr txBox="1"/>
          <p:nvPr/>
        </p:nvSpPr>
        <p:spPr>
          <a:xfrm>
            <a:off x="3479800" y="2857500"/>
            <a:ext cx="1193800" cy="415498"/>
          </a:xfrm>
          <a:prstGeom prst="rect">
            <a:avLst/>
          </a:prstGeom>
          <a:noFill/>
        </p:spPr>
        <p:txBody>
          <a:bodyPr vert="horz" wrap="square" lIns="0" tIns="0" rIns="0" bIns="0" rtlCol="0">
            <a:spAutoFit/>
          </a:bodyPr>
          <a:lstStyle/>
          <a:p>
            <a:pPr>
              <a:spcAft>
                <a:spcPts val="800"/>
              </a:spcAft>
            </a:pPr>
            <a:r>
              <a:rPr lang="en-US" sz="2700" b="1">
                <a:solidFill>
                  <a:srgbClr val="D71920"/>
                </a:solidFill>
                <a:latin typeface="Arial" panose="020B0604020202020204" pitchFamily="34" charset="0"/>
              </a:rPr>
              <a:t>4,08</a:t>
            </a:r>
          </a:p>
        </p:txBody>
      </p:sp>
      <p:sp>
        <p:nvSpPr>
          <p:cNvPr id="15" name="TextBox 14">
            <a:extLst>
              <a:ext uri="{FF2B5EF4-FFF2-40B4-BE49-F238E27FC236}">
                <a16:creationId xmlns:a16="http://schemas.microsoft.com/office/drawing/2014/main" id="{F001E8CD-CF7B-46DE-255D-1CD12E31D99E}"/>
              </a:ext>
            </a:extLst>
          </p:cNvPr>
          <p:cNvSpPr txBox="1"/>
          <p:nvPr/>
        </p:nvSpPr>
        <p:spPr>
          <a:xfrm>
            <a:off x="1549400" y="5422900"/>
            <a:ext cx="1155700" cy="246221"/>
          </a:xfrm>
          <a:prstGeom prst="rect">
            <a:avLst/>
          </a:prstGeom>
          <a:noFill/>
        </p:spPr>
        <p:txBody>
          <a:bodyPr vert="horz" wrap="square" lIns="0" tIns="0" rIns="0" bIns="0" rtlCol="0">
            <a:spAutoFit/>
          </a:bodyPr>
          <a:lstStyle/>
          <a:p>
            <a:pPr>
              <a:spcAft>
                <a:spcPts val="800"/>
              </a:spcAft>
            </a:pPr>
            <a:r>
              <a:rPr lang="vi-VN" sz="1600">
                <a:solidFill>
                  <a:srgbClr val="5C6B7C"/>
                </a:solidFill>
                <a:latin typeface="Arial" panose="020B0604020202020204" pitchFamily="34" charset="0"/>
              </a:rPr>
              <a:t>Trước</a:t>
            </a:r>
            <a:endParaRPr lang="en-US" sz="1600">
              <a:solidFill>
                <a:srgbClr val="5C6B7C"/>
              </a:solidFill>
              <a:latin typeface="Arial" panose="020B0604020202020204" pitchFamily="34" charset="0"/>
            </a:endParaRPr>
          </a:p>
        </p:txBody>
      </p:sp>
      <p:sp>
        <p:nvSpPr>
          <p:cNvPr id="16" name="TextBox 15">
            <a:extLst>
              <a:ext uri="{FF2B5EF4-FFF2-40B4-BE49-F238E27FC236}">
                <a16:creationId xmlns:a16="http://schemas.microsoft.com/office/drawing/2014/main" id="{25E70FF6-F655-9BA9-AAA6-6072F7797016}"/>
              </a:ext>
            </a:extLst>
          </p:cNvPr>
          <p:cNvSpPr txBox="1"/>
          <p:nvPr/>
        </p:nvSpPr>
        <p:spPr>
          <a:xfrm>
            <a:off x="3746500" y="5422900"/>
            <a:ext cx="1155700" cy="246221"/>
          </a:xfrm>
          <a:prstGeom prst="rect">
            <a:avLst/>
          </a:prstGeom>
          <a:noFill/>
        </p:spPr>
        <p:txBody>
          <a:bodyPr vert="horz" wrap="square" lIns="0" tIns="0" rIns="0" bIns="0" rtlCol="0">
            <a:spAutoFit/>
          </a:bodyPr>
          <a:lstStyle/>
          <a:p>
            <a:pPr>
              <a:spcAft>
                <a:spcPts val="800"/>
              </a:spcAft>
            </a:pPr>
            <a:r>
              <a:rPr lang="en-US" sz="1600">
                <a:solidFill>
                  <a:srgbClr val="5C6B7C"/>
                </a:solidFill>
                <a:latin typeface="Arial" panose="020B0604020202020204" pitchFamily="34" charset="0"/>
              </a:rPr>
              <a:t>Sau</a:t>
            </a:r>
          </a:p>
        </p:txBody>
      </p:sp>
      <p:sp>
        <p:nvSpPr>
          <p:cNvPr id="17" name="Rectangle 16">
            <a:extLst>
              <a:ext uri="{FF2B5EF4-FFF2-40B4-BE49-F238E27FC236}">
                <a16:creationId xmlns:a16="http://schemas.microsoft.com/office/drawing/2014/main" id="{0D160EE6-1393-CEE3-E7B3-A44FCA1B06AB}"/>
              </a:ext>
            </a:extLst>
          </p:cNvPr>
          <p:cNvSpPr/>
          <p:nvPr/>
        </p:nvSpPr>
        <p:spPr>
          <a:xfrm>
            <a:off x="5854700" y="2298700"/>
            <a:ext cx="5880100" cy="33655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5E1D75-871D-2CF7-A588-1ED0C5808007}"/>
              </a:ext>
            </a:extLst>
          </p:cNvPr>
          <p:cNvSpPr/>
          <p:nvPr/>
        </p:nvSpPr>
        <p:spPr>
          <a:xfrm>
            <a:off x="5854700" y="2298700"/>
            <a:ext cx="50800" cy="33655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EEAA56A-957B-4D5A-3BBC-D6BB085805B7}"/>
              </a:ext>
            </a:extLst>
          </p:cNvPr>
          <p:cNvSpPr txBox="1"/>
          <p:nvPr/>
        </p:nvSpPr>
        <p:spPr>
          <a:xfrm>
            <a:off x="6083300" y="2501900"/>
            <a:ext cx="54229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+51,7% điểm trung bình</a:t>
            </a:r>
          </a:p>
        </p:txBody>
      </p:sp>
      <p:sp>
        <p:nvSpPr>
          <p:cNvPr id="20" name="TextBox 19">
            <a:extLst>
              <a:ext uri="{FF2B5EF4-FFF2-40B4-BE49-F238E27FC236}">
                <a16:creationId xmlns:a16="http://schemas.microsoft.com/office/drawing/2014/main" id="{B8E63B00-0D7A-F590-0FDE-48ECDD9D7271}"/>
              </a:ext>
            </a:extLst>
          </p:cNvPr>
          <p:cNvSpPr txBox="1"/>
          <p:nvPr/>
        </p:nvSpPr>
        <p:spPr>
          <a:xfrm>
            <a:off x="6083300" y="3162300"/>
            <a:ext cx="5422900" cy="1538883"/>
          </a:xfrm>
          <a:prstGeom prst="rect">
            <a:avLst/>
          </a:prstGeom>
          <a:noFill/>
        </p:spPr>
        <p:txBody>
          <a:bodyPr vert="horz" wrap="square" lIns="0" tIns="0" rIns="0" bIns="0" rtlCol="0">
            <a:spAutoFit/>
          </a:bodyPr>
          <a:lstStyle/>
          <a:p>
            <a:pPr>
              <a:spcAft>
                <a:spcPts val="800"/>
              </a:spcAft>
            </a:pPr>
            <a:r>
              <a:rPr lang="vi-VN" sz="2000">
                <a:solidFill>
                  <a:srgbClr val="132238"/>
                </a:solidFill>
                <a:latin typeface="Arial" panose="020B0604020202020204" pitchFamily="34" charset="0"/>
              </a:rPr>
              <a:t>Tổng hợp 4 tiêu chí Likert tự đánh giá.
75% đánh giá tích cực.
95% muốn tiếp tục sử dụng.
Chưa có nhóm đối chứng; mẫu giáo viên nhỏ.</a:t>
            </a:r>
            <a:endParaRPr lang="en-US" sz="2000">
              <a:solidFill>
                <a:srgbClr val="132238"/>
              </a:solidFill>
              <a:latin typeface="Arial" panose="020B0604020202020204" pitchFamily="34" charset="0"/>
            </a:endParaRPr>
          </a:p>
        </p:txBody>
      </p:sp>
      <p:sp>
        <p:nvSpPr>
          <p:cNvPr id="21" name="Rectangle 20">
            <a:extLst>
              <a:ext uri="{FF2B5EF4-FFF2-40B4-BE49-F238E27FC236}">
                <a16:creationId xmlns:a16="http://schemas.microsoft.com/office/drawing/2014/main" id="{4E24E6C0-9085-C1EC-E93B-9118AACE15BE}"/>
              </a:ext>
            </a:extLst>
          </p:cNvPr>
          <p:cNvSpPr/>
          <p:nvPr/>
        </p:nvSpPr>
        <p:spPr>
          <a:xfrm>
            <a:off x="457200" y="5829300"/>
            <a:ext cx="11277600" cy="431800"/>
          </a:xfrm>
          <a:prstGeom prst="rect">
            <a:avLst/>
          </a:prstGeom>
          <a:solidFill>
            <a:srgbClr val="11233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4EAF09E3-DD62-ACE7-FC36-A5BB6964608A}"/>
              </a:ext>
            </a:extLst>
          </p:cNvPr>
          <p:cNvSpPr txBox="1"/>
          <p:nvPr/>
        </p:nvSpPr>
        <p:spPr>
          <a:xfrm>
            <a:off x="609600" y="5930900"/>
            <a:ext cx="10972800" cy="200055"/>
          </a:xfrm>
          <a:prstGeom prst="rect">
            <a:avLst/>
          </a:prstGeom>
          <a:noFill/>
        </p:spPr>
        <p:txBody>
          <a:bodyPr vert="horz" wrap="square" lIns="0" tIns="0" rIns="0" bIns="0" rtlCol="0">
            <a:spAutoFit/>
          </a:bodyPr>
          <a:lstStyle/>
          <a:p>
            <a:pPr>
              <a:spcAft>
                <a:spcPts val="800"/>
              </a:spcAft>
            </a:pPr>
            <a:r>
              <a:rPr lang="en-US" sz="1300" b="1">
                <a:solidFill>
                  <a:srgbClr val="FFFFFF"/>
                </a:solidFill>
                <a:latin typeface="Arial" panose="020B0604020202020204" pitchFamily="34" charset="0"/>
              </a:rPr>
              <a:t>Không diễn giải mức tăng tự đánh giá thành “kết quả học tập thực tế tăng 51,7%”.</a:t>
            </a:r>
          </a:p>
        </p:txBody>
      </p:sp>
    </p:spTree>
    <p:extLst>
      <p:ext uri="{BB962C8B-B14F-4D97-AF65-F5344CB8AC3E}">
        <p14:creationId xmlns:p14="http://schemas.microsoft.com/office/powerpoint/2010/main" val="4060516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AF6"/>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45B92C-5413-D7F1-D272-690AB8A9FD1F}"/>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77A2072-5C55-0368-2EB5-C7C4B9663C47}"/>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vi-VN" sz="1100" b="1">
                <a:solidFill>
                  <a:srgbClr val="D71920"/>
                </a:solidFill>
                <a:latin typeface="Arial" panose="020B0604020202020204" pitchFamily="34" charset="0"/>
              </a:rPr>
              <a:t>HƯỚNG HOÀN THIỆN</a:t>
            </a:r>
            <a:endParaRPr lang="en-US" sz="1100" b="1">
              <a:solidFill>
                <a:srgbClr val="D71920"/>
              </a:solidFill>
              <a:latin typeface="Arial" panose="020B0604020202020204" pitchFamily="34" charset="0"/>
            </a:endParaRPr>
          </a:p>
        </p:txBody>
      </p:sp>
      <p:sp>
        <p:nvSpPr>
          <p:cNvPr id="4" name="TextBox 3">
            <a:extLst>
              <a:ext uri="{FF2B5EF4-FFF2-40B4-BE49-F238E27FC236}">
                <a16:creationId xmlns:a16="http://schemas.microsoft.com/office/drawing/2014/main" id="{2DCF9A3D-E99B-D293-40B8-44BC31DB7EC8}"/>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132238"/>
                </a:solidFill>
                <a:latin typeface="Arial" panose="020B0604020202020204" pitchFamily="34" charset="0"/>
              </a:rPr>
              <a:t>Những việc cần làm tiếp</a:t>
            </a:r>
          </a:p>
        </p:txBody>
      </p:sp>
      <p:sp>
        <p:nvSpPr>
          <p:cNvPr id="5" name="TextBox 4">
            <a:extLst>
              <a:ext uri="{FF2B5EF4-FFF2-40B4-BE49-F238E27FC236}">
                <a16:creationId xmlns:a16="http://schemas.microsoft.com/office/drawing/2014/main" id="{798D4811-4829-44D3-DC57-58FE5437BC16}"/>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vi-VN" sz="1600">
                <a:solidFill>
                  <a:srgbClr val="5C6B7C"/>
                </a:solidFill>
                <a:latin typeface="Arial" panose="020B0604020202020204" pitchFamily="34" charset="0"/>
              </a:rPr>
              <a:t>Ưu tiên độ đúng chuyên môn, bằng chứng thực nghiệm và tính ổn định khi sử dụng.</a:t>
            </a:r>
            <a:endParaRPr lang="en-US" sz="1600">
              <a:solidFill>
                <a:srgbClr val="5C6B7C"/>
              </a:solidFill>
              <a:latin typeface="Arial" panose="020B0604020202020204" pitchFamily="34" charset="0"/>
            </a:endParaRPr>
          </a:p>
        </p:txBody>
      </p:sp>
      <p:sp>
        <p:nvSpPr>
          <p:cNvPr id="6" name="Rectangle 5">
            <a:extLst>
              <a:ext uri="{FF2B5EF4-FFF2-40B4-BE49-F238E27FC236}">
                <a16:creationId xmlns:a16="http://schemas.microsoft.com/office/drawing/2014/main" id="{94F053FD-DE7A-B8AA-78E3-AE7A387AFA2D}"/>
              </a:ext>
            </a:extLst>
          </p:cNvPr>
          <p:cNvSpPr/>
          <p:nvPr/>
        </p:nvSpPr>
        <p:spPr>
          <a:xfrm>
            <a:off x="457200" y="6413500"/>
            <a:ext cx="11277600" cy="12700"/>
          </a:xfrm>
          <a:prstGeom prst="rect">
            <a:avLst/>
          </a:prstGeom>
          <a:solidFill>
            <a:srgbClr val="CCD5D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3D4D81D-A8D2-60D4-E363-80477E883E5A}"/>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5C6B7C"/>
                </a:solidFill>
                <a:latin typeface="Arial" panose="020B0604020202020204" pitchFamily="34" charset="0"/>
              </a:rPr>
              <a:t>HỌC QPAN 3D  •  Báo cáo §4.5</a:t>
            </a:r>
          </a:p>
        </p:txBody>
      </p:sp>
      <p:sp>
        <p:nvSpPr>
          <p:cNvPr id="8" name="TextBox 7">
            <a:extLst>
              <a:ext uri="{FF2B5EF4-FFF2-40B4-BE49-F238E27FC236}">
                <a16:creationId xmlns:a16="http://schemas.microsoft.com/office/drawing/2014/main" id="{CF2F35ED-0CE0-231E-04B4-4CAC36536F8C}"/>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D71920"/>
                </a:solidFill>
                <a:latin typeface="Arial" panose="020B0604020202020204" pitchFamily="34" charset="0"/>
              </a:rPr>
              <a:t>18</a:t>
            </a:r>
          </a:p>
        </p:txBody>
      </p:sp>
      <p:sp>
        <p:nvSpPr>
          <p:cNvPr id="9" name="Rectangle 8">
            <a:extLst>
              <a:ext uri="{FF2B5EF4-FFF2-40B4-BE49-F238E27FC236}">
                <a16:creationId xmlns:a16="http://schemas.microsoft.com/office/drawing/2014/main" id="{820E8C7C-DFCA-9826-256D-052126E892CE}"/>
              </a:ext>
            </a:extLst>
          </p:cNvPr>
          <p:cNvSpPr/>
          <p:nvPr/>
        </p:nvSpPr>
        <p:spPr>
          <a:xfrm>
            <a:off x="457200" y="2298700"/>
            <a:ext cx="5410200" cy="1600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5E9F396-7E31-E350-C549-16EA2037B13E}"/>
              </a:ext>
            </a:extLst>
          </p:cNvPr>
          <p:cNvSpPr/>
          <p:nvPr/>
        </p:nvSpPr>
        <p:spPr>
          <a:xfrm>
            <a:off x="457200" y="2298700"/>
            <a:ext cx="50800" cy="16002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80EBDB8-9666-85BC-0CE3-37A92CE6E283}"/>
              </a:ext>
            </a:extLst>
          </p:cNvPr>
          <p:cNvSpPr txBox="1"/>
          <p:nvPr/>
        </p:nvSpPr>
        <p:spPr>
          <a:xfrm>
            <a:off x="685800" y="2501900"/>
            <a:ext cx="49530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1. Thẩm định chuyên môn</a:t>
            </a:r>
          </a:p>
        </p:txBody>
      </p:sp>
      <p:sp>
        <p:nvSpPr>
          <p:cNvPr id="12" name="TextBox 11">
            <a:extLst>
              <a:ext uri="{FF2B5EF4-FFF2-40B4-BE49-F238E27FC236}">
                <a16:creationId xmlns:a16="http://schemas.microsoft.com/office/drawing/2014/main" id="{8B2ACB52-E6CE-461C-FD68-381C50B913DB}"/>
              </a:ext>
            </a:extLst>
          </p:cNvPr>
          <p:cNvSpPr txBox="1"/>
          <p:nvPr/>
        </p:nvSpPr>
        <p:spPr>
          <a:xfrm>
            <a:off x="685800" y="3162300"/>
            <a:ext cx="4953000" cy="553998"/>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Giáo viên rà soát bài học, câu hỏi, tư thế và thao tác.</a:t>
            </a:r>
            <a:endParaRPr lang="en-US">
              <a:solidFill>
                <a:srgbClr val="132238"/>
              </a:solidFill>
              <a:latin typeface="Arial" panose="020B0604020202020204" pitchFamily="34" charset="0"/>
            </a:endParaRPr>
          </a:p>
        </p:txBody>
      </p:sp>
      <p:sp>
        <p:nvSpPr>
          <p:cNvPr id="13" name="Rectangle 12">
            <a:extLst>
              <a:ext uri="{FF2B5EF4-FFF2-40B4-BE49-F238E27FC236}">
                <a16:creationId xmlns:a16="http://schemas.microsoft.com/office/drawing/2014/main" id="{7911790C-0E48-EBF5-983E-0F876DA244A9}"/>
              </a:ext>
            </a:extLst>
          </p:cNvPr>
          <p:cNvSpPr/>
          <p:nvPr/>
        </p:nvSpPr>
        <p:spPr>
          <a:xfrm>
            <a:off x="6172200" y="2298700"/>
            <a:ext cx="5562600" cy="1600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1196E-E733-3906-5948-41F7CF7D7B29}"/>
              </a:ext>
            </a:extLst>
          </p:cNvPr>
          <p:cNvSpPr/>
          <p:nvPr/>
        </p:nvSpPr>
        <p:spPr>
          <a:xfrm>
            <a:off x="6172200" y="2298700"/>
            <a:ext cx="50800" cy="16002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C4D770C-A262-E321-699F-1C34E66CF83B}"/>
              </a:ext>
            </a:extLst>
          </p:cNvPr>
          <p:cNvSpPr txBox="1"/>
          <p:nvPr/>
        </p:nvSpPr>
        <p:spPr>
          <a:xfrm>
            <a:off x="6400800" y="2501900"/>
            <a:ext cx="51054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2. Kiểm định Pose</a:t>
            </a:r>
          </a:p>
        </p:txBody>
      </p:sp>
      <p:sp>
        <p:nvSpPr>
          <p:cNvPr id="16" name="TextBox 15">
            <a:extLst>
              <a:ext uri="{FF2B5EF4-FFF2-40B4-BE49-F238E27FC236}">
                <a16:creationId xmlns:a16="http://schemas.microsoft.com/office/drawing/2014/main" id="{3709ED08-E01A-842A-DE15-EB536154D938}"/>
              </a:ext>
            </a:extLst>
          </p:cNvPr>
          <p:cNvSpPr txBox="1"/>
          <p:nvPr/>
        </p:nvSpPr>
        <p:spPr>
          <a:xfrm>
            <a:off x="6400800" y="3162300"/>
            <a:ext cx="5105400" cy="553998"/>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Đối chiếu người thật với giáo viên; thử góc máy và ánh sáng.</a:t>
            </a:r>
            <a:endParaRPr lang="en-US">
              <a:solidFill>
                <a:srgbClr val="132238"/>
              </a:solidFill>
              <a:latin typeface="Arial" panose="020B0604020202020204" pitchFamily="34" charset="0"/>
            </a:endParaRPr>
          </a:p>
        </p:txBody>
      </p:sp>
      <p:sp>
        <p:nvSpPr>
          <p:cNvPr id="17" name="Rectangle 16">
            <a:extLst>
              <a:ext uri="{FF2B5EF4-FFF2-40B4-BE49-F238E27FC236}">
                <a16:creationId xmlns:a16="http://schemas.microsoft.com/office/drawing/2014/main" id="{DC137C22-6124-75A5-CEF3-D82187B9D23F}"/>
              </a:ext>
            </a:extLst>
          </p:cNvPr>
          <p:cNvSpPr/>
          <p:nvPr/>
        </p:nvSpPr>
        <p:spPr>
          <a:xfrm>
            <a:off x="457200" y="4152900"/>
            <a:ext cx="5410200" cy="1600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E4FEF77-14E4-B539-A506-11CE4639565C}"/>
              </a:ext>
            </a:extLst>
          </p:cNvPr>
          <p:cNvSpPr/>
          <p:nvPr/>
        </p:nvSpPr>
        <p:spPr>
          <a:xfrm>
            <a:off x="457200" y="4152900"/>
            <a:ext cx="50800" cy="16002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B3077F3-9E01-E08B-85B2-F399CC2DBDC5}"/>
              </a:ext>
            </a:extLst>
          </p:cNvPr>
          <p:cNvSpPr txBox="1"/>
          <p:nvPr/>
        </p:nvSpPr>
        <p:spPr>
          <a:xfrm>
            <a:off x="685800" y="4356100"/>
            <a:ext cx="49530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3. Hoàn thiện hệ thống</a:t>
            </a:r>
          </a:p>
        </p:txBody>
      </p:sp>
      <p:sp>
        <p:nvSpPr>
          <p:cNvPr id="20" name="TextBox 19">
            <a:extLst>
              <a:ext uri="{FF2B5EF4-FFF2-40B4-BE49-F238E27FC236}">
                <a16:creationId xmlns:a16="http://schemas.microsoft.com/office/drawing/2014/main" id="{7440955E-C2E0-1608-500F-4DA29A0E6DAA}"/>
              </a:ext>
            </a:extLst>
          </p:cNvPr>
          <p:cNvSpPr txBox="1"/>
          <p:nvPr/>
        </p:nvSpPr>
        <p:spPr>
          <a:xfrm>
            <a:off x="685800" y="5016500"/>
            <a:ext cx="4953000" cy="553998"/>
          </a:xfrm>
          <a:prstGeom prst="rect">
            <a:avLst/>
          </a:prstGeom>
          <a:noFill/>
        </p:spPr>
        <p:txBody>
          <a:bodyPr vert="horz" wrap="square" lIns="0" tIns="0" rIns="0" bIns="0" rtlCol="0">
            <a:spAutoFit/>
          </a:bodyPr>
          <a:lstStyle/>
          <a:p>
            <a:pPr>
              <a:spcAft>
                <a:spcPts val="800"/>
              </a:spcAft>
            </a:pPr>
            <a:r>
              <a:rPr lang="vi-VN">
                <a:solidFill>
                  <a:srgbClr val="132238"/>
                </a:solidFill>
                <a:latin typeface="Arial" panose="020B0604020202020204" pitchFamily="34" charset="0"/>
              </a:rPr>
              <a:t>Hợp nhất backend, đồng bộ tiến độ; sửa XP và tối ưu thiết bị yếu.</a:t>
            </a:r>
            <a:endParaRPr lang="en-US">
              <a:solidFill>
                <a:srgbClr val="132238"/>
              </a:solidFill>
              <a:latin typeface="Arial" panose="020B0604020202020204" pitchFamily="34" charset="0"/>
            </a:endParaRPr>
          </a:p>
        </p:txBody>
      </p:sp>
      <p:sp>
        <p:nvSpPr>
          <p:cNvPr id="21" name="Rectangle 20">
            <a:extLst>
              <a:ext uri="{FF2B5EF4-FFF2-40B4-BE49-F238E27FC236}">
                <a16:creationId xmlns:a16="http://schemas.microsoft.com/office/drawing/2014/main" id="{D27946FF-AAE9-DE14-A30E-47A2831FC0CA}"/>
              </a:ext>
            </a:extLst>
          </p:cNvPr>
          <p:cNvSpPr/>
          <p:nvPr/>
        </p:nvSpPr>
        <p:spPr>
          <a:xfrm>
            <a:off x="6172200" y="4152900"/>
            <a:ext cx="5562600" cy="16002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73A2100-1ABB-A704-81CF-D409EEB2CA3E}"/>
              </a:ext>
            </a:extLst>
          </p:cNvPr>
          <p:cNvSpPr/>
          <p:nvPr/>
        </p:nvSpPr>
        <p:spPr>
          <a:xfrm>
            <a:off x="6172200" y="4152900"/>
            <a:ext cx="50800" cy="1600200"/>
          </a:xfrm>
          <a:prstGeom prst="rect">
            <a:avLst/>
          </a:prstGeom>
          <a:solidFill>
            <a:srgbClr val="F2B63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DF55F18-FF6D-BEC7-9FD5-119536B2225E}"/>
              </a:ext>
            </a:extLst>
          </p:cNvPr>
          <p:cNvSpPr txBox="1"/>
          <p:nvPr/>
        </p:nvSpPr>
        <p:spPr>
          <a:xfrm>
            <a:off x="6400800" y="4356100"/>
            <a:ext cx="5105400" cy="323165"/>
          </a:xfrm>
          <a:prstGeom prst="rect">
            <a:avLst/>
          </a:prstGeom>
          <a:noFill/>
        </p:spPr>
        <p:txBody>
          <a:bodyPr vert="horz" wrap="square" lIns="0" tIns="0" rIns="0" bIns="0" rtlCol="0">
            <a:spAutoFit/>
          </a:bodyPr>
          <a:lstStyle/>
          <a:p>
            <a:pPr>
              <a:spcAft>
                <a:spcPts val="800"/>
              </a:spcAft>
            </a:pPr>
            <a:r>
              <a:rPr lang="en-US" sz="2100" b="1">
                <a:solidFill>
                  <a:srgbClr val="132238"/>
                </a:solidFill>
                <a:latin typeface="Arial" panose="020B0604020202020204" pitchFamily="34" charset="0"/>
              </a:rPr>
              <a:t>4. Mở rộng thực nghiệm</a:t>
            </a:r>
          </a:p>
        </p:txBody>
      </p:sp>
      <p:sp>
        <p:nvSpPr>
          <p:cNvPr id="24" name="TextBox 23">
            <a:extLst>
              <a:ext uri="{FF2B5EF4-FFF2-40B4-BE49-F238E27FC236}">
                <a16:creationId xmlns:a16="http://schemas.microsoft.com/office/drawing/2014/main" id="{D50CAC05-1ADB-9FE4-AB96-50D5B983E54F}"/>
              </a:ext>
            </a:extLst>
          </p:cNvPr>
          <p:cNvSpPr txBox="1"/>
          <p:nvPr/>
        </p:nvSpPr>
        <p:spPr>
          <a:xfrm>
            <a:off x="6400800" y="5016500"/>
            <a:ext cx="5105400" cy="553998"/>
          </a:xfrm>
          <a:prstGeom prst="rect">
            <a:avLst/>
          </a:prstGeom>
          <a:noFill/>
        </p:spPr>
        <p:txBody>
          <a:bodyPr vert="horz" wrap="square" lIns="0" tIns="0" rIns="0" bIns="0" rtlCol="0">
            <a:spAutoFit/>
          </a:bodyPr>
          <a:lstStyle/>
          <a:p>
            <a:pPr>
              <a:spcAft>
                <a:spcPts val="800"/>
              </a:spcAft>
            </a:pPr>
            <a:r>
              <a:rPr lang="en-US">
                <a:solidFill>
                  <a:srgbClr val="132238"/>
                </a:solidFill>
                <a:latin typeface="Arial" panose="020B0604020202020204" pitchFamily="34" charset="0"/>
              </a:rPr>
              <a:t>Tăng mẫu, bổ sung nhóm đối chứng; nghiên cứu WebXR và truy hồi nguồn AI.</a:t>
            </a:r>
          </a:p>
        </p:txBody>
      </p:sp>
    </p:spTree>
    <p:extLst>
      <p:ext uri="{BB962C8B-B14F-4D97-AF65-F5344CB8AC3E}">
        <p14:creationId xmlns:p14="http://schemas.microsoft.com/office/powerpoint/2010/main" val="1378442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B883F-1034-0030-B8AB-5565464C151B}"/>
              </a:ext>
            </a:extLst>
          </p:cNvPr>
          <p:cNvSpPr/>
          <p:nvPr/>
        </p:nvSpPr>
        <p:spPr>
          <a:xfrm>
            <a:off x="0" y="0"/>
            <a:ext cx="12192000" cy="101600"/>
          </a:xfrm>
          <a:prstGeom prst="rect">
            <a:avLst/>
          </a:prstGeom>
          <a:solidFill>
            <a:srgbClr val="D719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57F927-B150-3207-509C-4C81C0EFC14E}"/>
              </a:ext>
            </a:extLst>
          </p:cNvPr>
          <p:cNvSpPr txBox="1"/>
          <p:nvPr/>
        </p:nvSpPr>
        <p:spPr>
          <a:xfrm>
            <a:off x="457200" y="304800"/>
            <a:ext cx="11049000" cy="169277"/>
          </a:xfrm>
          <a:prstGeom prst="rect">
            <a:avLst/>
          </a:prstGeom>
          <a:noFill/>
        </p:spPr>
        <p:txBody>
          <a:bodyPr vert="horz" wrap="square" lIns="0" tIns="0" rIns="0" bIns="0" rtlCol="0">
            <a:spAutoFit/>
          </a:bodyPr>
          <a:lstStyle/>
          <a:p>
            <a:pPr>
              <a:spcAft>
                <a:spcPts val="800"/>
              </a:spcAft>
            </a:pPr>
            <a:r>
              <a:rPr lang="vi-VN" sz="1100" b="1">
                <a:solidFill>
                  <a:srgbClr val="F2B632"/>
                </a:solidFill>
                <a:latin typeface="Arial" panose="020B0604020202020204" pitchFamily="34" charset="0"/>
              </a:rPr>
              <a:t>CẢM ƠN BAN GIÁM KHẢO</a:t>
            </a:r>
            <a:endParaRPr lang="en-US" sz="1100" b="1">
              <a:solidFill>
                <a:srgbClr val="F2B632"/>
              </a:solidFill>
              <a:latin typeface="Arial" panose="020B0604020202020204" pitchFamily="34" charset="0"/>
            </a:endParaRPr>
          </a:p>
        </p:txBody>
      </p:sp>
      <p:sp>
        <p:nvSpPr>
          <p:cNvPr id="4" name="TextBox 3">
            <a:extLst>
              <a:ext uri="{FF2B5EF4-FFF2-40B4-BE49-F238E27FC236}">
                <a16:creationId xmlns:a16="http://schemas.microsoft.com/office/drawing/2014/main" id="{83B398F3-87C8-637B-2B29-82A0470BFE20}"/>
              </a:ext>
            </a:extLst>
          </p:cNvPr>
          <p:cNvSpPr txBox="1"/>
          <p:nvPr/>
        </p:nvSpPr>
        <p:spPr>
          <a:xfrm>
            <a:off x="457200" y="673100"/>
            <a:ext cx="11277600" cy="461665"/>
          </a:xfrm>
          <a:prstGeom prst="rect">
            <a:avLst/>
          </a:prstGeom>
          <a:noFill/>
        </p:spPr>
        <p:txBody>
          <a:bodyPr vert="horz" wrap="square" lIns="0" tIns="0" rIns="0" bIns="0" rtlCol="0">
            <a:spAutoFit/>
          </a:bodyPr>
          <a:lstStyle/>
          <a:p>
            <a:pPr>
              <a:spcAft>
                <a:spcPts val="800"/>
              </a:spcAft>
            </a:pPr>
            <a:r>
              <a:rPr lang="en-US" sz="3000" b="1">
                <a:solidFill>
                  <a:srgbClr val="FFFFFF"/>
                </a:solidFill>
                <a:latin typeface="Arial" panose="020B0604020202020204" pitchFamily="34" charset="0"/>
              </a:rPr>
              <a:t>Một cổng học tập, nhiều cách tiếp cận</a:t>
            </a:r>
          </a:p>
        </p:txBody>
      </p:sp>
      <p:sp>
        <p:nvSpPr>
          <p:cNvPr id="5" name="TextBox 4">
            <a:extLst>
              <a:ext uri="{FF2B5EF4-FFF2-40B4-BE49-F238E27FC236}">
                <a16:creationId xmlns:a16="http://schemas.microsoft.com/office/drawing/2014/main" id="{645BD94F-6BF3-E1DE-607E-57B3B4CE3AA9}"/>
              </a:ext>
            </a:extLst>
          </p:cNvPr>
          <p:cNvSpPr txBox="1"/>
          <p:nvPr/>
        </p:nvSpPr>
        <p:spPr>
          <a:xfrm>
            <a:off x="457200" y="1485900"/>
            <a:ext cx="11277600" cy="246221"/>
          </a:xfrm>
          <a:prstGeom prst="rect">
            <a:avLst/>
          </a:prstGeom>
          <a:noFill/>
        </p:spPr>
        <p:txBody>
          <a:bodyPr vert="horz" wrap="square" lIns="0" tIns="0" rIns="0" bIns="0" rtlCol="0">
            <a:spAutoFit/>
          </a:bodyPr>
          <a:lstStyle/>
          <a:p>
            <a:pPr>
              <a:spcAft>
                <a:spcPts val="800"/>
              </a:spcAft>
            </a:pPr>
            <a:r>
              <a:rPr lang="en-US" sz="1600">
                <a:solidFill>
                  <a:srgbClr val="B7C5D6"/>
                </a:solidFill>
                <a:latin typeface="Arial" panose="020B0604020202020204" pitchFamily="34" charset="0"/>
              </a:rPr>
              <a:t>Học lý thuyết • Quan sát 3D • Luyện tập • Nhận phản hồi</a:t>
            </a:r>
          </a:p>
        </p:txBody>
      </p:sp>
      <p:sp>
        <p:nvSpPr>
          <p:cNvPr id="6" name="Rectangle 5">
            <a:extLst>
              <a:ext uri="{FF2B5EF4-FFF2-40B4-BE49-F238E27FC236}">
                <a16:creationId xmlns:a16="http://schemas.microsoft.com/office/drawing/2014/main" id="{62C42CB9-9657-A0B3-E2E5-0D30CBB27AC7}"/>
              </a:ext>
            </a:extLst>
          </p:cNvPr>
          <p:cNvSpPr/>
          <p:nvPr/>
        </p:nvSpPr>
        <p:spPr>
          <a:xfrm>
            <a:off x="457200" y="6413500"/>
            <a:ext cx="11277600" cy="12700"/>
          </a:xfrm>
          <a:prstGeom prst="rect">
            <a:avLst/>
          </a:prstGeom>
          <a:solidFill>
            <a:srgbClr val="3142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340564C-124D-C79D-458A-5368018C151F}"/>
              </a:ext>
            </a:extLst>
          </p:cNvPr>
          <p:cNvSpPr txBox="1"/>
          <p:nvPr/>
        </p:nvSpPr>
        <p:spPr>
          <a:xfrm>
            <a:off x="457200" y="6540500"/>
            <a:ext cx="10604500" cy="138499"/>
          </a:xfrm>
          <a:prstGeom prst="rect">
            <a:avLst/>
          </a:prstGeom>
          <a:noFill/>
        </p:spPr>
        <p:txBody>
          <a:bodyPr vert="horz" wrap="square" lIns="0" tIns="0" rIns="0" bIns="0" rtlCol="0">
            <a:spAutoFit/>
          </a:bodyPr>
          <a:lstStyle/>
          <a:p>
            <a:pPr>
              <a:spcAft>
                <a:spcPts val="800"/>
              </a:spcAft>
            </a:pPr>
            <a:r>
              <a:rPr lang="en-US" sz="900">
                <a:solidFill>
                  <a:srgbClr val="B7C5D6"/>
                </a:solidFill>
                <a:latin typeface="Arial" panose="020B0604020202020204" pitchFamily="34" charset="0"/>
              </a:rPr>
              <a:t>HỌC QPAN 3D  •  Tổng hợp từ báo cáo do nhóm cung cấp</a:t>
            </a:r>
          </a:p>
        </p:txBody>
      </p:sp>
      <p:sp>
        <p:nvSpPr>
          <p:cNvPr id="8" name="TextBox 7">
            <a:extLst>
              <a:ext uri="{FF2B5EF4-FFF2-40B4-BE49-F238E27FC236}">
                <a16:creationId xmlns:a16="http://schemas.microsoft.com/office/drawing/2014/main" id="{48122BEB-3FC2-E67E-113C-CFC27506ED9C}"/>
              </a:ext>
            </a:extLst>
          </p:cNvPr>
          <p:cNvSpPr txBox="1"/>
          <p:nvPr/>
        </p:nvSpPr>
        <p:spPr>
          <a:xfrm>
            <a:off x="11366500" y="6515100"/>
            <a:ext cx="355600" cy="184666"/>
          </a:xfrm>
          <a:prstGeom prst="rect">
            <a:avLst/>
          </a:prstGeom>
          <a:noFill/>
        </p:spPr>
        <p:txBody>
          <a:bodyPr vert="horz" wrap="square" lIns="0" tIns="0" rIns="0" bIns="0" rtlCol="0">
            <a:spAutoFit/>
          </a:bodyPr>
          <a:lstStyle/>
          <a:p>
            <a:pPr>
              <a:spcAft>
                <a:spcPts val="800"/>
              </a:spcAft>
            </a:pPr>
            <a:r>
              <a:rPr lang="en-US" sz="1200" b="1">
                <a:solidFill>
                  <a:srgbClr val="F2B632"/>
                </a:solidFill>
                <a:latin typeface="Arial" panose="020B0604020202020204" pitchFamily="34" charset="0"/>
              </a:rPr>
              <a:t>19</a:t>
            </a:r>
          </a:p>
        </p:txBody>
      </p:sp>
      <p:sp>
        <p:nvSpPr>
          <p:cNvPr id="9" name="TextBox 8">
            <a:extLst>
              <a:ext uri="{FF2B5EF4-FFF2-40B4-BE49-F238E27FC236}">
                <a16:creationId xmlns:a16="http://schemas.microsoft.com/office/drawing/2014/main" id="{FBCED343-96D9-6F18-680A-7436A3F0A2A4}"/>
              </a:ext>
            </a:extLst>
          </p:cNvPr>
          <p:cNvSpPr txBox="1"/>
          <p:nvPr/>
        </p:nvSpPr>
        <p:spPr>
          <a:xfrm>
            <a:off x="457200" y="2311400"/>
            <a:ext cx="7721600" cy="1349087"/>
          </a:xfrm>
          <a:prstGeom prst="rect">
            <a:avLst/>
          </a:prstGeom>
          <a:noFill/>
        </p:spPr>
        <p:txBody>
          <a:bodyPr vert="horz" wrap="square" lIns="0" tIns="0" rIns="0" bIns="0" rtlCol="0">
            <a:spAutoFit/>
          </a:bodyPr>
          <a:lstStyle/>
          <a:p>
            <a:pPr>
              <a:spcAft>
                <a:spcPts val="800"/>
              </a:spcAft>
            </a:pPr>
            <a:r>
              <a:rPr lang="en-US" sz="2700" b="1">
                <a:solidFill>
                  <a:srgbClr val="FFFFFF"/>
                </a:solidFill>
                <a:latin typeface="Arial" panose="020B0604020202020204" pitchFamily="34" charset="0"/>
              </a:rPr>
              <a:t>Giá trị hiện tại
Kết nối học liệu, mô phỏng và phản hồi trong một website.</a:t>
            </a:r>
          </a:p>
        </p:txBody>
      </p:sp>
      <p:sp>
        <p:nvSpPr>
          <p:cNvPr id="10" name="TextBox 9">
            <a:extLst>
              <a:ext uri="{FF2B5EF4-FFF2-40B4-BE49-F238E27FC236}">
                <a16:creationId xmlns:a16="http://schemas.microsoft.com/office/drawing/2014/main" id="{6ED6CB7A-432E-DF5D-5569-73C1C69B5CA9}"/>
              </a:ext>
            </a:extLst>
          </p:cNvPr>
          <p:cNvSpPr txBox="1"/>
          <p:nvPr/>
        </p:nvSpPr>
        <p:spPr>
          <a:xfrm>
            <a:off x="457200" y="3962400"/>
            <a:ext cx="7721600" cy="1164421"/>
          </a:xfrm>
          <a:prstGeom prst="rect">
            <a:avLst/>
          </a:prstGeom>
          <a:noFill/>
        </p:spPr>
        <p:txBody>
          <a:bodyPr vert="horz" wrap="square" lIns="0" tIns="0" rIns="0" bIns="0" rtlCol="0">
            <a:spAutoFit/>
          </a:bodyPr>
          <a:lstStyle/>
          <a:p>
            <a:pPr>
              <a:spcAft>
                <a:spcPts val="800"/>
              </a:spcAft>
            </a:pPr>
            <a:r>
              <a:rPr lang="vi-VN" sz="2300">
                <a:solidFill>
                  <a:srgbClr val="C9D5E2"/>
                </a:solidFill>
                <a:latin typeface="Arial" panose="020B0604020202020204" pitchFamily="34" charset="0"/>
              </a:rPr>
              <a:t>Phạm vi cam kết
Nguyên mẫu hỗ trợ học tập; tiếp tục kiểm định kỹ thuật và sư phạm.</a:t>
            </a:r>
            <a:endParaRPr lang="en-US" sz="2300">
              <a:solidFill>
                <a:srgbClr val="C9D5E2"/>
              </a:solidFill>
              <a:latin typeface="Arial" panose="020B0604020202020204" pitchFamily="34" charset="0"/>
            </a:endParaRPr>
          </a:p>
        </p:txBody>
      </p:sp>
      <p:pic>
        <p:nvPicPr>
          <p:cNvPr id="12" name="Picture 11">
            <a:extLst>
              <a:ext uri="{FF2B5EF4-FFF2-40B4-BE49-F238E27FC236}">
                <a16:creationId xmlns:a16="http://schemas.microsoft.com/office/drawing/2014/main" id="{FC892599-EC40-67F2-2AFA-43AC49590E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940800" y="2311400"/>
            <a:ext cx="2413000" cy="2413000"/>
          </a:xfrm>
          <a:prstGeom prst="rect">
            <a:avLst/>
          </a:prstGeom>
        </p:spPr>
      </p:pic>
      <p:sp>
        <p:nvSpPr>
          <p:cNvPr id="13" name="TextBox 12">
            <a:extLst>
              <a:ext uri="{FF2B5EF4-FFF2-40B4-BE49-F238E27FC236}">
                <a16:creationId xmlns:a16="http://schemas.microsoft.com/office/drawing/2014/main" id="{B3A442DB-0807-AD5A-9DDC-7E2E92F5493A}"/>
              </a:ext>
            </a:extLst>
          </p:cNvPr>
          <p:cNvSpPr txBox="1"/>
          <p:nvPr/>
        </p:nvSpPr>
        <p:spPr>
          <a:xfrm>
            <a:off x="9042400" y="4864100"/>
            <a:ext cx="2476500" cy="200055"/>
          </a:xfrm>
          <a:prstGeom prst="rect">
            <a:avLst/>
          </a:prstGeom>
          <a:noFill/>
        </p:spPr>
        <p:txBody>
          <a:bodyPr vert="horz" wrap="square" lIns="0" tIns="0" rIns="0" bIns="0" rtlCol="0">
            <a:spAutoFit/>
          </a:bodyPr>
          <a:lstStyle/>
          <a:p>
            <a:pPr>
              <a:spcAft>
                <a:spcPts val="800"/>
              </a:spcAft>
            </a:pPr>
            <a:r>
              <a:rPr lang="en-US" sz="1300">
                <a:solidFill>
                  <a:srgbClr val="B7C5D6"/>
                </a:solidFill>
                <a:latin typeface="Arial" panose="020B0604020202020204" pitchFamily="34" charset="0"/>
              </a:rPr>
              <a:t>QR từ báo cáo</a:t>
            </a:r>
          </a:p>
        </p:txBody>
      </p:sp>
      <p:sp>
        <p:nvSpPr>
          <p:cNvPr id="14" name="TextBox 13">
            <a:extLst>
              <a:ext uri="{FF2B5EF4-FFF2-40B4-BE49-F238E27FC236}">
                <a16:creationId xmlns:a16="http://schemas.microsoft.com/office/drawing/2014/main" id="{E139A88C-7EE7-3496-A056-A0F6606A4CA4}"/>
              </a:ext>
            </a:extLst>
          </p:cNvPr>
          <p:cNvSpPr txBox="1"/>
          <p:nvPr/>
        </p:nvSpPr>
        <p:spPr>
          <a:xfrm>
            <a:off x="457200" y="5829300"/>
            <a:ext cx="11277600" cy="323165"/>
          </a:xfrm>
          <a:prstGeom prst="rect">
            <a:avLst/>
          </a:prstGeom>
          <a:noFill/>
        </p:spPr>
        <p:txBody>
          <a:bodyPr vert="horz" wrap="square" lIns="0" tIns="0" rIns="0" bIns="0" rtlCol="0">
            <a:spAutoFit/>
          </a:bodyPr>
          <a:lstStyle/>
          <a:p>
            <a:pPr>
              <a:spcAft>
                <a:spcPts val="800"/>
              </a:spcAft>
            </a:pPr>
            <a:r>
              <a:rPr lang="en-US" sz="2100" b="1">
                <a:solidFill>
                  <a:srgbClr val="F2B632"/>
                </a:solidFill>
                <a:latin typeface="Arial" panose="020B0604020202020204" pitchFamily="34" charset="0"/>
              </a:rPr>
              <a:t>gdqp-an.gdqp-3d.workers.dev</a:t>
            </a:r>
          </a:p>
        </p:txBody>
      </p:sp>
    </p:spTree>
    <p:extLst>
      <p:ext uri="{BB962C8B-B14F-4D97-AF65-F5344CB8AC3E}">
        <p14:creationId xmlns:p14="http://schemas.microsoft.com/office/powerpoint/2010/main" val="15510677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4348</Words>
  <Application>Microsoft Office PowerPoint</Application>
  <PresentationFormat>Custom</PresentationFormat>
  <Paragraphs>277</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 Nghia</dc:creator>
  <cp:lastModifiedBy>Le Nghia</cp:lastModifiedBy>
  <cp:revision>1</cp:revision>
  <dcterms:created xsi:type="dcterms:W3CDTF">2026-09-27T10:04:05Z</dcterms:created>
  <dcterms:modified xsi:type="dcterms:W3CDTF">2026-09-27T10:04:05Z</dcterms:modified>
</cp:coreProperties>
</file>